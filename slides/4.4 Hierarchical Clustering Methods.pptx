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y="5143500" cx="9144000"/>
  <p:notesSz cx="6858000" cy="9144000"/>
  <p:embeddedFontLst>
    <p:embeddedFont>
      <p:font typeface="Tahoma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slide" Target="slides/slide37.xml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46" Type="http://schemas.openxmlformats.org/officeDocument/2006/relationships/slide" Target="slides/slide39.xml"/><Relationship Id="rId23" Type="http://schemas.openxmlformats.org/officeDocument/2006/relationships/slide" Target="slides/slide16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schemas.openxmlformats.org/officeDocument/2006/relationships/font" Target="fonts/Tahoma-bold.fntdata"/><Relationship Id="rId25" Type="http://schemas.openxmlformats.org/officeDocument/2006/relationships/slide" Target="slides/slide18.xml"/><Relationship Id="rId47" Type="http://schemas.openxmlformats.org/officeDocument/2006/relationships/font" Target="fonts/Tahoma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ba15a9b8e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3ba15a9b8e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9ee772909_0_18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39ee772909_0_18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3ba15a9b8e_0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3ba15a9b8e_0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0b89ebbe3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260b89ebbe3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3ba15a9b8e_0_2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23ba15a9b8e_0_2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3ba15a9b8e_0_3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23ba15a9b8e_0_3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3ba15a9b8e_0_4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23ba15a9b8e_0_4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3ba15a9b8e_0_5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23ba15a9b8e_0_5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3ba15a9b8e_0_6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23ba15a9b8e_0_6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60b89ebbe3_0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260b89ebbe3_0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60b89ebbe3_0_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260b89ebbe3_0_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3ba15a9b8e_0_7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23ba15a9b8e_0_7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60b89ebbe3_0_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260b89ebbe3_0_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60b89ebbe3_0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260b89ebbe3_0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60b89ebbe3_0_4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260b89ebbe3_0_4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3ba15a9b8e_0_8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23ba15a9b8e_0_8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60b89ebbe3_0_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260b89ebbe3_0_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3ba15a9b8e_0_9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23ba15a9b8e_0_9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60b89ebbe3_0_6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260b89ebbe3_0_6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3ba15a9b8e_0_12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23ba15a9b8e_0_12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3ba15a9b8e_0_1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23ba15a9b8e_0_1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60b89ebbe3_0_7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260b89ebbe3_0_7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3ba15a9b8e_0_1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23ba15a9b8e_0_1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60b89ebbe3_0_8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260b89ebbe3_0_8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3ba15a9b8e_0_15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23ba15a9b8e_0_15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60b89ebbe3_0_8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260b89ebbe3_0_8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60b89ebbe3_0_9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260b89ebbe3_0_9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60b89ebbe3_0_10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260b89ebbe3_0_10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60b89ebbe3_0_11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260b89ebbe3_0_11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60b89ebbe3_0_12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260b89ebbe3_0_12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60b89ebbe3_0_1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260b89ebbe3_0_1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60b89ebbe3_0_13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260b89ebbe3_0_13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60b89ebbe3_0_14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260b89ebbe3_0_14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60b89ebbe3_0_15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260b89ebbe3_0_15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60b89ebbe3_0_16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260b89ebbe3_0_16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60b89ebbe3_0_16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260b89ebbe3_0_16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4c6a45b7fa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24c6a45b7fa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4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Cluster Analysis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the concept of hierarchical clustering.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Explore agglomerative and divisive clustering algorithms.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Discover extensions to hierarchical clustering.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Learn about BIRCH, a micro-clustering-based approach.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Recognize the benefits and applications of hierarchical clustering.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Let's embark on a journey through the fascinating world of hierarchical clustering and its implications for data analysis.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50" name="Google Shape;250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Hierarchical clustering is a technique that organizes data points into a tree-like structure of nested clusters. It offers insights into both macro and micro-level relationships within data.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Hierarchical clustering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Generate a clustering hierarchy (drawn as a dendrogram)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Not required to specify K, the number of clusters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More deterministic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No iterative refinement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Clustering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59" name="Google Shape;259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Two categories of algorithms: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Agglomerative: Start with singleton clusters, continuously merge two clusters at a time to build a bottom-up hierarchy of clusters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Divisive: Start with a huge macro-cluster, split it continuously into two groups, generating a top-down hierarchy of clusters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Concepts: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Agglomerative and divisive algorithms build hierarchies from bottom-up and top-down, respectively.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Hierarchical clustering produces dendrogram visualizations.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Provides flexibility in exploring clusters at different granularity levels.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Suitable for various data types and proximity measures.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Clustering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68" name="Google Shape;268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Dendrogram: Decompose a set of data objects into a tree of clusters by multi-level nested partitioning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clustering of the data objects is obtained by cutting the dendrogram at the desired level, then each connected component forms a cluster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Dendrogram: Shows How Clusters are Merged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273" name="Google Shape;2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9250" y="3004250"/>
            <a:ext cx="6045501" cy="20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Agglomerative hierarchical clustering starts with individual data points as separate clusters and progressively merges them.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AGNES (AGglomerative NESting) (Kaufmann and Rousseeuw, 1990)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 the single-link method and the dissimilarity matrix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Continuously merge nodes that have the least dissimilarity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Eventually all nodes belong to the same cluster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Agglomerative Clustering Algorithms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283" name="Google Shape;2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275" y="3619500"/>
            <a:ext cx="60674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Agglomerative clustering varies on different similarity measures among clusters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Single link (nearest neighbor)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Complete link (diameter)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Average link (group average)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Centroid link (centroid similarity)r.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Agglomerative Clustering Algorithms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Single link (nearest neighbor)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similarity between two clusters is the similarity between their most similar (nearest neighbor) members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Local similarity-based: Emphasizing more on close regions, ignoring the overall structure of the cluster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Capable of clustering non-elliptical shaped group of objects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Sensitive to noise and outliers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Link vs. Complete Link in Hierarchical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302" name="Google Shape;3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650" y="3634625"/>
            <a:ext cx="209550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07" name="Google Shape;307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Complete link (diameter)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similarity between two clusters is the similarity between their most dissimilar members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Merge two clusters to form one with the smallest diameter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Nonlocal in behavior, obtaining compact shaped clusters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Sensitive to outliers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8" name="Google Shape;3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Link vs. Complete Link in Hierarchical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312" name="Google Shape;31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425" y="3383525"/>
            <a:ext cx="211455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17" name="Google Shape;317;p31"/>
          <p:cNvSpPr txBox="1"/>
          <p:nvPr>
            <p:ph idx="1" type="body"/>
          </p:nvPr>
        </p:nvSpPr>
        <p:spPr>
          <a:xfrm>
            <a:off x="762000" y="1572600"/>
            <a:ext cx="6109500" cy="3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Agglomerative clustering with average link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Average link: The average distance between an element in one cluster and an element in the other (i.e., all pairs in two clusters)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Expensive to compute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Agglomerative clustering with centroid link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Centroid link: The distance between the centroids of two clusters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8" name="Google Shape;3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0" name="Google Shape;320;p3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Agglomerative Clustering: Average vs. Centroid Links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322" name="Google Shape;32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3900" y="1798975"/>
            <a:ext cx="1967700" cy="1854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27" name="Google Shape;327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Group Averaged Agglomerative Clustering (GAAC)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Let two clusters Ca and Cb be merged into CaUb. </a:t>
            </a:r>
            <a:endParaRPr sz="1800">
              <a:solidFill>
                <a:srgbClr val="1F1F1F"/>
              </a:solidFill>
            </a:endParaRPr>
          </a:p>
          <a:p>
            <a:pPr indent="0" lvl="0" marL="91440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The new centroid is: </a:t>
            </a:r>
            <a:endParaRPr sz="1800">
              <a:solidFill>
                <a:srgbClr val="1F1F1F"/>
              </a:solidFill>
            </a:endParaRPr>
          </a:p>
          <a:p>
            <a:pPr indent="0" lvl="0" marL="91440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Na is the cardinality of cluster Ca, and ca is the centroid of Ca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similarity measure for GAAC is the average of their distances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Agglomerative clustering with Ward’s criterion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Ward’s criterion: The increase in the value of the SSE criterion for the clustering obtained by merging them into Ca U Cb: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8" name="Google Shape;32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0" name="Google Shape;330;p3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Agglomerative Clustering: Average vs. Centroid Links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332" name="Google Shape;33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8075" y="2243125"/>
            <a:ext cx="14954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9900" y="4629150"/>
            <a:ext cx="36957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38" name="Google Shape;338;p3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Dendrogram Visualization: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Depicts the merging process as a tree diagram.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Height of the fusion indicates the dissimilarity between clusters.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Cutting the dendrogram yields clusters at desired granularity.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Agglomerative clustering is intuitive and versatile, but it can be computationally expensive for large datasets.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9" name="Google Shape;33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1" name="Google Shape;341;p3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Agglomerative Clustering Algorithms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47" name="Google Shape;347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Divisive hierarchical clustering begins with all data points in a single cluster and recursively divides them.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DIANA (Divisive Analysis) (Kaufmann and Rousseeuw,1990)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Implemented in some statistical analysis packages, e.g., Splus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Inverse order of AGNES: Eventually each node forms a cluster on its own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8" name="Google Shape;34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0" name="Google Shape;350;p3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ivisive Clustering Algorithms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352" name="Google Shape;35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9700" y="3424188"/>
            <a:ext cx="597217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57" name="Google Shape;357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Divisive clustering is a top-down approach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process starts at the root with all the points as one cluster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recursively splits the higher level clusters to build the dendrogram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Can be considered as a global approach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More efficient when compared with agglomerative clustering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8" name="Google Shape;3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0" name="Google Shape;360;p3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Divisive Clustering Algorithms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66" name="Google Shape;366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Dendrogram Visualization: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Starts with a single cluster that splits into subclusters.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Divisions occur at varying levels of granularity.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Also yields a dendrogram, highlighting the hierarchical structure.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Divisive clustering allows exploration of finer details within clusters but can be challenging to implement effectively.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7" name="Google Shape;3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9" name="Google Shape;369;p3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Divisive Clustering Algorithms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75" name="Google Shape;375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Hierarchical clustering can be extended to handle specific challenges and data characteristics.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Single Linkage (Minimum Linkage):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Measures distance between two clusters as the minimum distance between any pair of points.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Vulnerable to "chaining" effect, where distant points influence the linkage.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6" name="Google Shape;37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8" name="Google Shape;378;p3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Extensions to Hierarchical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84" name="Google Shape;384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Complete Linkage (Maximum Linkage):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Measures distance between two clusters as the maximum distance between any pair of points.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Can lead to "crowding" problem, where compact clusters are merged.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Average Linkage: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Measures distance between two clusters as the average distance between all pairs of points.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Balanced approach between single and complete linkage.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5" name="Google Shape;3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7" name="Google Shape;387;p3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Extensions to Hierarchical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93" name="Google Shape;393;p39"/>
          <p:cNvSpPr txBox="1"/>
          <p:nvPr>
            <p:ph idx="1" type="body"/>
          </p:nvPr>
        </p:nvSpPr>
        <p:spPr>
          <a:xfrm>
            <a:off x="762000" y="1646575"/>
            <a:ext cx="82395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Major weaknesses of hierarchical clustering methods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Can never undo what was done previously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Do not scale well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Time complexity of at least O(n2), where n is the number of total objects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Other hierarchical clustering algorithms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BIRCH (1996): Use CF-tree and incrementally adjust the quality of sub-clusters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CURE (1998): Represent a cluster using a set of well-scattered representative points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CHAMELEON (1999): Use graph partitioning methods on the K-nearest neighbor graph of the data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4" name="Google Shape;39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6" name="Google Shape;396;p3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Extensions to Hierarchical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02" name="Google Shape;402;p40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BIRCH is a hierarchical clustering approach designed for large datasets by employing a micro-clustering strategy.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multiphase clustering algorithm (Zhang, Ramakrishnan &amp; Livny, SIGMOD’96)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Incrementally construct a CF (Clustering Feature) tree, a hierarchical data structure for multiphase clustering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Phase 1: Scan DB to build an initial in-memory CF tree (a multi-level compression of the data that tries to preserve the inherent clustering structure of the data)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Phase 2: Use an arbitrary clustering algorithm to cluster the leaf nodes of the CFtree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3" name="Google Shape;40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5" name="Google Shape;405;p4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BIRCH: Balanced Iterative Reducing and Clustering Using Hierarchies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4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11" name="Google Shape;411;p41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idea: Multi-level clustering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Low-level micro-clustering: Reduce complexity and increase scalability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High-level macro-clustering: Leave enough flexibility for high-level clustering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Scales linearly: Find a good clustering with a single scan and improve the quality with a few additional scans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12" name="Google Shape;41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4" name="Google Shape;414;p4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BIRCH: Balanced Iterative Reducing and Clustering Using Hierarchies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4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20" name="Google Shape;420;p42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 Feature (CF): CF = (N, LS, SS)  \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N: Number of data points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LS: linear sum of N points: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SS: square sum of N points: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 feature: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Summary of the statistics for a given sub-cluster: the 0-th, 1st, and 2nd moments of the sub-cluster from the statistical point of view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Registers crucial measurements for computing cluster and utilizes storage efficiently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21" name="Google Shape;4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3" name="Google Shape;423;p4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Feature Vector in BIRCH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4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425" name="Google Shape;42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100" y="2144900"/>
            <a:ext cx="914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7100" y="2699325"/>
            <a:ext cx="10858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1500" y="1537275"/>
            <a:ext cx="3295650" cy="155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32" name="Google Shape;432;p43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Centroid: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“middle” of a cluster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n: number of points in a cluster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    is the i-th point in the cluster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Radius: 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Average distance from member objects to the centroid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square root of average distance from any point of the cluster to its centroid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33" name="Google Shape;43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35" name="Google Shape;435;p4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Cluster: Centroid, Radius and Diameter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4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437" name="Google Shape;43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275" y="1646575"/>
            <a:ext cx="3524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7725" y="2679650"/>
            <a:ext cx="2571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0775" y="1745438"/>
            <a:ext cx="35433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4400" y="4057650"/>
            <a:ext cx="255270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45" name="Google Shape;445;p44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Diameter: D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Average pairwise distance within a cluster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square root of average mean squared distance between all pairs of points in the cluster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46" name="Google Shape;44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48" name="Google Shape;448;p4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Cluster: Centroid, Radius and Diameter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4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450" name="Google Shape;45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2925" y="3184938"/>
            <a:ext cx="220980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55" name="Google Shape;455;p45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Incremental insertion of new points (similar to B+-tree)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 each point in the input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Find closest leaf entry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Add point to leaf entry and update CF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If entry diameter &gt; max_diameter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split leaf, and possibly parents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CF tree has two parameters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Branching factor: Maximum number of children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Maximum diameter of subclusters stored at the leaf nodes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56" name="Google Shape;45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58" name="Google Shape;458;p4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CF Tree Structure in BIRCH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4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64" name="Google Shape;464;p46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CF tree: A height-balanced tree that stores the clustering features (CFs)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non-leaf nodes store sums of the CFs of their children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65" name="Google Shape;4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67" name="Google Shape;467;p4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CF Tree Structure in BIRCH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4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  <p:pic>
        <p:nvPicPr>
          <p:cNvPr id="469" name="Google Shape;46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6100" y="2286000"/>
            <a:ext cx="50673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74" name="Google Shape;474;p47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 integration of agglomerative clustering with other (flexible) clustering methods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Low-level micro-clustering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Exploring CP-feature and BIRCH tree structure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Preserving the inherent clustering structure of the data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Higher-level macro-clustering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Provide sufficient flexibility for integration with other clustering methods  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75" name="Google Shape;47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77" name="Google Shape;477;p4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BIRCH: A Scalable and Flexible Clustering Method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4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83" name="Google Shape;483;p48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Impact to many other clustering methods and applications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Concerns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Sensitive to insertion order of data points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Due to the fixed size of leaf nodes, clusters may not be so natural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Clusters tend to be spherical given the radius and diameter measures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84" name="Google Shape;48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86" name="Google Shape;486;p4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BIRCH: A Scalable and Flexible Clustering Method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4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92" name="Google Shape;492;p49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Network traffic analysis for intrusion detection.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E-commerce customer segmentation.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Biological sequence clustering.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Sensor data analysis.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BIRCH's innovative micro-clustering strategy makes it a valuable tool for scalable and memory-efficient clustering tasks.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93" name="Google Shape;49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5" name="Google Shape;495;p4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BIRCH: Advantages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4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01" name="Google Shape;501;p50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Let's apply hierarchical clustering to a retail store dataset for location-based segmentation.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Objective: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Group stores based on geographical sales patterns.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Identify clusters with similar market behavior.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02" name="Google Shape;50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04" name="Google Shape;504;p5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Study: Retail Store Clustering with Hierarchical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5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10" name="Google Shape;510;p51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Steps: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Preparation: Convert store sales and location data into suitable format.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Agglomerative Clustering: Apply agglomerative hierarchical clustering.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Dendrogram Analysis: Analyze dendrogram to determine optimal cluster count.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Interpretation: Interpret characteristics of formed clusters.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Strategy Development: Design marketing strategies for each cluster.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Hierarchical clustering helps unravel store behavior and guides targeted marketing efforts.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11" name="Google Shape;51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13" name="Google Shape;513;p5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Study: Retail Store Clustering with Hierarchical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5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19" name="Google Shape;519;p52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Hierarchical Clustering: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Produces nested clusters in a tree-like structure.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Offers exploration at different granularity levels.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Dendrogram provides visual insights into cluster relationships.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Suitable for diverse data types.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Partitioning-Based Clustering: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Divides data into distinct, non-overlapping clusters.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Requires specifying the number of clusters (K).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Applicable for large datasets and efficient for K-Means.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Offers flexibility in selecting different similarity measures.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22" name="Google Shape;522;p5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Clustering vs. Partitioning-Based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5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28" name="Google Shape;528;p53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Choosing between hierarchical and partitioning-based clustering depends on the data characteristics and analysis goals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29" name="Google Shape;52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31" name="Google Shape;531;p5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Clustering vs. Partitioning-Based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5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37" name="Google Shape;537;p54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Hierarchical clustering methods come with their own set of challenges and considerations.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Challenges: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Dendrogram Interpretation: Determining the optimal number of clusters from a dendrogram.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Computation Complexity: Agglomerative clustering can be resource-intensive for large datasets.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Choice of Linkage: Selecting the appropriate linkage method based on data characteristics.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Hierarchical Nature: Dendrograms may become complex and hard to interpret.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38" name="Google Shape;53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40" name="Google Shape;540;p5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Considerations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5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46" name="Google Shape;546;p55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Considerations: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Experiment with different linkage methods.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 silhouette scores or other metrics to evaluate cluster quality.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Balance granularity and interpretability based on analysis goals.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47" name="Google Shape;54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49" name="Google Shape;549;p5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Considerations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5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55" name="Google Shape;555;p56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Visualizing hierarchical clustering results enhances our understanding of formed clusters.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Dendrogram Visualization: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Depicts merging/dividing process.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Provides insights into cluster relationships.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Helpful for selecting optimal cluster count.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56" name="Google Shape;55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58" name="Google Shape;558;p5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Visualizing Hierarchical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5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64" name="Google Shape;564;p57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Visualizing hierarchical clustering results enhances our understanding of formed clusters.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 Visualization: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Plot clusters in multidimensional space.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 dimensionality reduction techniques (e.g., PCA, t-SNE).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Visualize cluster characteristics, separability, and patterns.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Visualizations empower us to extract meaningful insights from complex hierarchical clustering outcomes.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65" name="Google Shape;56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67" name="Google Shape;567;p5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Visualizing Hierarchical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5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73" name="Google Shape;573;p58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Hierarchical clustering can be an effective tool for exploratory data analysis.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Exploration Benefits: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 Discovery: Identify inherent data patterns and relationships.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Anomaly Detection: Detect outliers and unusual data points.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Reduction: Group similar data points for summarization.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Segmentation: Uncover distinct segments or subgroups.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By applying hierarchical clustering to data exploration, we unveil valuable insights that guide subsequent analyses and decision-making.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74" name="Google Shape;57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76" name="Google Shape;576;p5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Clustering in Data Exploration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5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82" name="Google Shape;582;p59"/>
          <p:cNvSpPr txBox="1"/>
          <p:nvPr>
            <p:ph idx="1" type="body"/>
          </p:nvPr>
        </p:nvSpPr>
        <p:spPr>
          <a:xfrm>
            <a:off x="762000" y="1646571"/>
            <a:ext cx="7953300" cy="50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Agglomerative clustering merges data points into nested clusters.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Divisive clustering recursively divides data points into clusters.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Linkage methods (single, complete, average) influence clustering outcomes.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BIRCH utilizes micro-clustering for memory-efficient clustering.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 include retail store segmentation and gene expression analysis.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 you continue your journey through hierarchical clustering, remember the significance of dendrograms and the diverse applications of this method in various fields.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83" name="Google Shape;58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5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85" name="Google Shape;585;p5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 and Key Takeaways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5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Hierarchical Clustering Me	thods</a:t>
            </a:r>
            <a:endParaRPr sz="3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92" name="Google Shape;592;p6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Hierarchical clustering organizes data in a tree-like structure.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Agglomerative starts with individual data points and merges them.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Divisive begins with all data in one cluster and splits iteratively.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Useful for exploring data hierarchy and relationships.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593" name="Google Shape;59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95" name="Google Shape;595;p60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60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