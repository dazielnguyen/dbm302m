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4"/>
    <p:sldMasterId id="2147483666" r:id="rId5"/>
    <p:sldMasterId id="2147483667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</p:sldIdLst>
  <p:sldSz cy="5143500" cx="9144000"/>
  <p:notesSz cx="6858000" cy="9144000"/>
  <p:embeddedFontLst>
    <p:embeddedFont>
      <p:font typeface="Tahoma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5" Type="http://schemas.openxmlformats.org/officeDocument/2006/relationships/font" Target="fonts/Tahoma-bold.fntdata"/><Relationship Id="rId14" Type="http://schemas.openxmlformats.org/officeDocument/2006/relationships/font" Target="fonts/Tahoma-regular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4c7429300b_0_21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" name="Google Shape;225;g24c7429300b_0_21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24c7429300b_0_218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GB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4c7429300b_0_224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24c7429300b_0_224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4c7429300b_0_23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24c7429300b_0_23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4c7429300b_0_43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24c7429300b_0_43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4c7429300b_0_441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24c7429300b_0_441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4c7429300b_0_45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24c7429300b_0_45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4"/>
          <p:cNvSpPr txBox="1"/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Rectangle: Click to edit Master text styles&#10;Second level&#10;Third level&#10;Fourth level&#10;Fifth level" id="122" name="Google Shape;122;p14"/>
          <p:cNvSpPr txBox="1"/>
          <p:nvPr>
            <p:ph idx="1" type="subTitle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23" name="Google Shape;123;p14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4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6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95" name="Google Shape;195;p16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6" name="Google Shape;196;p16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6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16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7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2" name="Google Shape;202;p17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3" name="Google Shape;203;p17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7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7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8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18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9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13" name="Google Shape;213;p19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14" name="Google Shape;214;p19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9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9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0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20" name="Google Shape;220;p20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20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0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2" name="Google Shape;52;p13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53" name="Google Shape;53;p13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54" name="Google Shape;54;p13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55" name="Google Shape;55;p13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6" name="Google Shape;56;p13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7" name="Google Shape;57;p13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8" name="Google Shape;58;p13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59" name="Google Shape;59;p13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0" name="Google Shape;60;p13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1" name="Google Shape;61;p13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2" name="Google Shape;62;p13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3" name="Google Shape;63;p13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4" name="Google Shape;64;p13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5" name="Google Shape;65;p13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6" name="Google Shape;66;p13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7" name="Google Shape;67;p13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8" name="Google Shape;68;p13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9" name="Google Shape;69;p13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0" name="Google Shape;70;p13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1" name="Google Shape;71;p13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2" name="Google Shape;72;p13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3" name="Google Shape;73;p13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4" name="Google Shape;74;p13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5" name="Google Shape;75;p13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6" name="Google Shape;76;p13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7" name="Google Shape;77;p13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8" name="Google Shape;78;p13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9" name="Google Shape;79;p13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0" name="Google Shape;80;p13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1" name="Google Shape;81;p13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2" name="Google Shape;82;p13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3" name="Google Shape;83;p13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4" name="Google Shape;84;p13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5" name="Google Shape;85;p13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6" name="Google Shape;86;p13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7" name="Google Shape;87;p13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8" name="Google Shape;88;p13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9" name="Google Shape;89;p13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0" name="Google Shape;90;p13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1" name="Google Shape;91;p13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2" name="Google Shape;92;p13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3" name="Google Shape;93;p13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4" name="Google Shape;94;p13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5" name="Google Shape;95;p13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6" name="Google Shape;96;p13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7" name="Google Shape;97;p13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8" name="Google Shape;98;p13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9" name="Google Shape;99;p13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0" name="Google Shape;100;p13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1" name="Google Shape;101;p13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2" name="Google Shape;102;p13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3" name="Google Shape;103;p13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4" name="Google Shape;104;p13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5" name="Google Shape;105;p13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06" name="Google Shape;106;p13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07" name="Google Shape;107;p13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08" name="Google Shape;108;p13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09" name="Google Shape;109;p13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0" name="Google Shape;110;p13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11" name="Google Shape;111;p13"/>
              <p:cNvSpPr/>
              <p:nvPr/>
            </p:nvSpPr>
            <p:spPr>
              <a:xfrm flipH="1" rot="-5400000">
                <a:off x="425" y="860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2" name="Google Shape;112;p13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13" name="Google Shape;113;p13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4" name="Google Shape;114;p13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15" name="Google Shape;115;p13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16" name="Google Shape;116;p1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17" name="Google Shape;117;p13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8" name="Google Shape;118;p13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3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15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27" name="Google Shape;127;p15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28" name="Google Shape;128;p15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29" name="Google Shape;129;p15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0" name="Google Shape;130;p15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1" name="Google Shape;131;p15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2" name="Google Shape;132;p15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3" name="Google Shape;133;p15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4" name="Google Shape;134;p15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5" name="Google Shape;135;p15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6" name="Google Shape;136;p15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7" name="Google Shape;137;p15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8" name="Google Shape;138;p15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9" name="Google Shape;139;p15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0" name="Google Shape;140;p15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1" name="Google Shape;141;p15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2" name="Google Shape;142;p15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3" name="Google Shape;143;p15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4" name="Google Shape;144;p15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5" name="Google Shape;145;p15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6" name="Google Shape;146;p15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7" name="Google Shape;147;p15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8" name="Google Shape;148;p15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9" name="Google Shape;149;p15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0" name="Google Shape;150;p15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51" name="Google Shape;151;p15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2" name="Google Shape;152;p15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3" name="Google Shape;153;p15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4" name="Google Shape;154;p15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5" name="Google Shape;155;p15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6" name="Google Shape;156;p15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7" name="Google Shape;157;p15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8" name="Google Shape;158;p15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9" name="Google Shape;159;p15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0" name="Google Shape;160;p15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1" name="Google Shape;161;p15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2" name="Google Shape;162;p15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3" name="Google Shape;163;p15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4" name="Google Shape;164;p15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5" name="Google Shape;165;p15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6" name="Google Shape;166;p15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7" name="Google Shape;167;p15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8" name="Google Shape;168;p15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9" name="Google Shape;169;p15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0" name="Google Shape;170;p15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1" name="Google Shape;171;p15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2" name="Google Shape;172;p15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3" name="Google Shape;173;p15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4" name="Google Shape;174;p15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5" name="Google Shape;175;p15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6" name="Google Shape;176;p15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7" name="Google Shape;177;p15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8" name="Google Shape;178;p15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9" name="Google Shape;179;p15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0" name="Google Shape;180;p15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descr="60%" id="181" name="Google Shape;181;p15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2" name="Google Shape;182;p15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183" name="Google Shape;183;p15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84" name="Google Shape;184;p15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85" name="Google Shape;185;p15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86" name="Google Shape;186;p15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87" name="Google Shape;187;p1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88" name="Google Shape;188;p15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89" name="Google Shape;189;p15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0" name="Google Shape;190;p15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1" name="Google Shape;191;p15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"/>
          <p:cNvSpPr txBox="1"/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2.2</a:t>
            </a: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Data Visualization with Dashboards</a:t>
            </a:r>
            <a:endParaRPr sz="3600"/>
          </a:p>
        </p:txBody>
      </p:sp>
      <p:pic>
        <p:nvPicPr>
          <p:cNvPr id="229" name="Google Shape;22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2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2.2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35" name="Google Shape;235;p22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Understand how to design and create interactive dashboards for data visualization using a popular dashboarding tool.</a:t>
            </a:r>
            <a:endParaRPr sz="1800">
              <a:solidFill>
                <a:srgbClr val="1F1F1F"/>
              </a:solidFill>
            </a:endParaRPr>
          </a:p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Duration: 1 slot session (approximately 2.15 hours)</a:t>
            </a:r>
            <a:endParaRPr sz="1800">
              <a:solidFill>
                <a:srgbClr val="1F1F1F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2.2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44" name="Google Shape;244;p23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1: Introduction to Dashboarding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Discuss the concept and significance of dashboards in data visualization.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Discuss the advantages of interactive dashboards for presenting insights.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Introduce a popular dashboarding tool (e.g., Tableau, Power BI, or a web-based tool like Google Data Studio) and explain its features.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45" name="Google Shape;24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2.2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53" name="Google Shape;253;p24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2: Data Preparation and Import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Work </a:t>
            </a:r>
            <a:r>
              <a:rPr lang="en-GB" sz="1800">
                <a:solidFill>
                  <a:srgbClr val="1F1F1F"/>
                </a:solidFill>
              </a:rPr>
              <a:t>with a given dataset (e.g., sales data, survey results, or any dataset of interest).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Load the dataset into the chosen dashboarding tool.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Practique data preparation steps such as cleaning, filtering, and structuring the data for visualization.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54" name="Google Shape;25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2.2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62" name="Google Shape;262;p2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3: Designing Interactive Visualizations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Create various interactive visualizations: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Bar charts, line charts, scatter plots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Filters and slicers for interactivity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Drill-down and tooltips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63" name="Google Shape;26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Lab 2.2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71" name="Google Shape;271;p26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Activity 4: Building an Interactive Dashboard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Design a dashboard layout.</a:t>
            </a:r>
            <a:endParaRPr sz="1800">
              <a:solidFill>
                <a:srgbClr val="1F1F1F"/>
              </a:solidFill>
            </a:endParaRPr>
          </a:p>
          <a:p>
            <a:pPr indent="-331469" lvl="1" marL="74295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40458C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Combine multiple visualizations into a single interactive dashboard.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2" name="Google Shape;27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74" name="Google Shape;274;p26"/>
          <p:cNvSpPr txBox="1"/>
          <p:nvPr/>
        </p:nvSpPr>
        <p:spPr>
          <a:xfrm>
            <a:off x="762000" y="1184875"/>
            <a:ext cx="419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