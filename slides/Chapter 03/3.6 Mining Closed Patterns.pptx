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6858000" cy="9144000"/>
  <p:embeddedFontLst>
    <p:embeddedFont>
      <p:font typeface="Noto Sans Symbols" pitchFamily="2" charset="0"/>
      <p:regular r:id="rId16"/>
      <p:bold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Tahoma" panose="020B0604030504040204" pitchFamily="3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848"/>
    <p:restoredTop sz="94676"/>
  </p:normalViewPr>
  <p:slideViewPr>
    <p:cSldViewPr snapToGrid="0">
      <p:cViewPr>
        <p:scale>
          <a:sx n="114" d="100"/>
          <a:sy n="114" d="100"/>
        </p:scale>
        <p:origin x="120" y="16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582b55a4a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832af44de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5832af44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832af44de_0_1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25832af44d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5832af44de_0_2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5832af44d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5832af44de_0_3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5832af44d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9a2494356_1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239a249435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5832af44de_0_3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25832af44de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5832af44de_0_4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25832af44d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832af44de_0_57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25832af44de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8a10c56545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8a10c565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Explanation of closed patterns and their significance in pattern mining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Techniques for mining closed patterns, including the depth-first search approach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Advantages and applications of closed pattern mining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id="251" name="Google Shape;251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Closed patterns are a compressed representation of frequent patterns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A closed pattern is a complete pattern that cannot be extended without reducing its support.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Mining closed patterns provides a concise and meaningful set of patterns without redundancy.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Introduction to Closed Patterns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id="260" name="Google Shape;260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The general approach for mining closed patterns includes the following steps:</a:t>
            </a:r>
            <a:endParaRPr sz="1800" dirty="0">
              <a:solidFill>
                <a:srgbClr val="1F1F1F"/>
              </a:solidFill>
            </a:endParaRPr>
          </a:p>
          <a:p>
            <a:pPr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+mj-lt"/>
              <a:buAutoNum type="arabicPeriod"/>
            </a:pPr>
            <a:r>
              <a:rPr lang="en-GB" sz="1800" b="1" dirty="0">
                <a:solidFill>
                  <a:srgbClr val="1F1F1F"/>
                </a:solidFill>
              </a:rPr>
              <a:t>Discover all frequent patterns </a:t>
            </a:r>
            <a:r>
              <a:rPr lang="en-GB" sz="1800" dirty="0">
                <a:solidFill>
                  <a:srgbClr val="1F1F1F"/>
                </a:solidFill>
              </a:rPr>
              <a:t>using an appropriate algorithm (e.g., </a:t>
            </a:r>
            <a:r>
              <a:rPr lang="en-GB" sz="1800" dirty="0" err="1">
                <a:solidFill>
                  <a:srgbClr val="1F1F1F"/>
                </a:solidFill>
              </a:rPr>
              <a:t>Apriori</a:t>
            </a:r>
            <a:r>
              <a:rPr lang="en-GB" sz="1800" dirty="0">
                <a:solidFill>
                  <a:srgbClr val="1F1F1F"/>
                </a:solidFill>
              </a:rPr>
              <a:t> or </a:t>
            </a:r>
            <a:r>
              <a:rPr lang="en-GB" sz="1800" dirty="0" err="1">
                <a:solidFill>
                  <a:srgbClr val="1F1F1F"/>
                </a:solidFill>
              </a:rPr>
              <a:t>FPGrowth</a:t>
            </a:r>
            <a:r>
              <a:rPr lang="en-GB" sz="1800" dirty="0">
                <a:solidFill>
                  <a:srgbClr val="1F1F1F"/>
                </a:solidFill>
              </a:rPr>
              <a:t>).</a:t>
            </a:r>
            <a:endParaRPr sz="1800" dirty="0">
              <a:solidFill>
                <a:srgbClr val="1F1F1F"/>
              </a:solidFill>
            </a:endParaRPr>
          </a:p>
          <a:p>
            <a:pPr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+mj-lt"/>
              <a:buAutoNum type="arabicPeriod"/>
            </a:pPr>
            <a:r>
              <a:rPr lang="en-GB" sz="1800" dirty="0">
                <a:solidFill>
                  <a:srgbClr val="1F1F1F"/>
                </a:solidFill>
              </a:rPr>
              <a:t>Identify closed patterns from the set of frequent patterns.</a:t>
            </a:r>
            <a:endParaRPr sz="1800" dirty="0">
              <a:solidFill>
                <a:srgbClr val="1F1F1F"/>
              </a:solidFill>
            </a:endParaRPr>
          </a:p>
          <a:p>
            <a:pPr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+mj-lt"/>
              <a:buAutoNum type="arabicPeriod"/>
            </a:pPr>
            <a:r>
              <a:rPr lang="en-GB" sz="1800" dirty="0">
                <a:solidFill>
                  <a:srgbClr val="1F1F1F"/>
                </a:solidFill>
              </a:rPr>
              <a:t>Remove redundant patterns that are subsumed by other closed patterns.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Approach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id="269" name="Google Shape;269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Depth-First Search (DFS) Approach: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Uses a depth-first search strategy to traverse the frequent pattern lattice.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Prunes infrequent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 early based on support constraints.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Generates closed patterns by avoiding redundant exploration of already closed patterns.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 err="1">
                <a:solidFill>
                  <a:srgbClr val="1F1F1F"/>
                </a:solidFill>
              </a:rPr>
              <a:t>PrefixSpan</a:t>
            </a:r>
            <a:r>
              <a:rPr lang="en-GB" sz="1800" dirty="0">
                <a:solidFill>
                  <a:srgbClr val="1F1F1F"/>
                </a:solidFill>
              </a:rPr>
              <a:t> Algorithm: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Based on sequential pattern mining.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Uses a recursive divide-and-conquer strategy to discover closed sequential patterns.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Employs projected databases to efficiently find closed patterns.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 Pattern Mining Algorithms - 1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dirty="0"/>
              <a:t>Mining Closed Patterns</a:t>
            </a:r>
            <a:endParaRPr sz="3600" dirty="0"/>
          </a:p>
        </p:txBody>
      </p:sp>
      <p:sp>
        <p:nvSpPr>
          <p:cNvPr id="278" name="Google Shape;278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Max-Miner Algorithm: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Focuses on discovering maximal frequent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Maximal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 are those that are not a proper subset of any other frequent itemset.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Max-Miner uses a top-down approach to find maximal frequent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, which are also closed patterns.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 Pattern Mining Algorithms - 2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id="287" name="Google Shape;287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Efficient, direct mining of closed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  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Ex. Itemset merging: If Y appears in every occurrence of X, then Y is merged with X  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1F1F1F"/>
                </a:solidFill>
              </a:rPr>
              <a:t>d-</a:t>
            </a:r>
            <a:r>
              <a:rPr lang="en-GB" sz="1800" dirty="0" err="1">
                <a:solidFill>
                  <a:srgbClr val="1F1F1F"/>
                </a:solidFill>
              </a:rPr>
              <a:t>proj</a:t>
            </a:r>
            <a:r>
              <a:rPr lang="en-GB" sz="1800" dirty="0">
                <a:solidFill>
                  <a:srgbClr val="1F1F1F"/>
                </a:solidFill>
              </a:rPr>
              <a:t>. </a:t>
            </a:r>
            <a:r>
              <a:rPr lang="en-GB" sz="1800" dirty="0" err="1">
                <a:solidFill>
                  <a:srgbClr val="1F1F1F"/>
                </a:solidFill>
              </a:rPr>
              <a:t>db</a:t>
            </a:r>
            <a:r>
              <a:rPr lang="en-GB" sz="1800" dirty="0">
                <a:solidFill>
                  <a:srgbClr val="1F1F1F"/>
                </a:solidFill>
              </a:rPr>
              <a:t>: {</a:t>
            </a:r>
            <a:r>
              <a:rPr lang="en-GB" sz="1800" dirty="0" err="1">
                <a:solidFill>
                  <a:srgbClr val="1F1F1F"/>
                </a:solidFill>
              </a:rPr>
              <a:t>acef</a:t>
            </a:r>
            <a:r>
              <a:rPr lang="en-GB" sz="1800" dirty="0">
                <a:solidFill>
                  <a:srgbClr val="1F1F1F"/>
                </a:solidFill>
              </a:rPr>
              <a:t>, </a:t>
            </a:r>
            <a:r>
              <a:rPr lang="en-GB" sz="1800" dirty="0" err="1">
                <a:solidFill>
                  <a:srgbClr val="1F1F1F"/>
                </a:solidFill>
              </a:rPr>
              <a:t>acf</a:t>
            </a:r>
            <a:r>
              <a:rPr lang="en-GB" sz="1800" dirty="0">
                <a:solidFill>
                  <a:srgbClr val="1F1F1F"/>
                </a:solidFill>
              </a:rPr>
              <a:t>}  </a:t>
            </a:r>
            <a:r>
              <a:rPr lang="en-GB" sz="1800" dirty="0" err="1">
                <a:solidFill>
                  <a:srgbClr val="1F1F1F"/>
                </a:solidFill>
              </a:rPr>
              <a:t>acfd-proj</a:t>
            </a:r>
            <a:r>
              <a:rPr lang="en-GB" sz="1800" dirty="0">
                <a:solidFill>
                  <a:srgbClr val="1F1F1F"/>
                </a:solidFill>
              </a:rPr>
              <a:t>. </a:t>
            </a:r>
            <a:r>
              <a:rPr lang="en-GB" sz="1800" dirty="0" err="1">
                <a:solidFill>
                  <a:srgbClr val="1F1F1F"/>
                </a:solidFill>
              </a:rPr>
              <a:t>db</a:t>
            </a:r>
            <a:r>
              <a:rPr lang="en-GB" sz="1800" dirty="0">
                <a:solidFill>
                  <a:srgbClr val="1F1F1F"/>
                </a:solidFill>
              </a:rPr>
              <a:t>: {e}, thus we get: acfd:2  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Many other tricks (but not detailed here), such as  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Hybrid tree projection  </a:t>
            </a:r>
            <a:endParaRPr sz="1800" dirty="0">
              <a:solidFill>
                <a:srgbClr val="1F1F1F"/>
              </a:solidFill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 dirty="0">
                <a:solidFill>
                  <a:srgbClr val="1F1F1F"/>
                </a:solidFill>
              </a:rPr>
              <a:t>Bottom-up physical tree-projection  </a:t>
            </a:r>
            <a:endParaRPr sz="1800" dirty="0">
              <a:solidFill>
                <a:srgbClr val="1F1F1F"/>
              </a:solidFill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 dirty="0">
                <a:solidFill>
                  <a:srgbClr val="1F1F1F"/>
                </a:solidFill>
              </a:rPr>
              <a:t>Top-down pseudo tree-projection  </a:t>
            </a:r>
            <a:endParaRPr sz="1800" dirty="0">
              <a:solidFill>
                <a:srgbClr val="1F1F1F"/>
              </a:solidFill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 dirty="0">
                <a:solidFill>
                  <a:srgbClr val="1F1F1F"/>
                </a:solidFill>
              </a:rPr>
              <a:t>Sub-itemset pruning  Item skipping  Efficient subset checking  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CLOSET+: Mining Closed </a:t>
            </a:r>
            <a:r>
              <a:rPr lang="en-GB" sz="1800" b="1" i="1" dirty="0" err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Itemsets</a:t>
            </a: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Pattern-Growth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1" name="Google Shape;2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2250" y="320300"/>
            <a:ext cx="1971675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id="297" name="Google Shape;297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Concise Pattern Representation: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Closed patterns provide a concise and non-redundant representation of frequent patterns.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Reduces the number of patterns to be </a:t>
            </a:r>
            <a:r>
              <a:rPr lang="en-GB" sz="1800" dirty="0" err="1">
                <a:solidFill>
                  <a:srgbClr val="1F1F1F"/>
                </a:solidFill>
              </a:rPr>
              <a:t>analyzed</a:t>
            </a:r>
            <a:r>
              <a:rPr lang="en-GB" sz="1800" dirty="0">
                <a:solidFill>
                  <a:srgbClr val="1F1F1F"/>
                </a:solidFill>
              </a:rPr>
              <a:t> and improves interpretability.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Enhanced Efficiency: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Mining closed patterns can be more efficient than mining all frequent patterns.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Avoids the generation of redundant patterns, leading to faster processing.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Mining Closed Patterns - 1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Closed Patterns</a:t>
            </a:r>
            <a:endParaRPr sz="3600"/>
          </a:p>
        </p:txBody>
      </p:sp>
      <p:sp>
        <p:nvSpPr>
          <p:cNvPr id="306" name="Google Shape;306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Reduced Pattern Analysis: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Closed patterns capture the most significant and informative patterns.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Simplifies the task of pattern analysis and interpretation.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Mining Closed Patterns - 2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dirty="0"/>
              <a:t>Mining Closed Patterns</a:t>
            </a:r>
            <a:endParaRPr sz="3600" dirty="0"/>
          </a:p>
        </p:txBody>
      </p:sp>
      <p:sp>
        <p:nvSpPr>
          <p:cNvPr id="315" name="Google Shape;315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1999" y="1281263"/>
            <a:ext cx="7848601" cy="3930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Association Rule Mining:</a:t>
            </a:r>
            <a:endParaRPr sz="16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Closed patterns can be used to generate non-redundant and meaningful association rules.</a:t>
            </a:r>
            <a:endParaRPr sz="16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Improves the efficiency and interpretability of rule-based systems.</a:t>
            </a:r>
            <a:endParaRPr sz="16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Anomaly Detection:</a:t>
            </a:r>
            <a:endParaRPr sz="16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Closed patterns can aid in identifying unusual or rare patterns in datasets.</a:t>
            </a:r>
            <a:endParaRPr sz="16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Enables the detection of unexpected associations or </a:t>
            </a:r>
            <a:r>
              <a:rPr lang="en-GB" sz="1600" dirty="0" err="1">
                <a:solidFill>
                  <a:srgbClr val="1F1F1F"/>
                </a:solidFill>
              </a:rPr>
              <a:t>behaviors</a:t>
            </a:r>
            <a:r>
              <a:rPr lang="en-GB" sz="1600" dirty="0">
                <a:solidFill>
                  <a:srgbClr val="1F1F1F"/>
                </a:solidFill>
              </a:rPr>
              <a:t>.</a:t>
            </a:r>
            <a:endParaRPr sz="16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600" dirty="0">
                <a:solidFill>
                  <a:srgbClr val="1F1F1F"/>
                </a:solidFill>
              </a:rPr>
              <a:t>Recommender Systems:</a:t>
            </a:r>
            <a:endParaRPr sz="16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Closed patterns can be leveraged to provide personalized and diverse recommendations.</a:t>
            </a:r>
            <a:endParaRPr sz="16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600" dirty="0">
                <a:solidFill>
                  <a:srgbClr val="1F1F1F"/>
                </a:solidFill>
              </a:rPr>
              <a:t>Helps in identifying frequent </a:t>
            </a:r>
            <a:r>
              <a:rPr lang="en-GB" sz="1600" dirty="0" err="1">
                <a:solidFill>
                  <a:srgbClr val="1F1F1F"/>
                </a:solidFill>
              </a:rPr>
              <a:t>itemsets</a:t>
            </a:r>
            <a:r>
              <a:rPr lang="en-GB" sz="1600" dirty="0">
                <a:solidFill>
                  <a:srgbClr val="1F1F1F"/>
                </a:solidFill>
              </a:rPr>
              <a:t> with high user-specific utility.</a:t>
            </a:r>
            <a:endParaRPr sz="1100" dirty="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600" dirty="0">
              <a:solidFill>
                <a:srgbClr val="1F1F1F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1999" y="1031263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Closed Pattern Mining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id="324" name="Google Shape;324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 dirty="0">
                <a:solidFill>
                  <a:srgbClr val="000000"/>
                </a:solidFill>
              </a:rPr>
              <a:t>Closed patterns: Non-redundant, maximally frequent.</a:t>
            </a:r>
            <a:endParaRPr sz="1800" dirty="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 dirty="0">
                <a:solidFill>
                  <a:srgbClr val="000000"/>
                </a:solidFill>
              </a:rPr>
              <a:t>Mining: Identifying </a:t>
            </a:r>
            <a:r>
              <a:rPr lang="en-GB" sz="1800" dirty="0" err="1">
                <a:solidFill>
                  <a:srgbClr val="000000"/>
                </a:solidFill>
              </a:rPr>
              <a:t>itemsets</a:t>
            </a:r>
            <a:r>
              <a:rPr lang="en-GB" sz="1800" dirty="0">
                <a:solidFill>
                  <a:srgbClr val="000000"/>
                </a:solidFill>
              </a:rPr>
              <a:t> without loss of frequency.</a:t>
            </a:r>
            <a:endParaRPr sz="1800" dirty="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 dirty="0">
                <a:solidFill>
                  <a:srgbClr val="000000"/>
                </a:solidFill>
              </a:rPr>
              <a:t>Applications: Market analysis, concise representation.</a:t>
            </a:r>
            <a:endParaRPr sz="1800" dirty="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 dirty="0">
                <a:solidFill>
                  <a:srgbClr val="000000"/>
                </a:solidFill>
              </a:rPr>
              <a:t>Consideration: Complexity with large datasets.</a:t>
            </a:r>
            <a:endParaRPr sz="1800" dirty="0">
              <a:solidFill>
                <a:srgbClr val="000000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32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Closed Patterns</a:t>
            </a:r>
            <a:endParaRPr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</Words>
  <Application>Microsoft Macintosh PowerPoint</Application>
  <PresentationFormat>On-screen Show (16:9)</PresentationFormat>
  <Paragraphs>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Tahoma</vt:lpstr>
      <vt:lpstr>Times New Roman</vt:lpstr>
      <vt:lpstr>Noto Sans Symbols</vt:lpstr>
      <vt:lpstr>Roboto</vt:lpstr>
      <vt:lpstr>Arial</vt:lpstr>
      <vt:lpstr>Simple Light</vt:lpstr>
      <vt:lpstr>1_Blueprint</vt:lpstr>
      <vt:lpstr>Blueprint</vt:lpstr>
      <vt:lpstr>Chapter 3:  Pattern Discovery in Data Mining</vt:lpstr>
      <vt:lpstr>Mining Closed Patterns</vt:lpstr>
      <vt:lpstr>Mining Closed Patterns</vt:lpstr>
      <vt:lpstr>Mining Closed Patterns</vt:lpstr>
      <vt:lpstr>Mining Closed Patterns</vt:lpstr>
      <vt:lpstr>Mining Closed Patterns</vt:lpstr>
      <vt:lpstr>Mining Closed Patterns</vt:lpstr>
      <vt:lpstr>Mining Closed Patterns</vt:lpstr>
      <vt:lpstr>Mining Closed Patterns</vt:lpstr>
      <vt:lpstr>Mining Closed Patterns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1</cp:revision>
  <dcterms:modified xsi:type="dcterms:W3CDTF">2026-01-23T09:08:42Z</dcterms:modified>
</cp:coreProperties>
</file>