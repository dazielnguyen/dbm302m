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Noto Sans Symbols" pitchFamily="2" charset="0"/>
      <p:regular r:id="rId16"/>
      <p:bold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8"/>
    <p:restoredTop sz="94616"/>
  </p:normalViewPr>
  <p:slideViewPr>
    <p:cSldViewPr snapToGrid="0">
      <p:cViewPr varScale="1">
        <p:scale>
          <a:sx n="138" d="100"/>
          <a:sy n="138" d="100"/>
        </p:scale>
        <p:origin x="176" y="5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10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24575,'5'0'0,"2"0"0,-1 0 0,1 0 0,1 0 0,1 0 0,6 0 0,2 0 0,0 0 0,-4 0 0,-5 0 0,0 0 0,3 0 0,6 3 0,2 2 0,0 1 0,-5 0 0,-4-3 0,-3-2 0,-3-1 0,0 0 0,2 0 0,11 0 0,6 0 0,4 0 0,-3 0 0,-11 0 0,-5-1 0,-4-1 0,-2-2 0,0 0 0,-1-2 0,-1 1 0,0 0 0,0-2 0,0 0 0,0-1 0,0 2 0,0 1 0,0-1 0,0-5 0,0-6 0,0-7 0,0-3 0,0 4 0,0 6 0,0 9 0,0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12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24575,'0'22'0,"0"5"0,0 2 0,0-6 0,0-7 0,0-8 0,0-2 0,0 1 0,0 0 0,0-1 0,0 1 0,0-1 0,0 1 0,0 0 0,0-1 0,0 0 0,-1-2 0,0 2 0,-1-1 0,-1-1 0,0 0 0,0-1 0,0-1 0,8-6 0,0-2 0,7-6 0,-3 1 0,-3 3 0,2 1 0,0 0 0,0 0 0,3 1 0,-2 2 0,2 1 0,0 2 0,-1 0 0,1 1 0,-1 0 0,1-2 0,-2 1 0,0-1 0,0 0 0,1 0 0,0-1 0,1 0 0,-1-1 0,1 0 0,0 2 0,-2 1 0,-1 1 0,-4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15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24575,'6'0'0,"2"5"0,2 3 0,5 4 0,0 1 0,-1-2 0,-2 0 0,-2-2 0,-2-1 0,0-1 0,-1-1 0,-1-2 0,-1-1 0,0 0 0,-1 1 0,0 0 0,0 1 0,1-1 0,-1-3 0,0 1 0,-1 0 0,0 0 0,0 1 0,0 0 0,0 1 0,0-1 0,-1 1 0,1-2 0,0-1 0,0 0 0,1 0 0,0-1 0,0-2 0,-1-3 0,-1-5 0,1-2 0,-1-3 0,1 0 0,0 2 0,-1 2 0,1 3 0,-1 2 0,3 0 0,-1 2 0,-1 0 0,1 1 0,-2 1 0,1 0 0,1-1 0,-1 0 0,1 0 0,-1 1 0,-1 0 0,1 0 0,0 0 0,0 0 0,0-1 0,1 1 0,-1-1 0,-2 0 0,0 0 0,-1-1 0,0 1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18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24575,'-5'6'0,"0"-1"0,0 1 0,1 2 0,0 0 0,1 0 0,1 2 0,1-2 0,1 0 0,0-1 0,0-1 0,0-1 0,0-1 0,0-1 0,0 0 0,2-2 0,2-1 0,5-2 0,3 1 0,5-1 0,4 1 0,2 1 0,4 0 0,0 2 0,3 3 0,0 4 0,1 3 0,-1 2 0,-5 0 0,-2-1 0,-5-3 0,-4-2 0,-3-3 0,-4-3 0,-2 0 0,-1-1 0,-3 0 0,0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0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0 276 24575,'26'0'0,"9"0"0,7 0 0,3 0 0,-4 1 0,-8 2 0,-8 1 0,-7 2 0,-8-2 0,-2 0 0,-3 0 0,-3-1 0,1 0 0,-1-2 0,-1-4 0,1-7 0,-2-5 0,-1-6 0,-1-5 0,-1-3 0,-2-2 0,-1 1 0,0 3 0,0 5 0,0 5 0,1 2 0,1 2 0,0 1 0,1-1 0,2 3 0,-2 2 0,0 3 0,0 3 0,0 2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24575,'0'5'0,"1"1"0,1 1 0,2 2 0,2 2 0,-1-1 0,2 1 0,-1 0 0,0-1 0,-1 0 0,-2-2 0,1-3 0,-1-1 0,-1 0 0,2-1 0,-1 0 0,0-1 0,2 0 0,0 2 0,2-1 0,1 2 0,1 0 0,1-1 0,-2 0 0,0-3 0,-1-1 0,-1 0 0,-1 0 0,0-1 0,1-1 0,-1-2 0,-1-2 0,1-1 0,0-1 0,2-2 0,2-4 0,0-3 0,1-2 0,-1-1 0,-1 2 0,2 2 0,-1 5 0,-1 2 0,2 4 0,-2 0 0,0 0 0,-1 0 0,-2 2 0,-1 0 0,-3 2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4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24575,'0'11'0,"0"6"0,0 6 0,0 1 0,1-3 0,0-5 0,2-4 0,0-4 0,1-3 0,1-2 0,-1-1 0,1 1 0,-1-1 0,-1 1 0,1 0 0,0 1 0,0 0 0,1-2 0,-2-1 0,1 0 0,0-1 0,1 0 0,-1 0 0,3-1 0,0-2 0,1-5 0,1-5 0,5-5 0,5-4 0,3-1 0,2 2 0,-5 3 0,-4 4 0,-4 4 0,-5 4 0,-2 0 0,-1 0 0,-2 0 0,0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9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0 24575,'0'7'0,"0"0"0,0-2 0,0 1 0,0 1 0,0-3 0,-1 1 0,-10 13 0,-7 11 0,-7 11 0,-3 3 0,5-4 0,0-3 0,4-5 0,2-5 0,5-12 0,5-7 0,2-6 0,4-5 0,2-2 0,4-1 0,1 2 0,4 1 0,-1 1 0,2-1 0,1 0 0,2-1 0,4 0 0,8 0 0,5 2 0,7 2 0,7 1 0,3 0 0,2 0 0,-2 0 0,-1 0 0,-4 1 0,-6 1 0,-6 0 0,-6 0 0,-7-2 0,-3 0 0,-3 0 0,-6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27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11 229 24575,'0'-16'0,"0"-2"0,0-1 0,-2 4 0,-1 7 0,0 4 0,1 2 0,3 1 0,3-1 0,0-1 0,0 0 0,-2-3 0,-1-3 0,0-1 0,-1-1 0,0 1 0,0 0 0,0-3 0,0-4 0,0-3 0,-1 3 0,1 8 0,-1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3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24575,'5'0'0,"2"0"0,-3 0 0,5 0 0,2 0 0,1 0 0,1 0 0,-5 0 0,0 0 0,-2 0 0,1 0 0,2 0 0,0 0 0,0 0 0,-1 0 0,0 0 0,6 0 0,5 0 0,7 0 0,0 0 0,-3 0 0,-5 0 0,-8 0 0,-2 0 0,-1 0 0,1 0 0,1 0 0,-3 0 0,-5 0 0,-1 0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32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24575,'0'7'0,"0"13"0,0 10 0,0 19 0,0 7 0,0-12 0,0-14 0,0-19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33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24575,'28'0'0,"20"0"0,25 0 0,6 0 0,-21 0 0,-21 0 0,-16 0 0,3 0 0,22 0 0,16 0 0,3 0 0,-12 0-1696,-22 0 0,-18 0 0,-7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37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40 24575,'0'7'0,"0"-1"0,0 2 0,0-2 0,0-1 0,0 8 0,0 9 0,0 9 0,-1 2 0,0-8 0,-1-6 0,1-8 0,1-3 0,0-2 0,0-1 0,0-1 0,0-1 0,0-9 0,0-4 0,0-10 0,0-2 0,0-1 0,0-2 0,0 1 0,0 4 0,0 2 0,0 3 0,0 3 0,0 1 0,0 3 0,0 1 0,0-1 0,0 1 0,0 1 0,1 2 0,1 1 0,2 1 0,2 2 0,0-1 0,1 1 0,0 0 0,1 0 0,1 0 0,0 0 0,6 2 0,0 1 0,0 2 0,-1 0 0,-5 0 0,-3-1 0,-3 1 0,-2 0 0,-1 2 0,0 2 0,0 2 0,0-1 0,0 1 0,0-1 0,-2 1 0,0 0 0,-4-1 0,-1 3 0,0-1 0,-2 1 0,2-1 0,0-3 0,0-2 0,1-3 0,0-2 0,1-1 0,-1-1 0,1 0 0,2 0 0,3-1 0,4-1 0,4 2 0,0 0 0,1 0 0,3 0 0,0 0 0,1 0 0,-2 0 0,-1 1 0,1 4 0,4 2 0,0 3 0,-1 0 0,-1-1 0,-3-2 0,1 1 0,-1-1 0,1 0 0,-1 1 0,-2 0 0,-2-1 0,-1-2 0,-2 0 0,0-2 0,-2 1 0,-1 0 0,0 0 0,0 2 0,0-1 0,0 1 0,0-2 0,0-1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38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24575,'0'16'0,"0"15"0,0 14 0,0 8 0,0-8 0,0-13 0,0-13 0,0-8 0,0-5 0,0-3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0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24575,'45'2'0,"16"0"0,27-2 0,-38 0 0,0 0 0,42 0 0,-8 0 0,-20 0 0,-20 0 0,-20 0 0,-13 0 0,-9 0 0,-11 0 0,-11 0 0,-9 0 0,10 0 0,3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2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24575,'41'0'0,"4"0"0,12 0 0,-1 0 0,-7 0 0,-12 0 0,-11 0 0,-10 0 0,-6 0 0,-3 0 0,-3 0 0,1 0 0,-2 0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3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24575,'24'0'0,"19"0"0,19 0 0,15 0 0,0 0 0,-15 0 0,-19 0 0,-18 0 0,-16 0 0,-4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4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24575,'0'19'0,"0"6"0,0 10 0,0 3 0,0-4 0,0-4 0,0 0 0,0 0 0,0 4 0,0 0 0,0-6 0,0-4 0,0-10 0,0-7 0,0-4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6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24575,'8'0'0,"1"0"0,-2 0 0,-1 0 0,2 0 0,1 0 0,10 0 0,8 0 0,1 0 0,-3 0 0,-7 0 0,-12 0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7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24575,'25'0'0,"5"0"0,3 0 0,0 0 0,-8 0 0,-7 0 0,-6 0 0,-1 0 0,-1 0 0,-2 0 0,-1 0 0,-2 0 0,-1 1 0,-1 1 0,-1-1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49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24575,'11'0'0,"7"0"0,4 0 0,6 0 0,0 0 0,0 0 0,-1 0 0,-4 0 0,-3 0 0,-3 0 0,-2 0 0,-2 0 0,0 0 0,0 0 0,-1 0 0,-4 0 0,-3 0 0,-3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50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390 0 24575,'-27'0'0,"-20"0"0,-21 0 0,-11 0 0,8 0 0,22 0 0,18 0 0,20 0 0,4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51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 24575,'0'60'0,"0"7"0,0 22 0,0 0 0,0-10 0,0-6 0,0-6 0,0 1 0,0-1 0,0-9 0,0-15 0,0-19 0,0-10 0,0-1 0,-1 9 0,-2 4 0,0 8 0,-4 6 0,-1 3 0,-3 5 0,1-5 0,2-13 0,3-11 0,2-11 0,0-4 0,0-6 0,1 1 0,0-3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1:53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0 935 24575,'17'17'0,"7"6"0,14 10 0,11 9 0,9 7 0,0 1 0,-1 1 0,-11-9 0,-11-9 0,-10-10 0,-12-11 0,-3-5 0,-6-6 0,-1-3 0,-1-8 0,14-20 0,20-11 0,16-12 0,6-4 0,1-2 0,7-4 0,3-3 0,1 0-441,-7 7 1,2-2 0,0 1 0,1-1 0,0 1 440,-2 1 0,2 0 0,0 0 0,-4 3 0,-4 5 0,9-8 0,-6 4 0,-6 8 0,-7 4 0,-7 8 0,1 0 0,-29 25 0,-18 8 0,2 2 0,-7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3:2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24575,'4'6'0,"0"0"0,-1-1 0,1 0 0,-1 0 0,0 0 0,0 0 0,0 0 0,-1 0 0,0-1 0,0 0 0,0 0 0,0 0 0,0-1 0,1 0 0,-1 1 0,-1-1 0,2 1 0,-2 0 0,1-1 0,0 0 0,0-1 0,0 0 0,0 2 0,1-1 0,2 2 0,1 1 0,1 0 0,-1 0 0,-3 0 0,-1-2 0,0 0 0,0 1 0,-1-1 0,0 0 0,-1-1 0,0 1 0,0 0 0,0 1 0,0-1 0,0-1 0,0 0 0,2-1 0,1-1 0,1 0 0,-1-1 0,0 2 0,-1 0 0,0 0 0,1-1 0,1-1 0,-1 0 0,1 0 0,0 0 0,-1-1 0,-1-1 0,0-1 0,0-1 0,0 1 0,0 0 0,0-1 0,0 1 0,0-1 0,0 1 0,1 0 0,-1 0 0,0-1 0,1 0 0,-1 0 0,2-1 0,-1-1 0,0 0 0,1 1 0,-1 1 0,0 0 0,0 1 0,0 0 0,0-1 0,-1 1 0,-1 1 0,1-1 0,0 1 0,0 0 0,0 0 0,0-2 0,1 1 0,-1-1 0,0 1 0,1 0 0,-2-1 0,1 0 0,-1-1 0,2 0 0,1 0 0,-2 0 0,1-1 0,0 1 0,-1-1 0,1 1 0,-2 1 0,1 1 0,0 0 0,0 0 0,-1 2 0,0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3:23:26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24575,'5'10'0,"-1"-1"0,2 0 0,-2-1 0,1-1 0,-1 0 0,0-2 0,0-1 0,0-1 0,-1 1 0,1-1 0,0 0 0,1 1 0,0 0 0,0 1 0,0 0 0,-1-2 0,-1 0 0,0 0 0,-1-1 0,1 0 0,-1 1 0,0-1 0,1 0 0,-1 1 0,1-2 0,-1 1 0,1 0 0,-1 0 0,0 0 0,0 0 0,0 1 0,0 0 0,-1 0 0,2-1 0,-1 0 0,1 2 0,0 0 0,-1 0 0,0 0 0,0-1 0,-1 0 0,1-1 0,0 0 0,0 1 0,0-3 0,-1-1 0,0-1 0,0-2 0,2-2 0,2-1 0,-1-1 0,0 1 0,-3 2 0,1 1 0,-1 0 0,1 0 0,1 2 0,0-1 0,-1 0 0,0 0 0,-1 0 0,1 1 0,0 0 0,1-3 0,3 0 0,-1-1 0,2 1 0,-2 0 0,0-1 0,-1 3 0,-1-1 0,1 1 0,-1 0 0,0 0 0,1-1 0,-1 1 0,0-1 0,-1-1 0,1 1 0,0-1 0,1 1 0,-1 0 0,0 1 0,0 0 0,-1-1 0,-1 0 0,1 0 0,0 1 0,0 0 0,1-1 0,-4 1 0,1 1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eeef01be2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2eeef01b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2eeef01be2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2eeef01b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eeef01be2_0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eeef01b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2eeef01be2_0_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2eeef01be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9bece65c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399bece6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eeef01be2_0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2eeef01be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eeef01be2_0_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2eeef01be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eeef01be2_0_6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2eeef01be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4c7021ef8d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4c7021ef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2.xml"/><Relationship Id="rId50" Type="http://schemas.openxmlformats.org/officeDocument/2006/relationships/image" Target="../media/image25.png"/><Relationship Id="rId55" Type="http://schemas.openxmlformats.org/officeDocument/2006/relationships/customXml" Target="../ink/ink26.xml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7.xml"/><Relationship Id="rId40" Type="http://schemas.openxmlformats.org/officeDocument/2006/relationships/image" Target="../media/image20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29.png"/><Relationship Id="rId5" Type="http://schemas.openxmlformats.org/officeDocument/2006/relationships/customXml" Target="../ink/ink1.xml"/><Relationship Id="rId19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2.xml"/><Relationship Id="rId30" Type="http://schemas.openxmlformats.org/officeDocument/2006/relationships/image" Target="../media/image15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8" Type="http://schemas.openxmlformats.org/officeDocument/2006/relationships/image" Target="../media/image4.png"/><Relationship Id="rId51" Type="http://schemas.openxmlformats.org/officeDocument/2006/relationships/customXml" Target="../ink/ink24.xml"/><Relationship Id="rId3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0.png"/><Relationship Id="rId41" Type="http://schemas.openxmlformats.org/officeDocument/2006/relationships/customXml" Target="../ink/ink19.xml"/><Relationship Id="rId54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5.png"/><Relationship Id="rId31" Type="http://schemas.openxmlformats.org/officeDocument/2006/relationships/customXml" Target="../ink/ink14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Introduction to the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algorithm for frequent pattern mining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How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utilizes a tree-based data structure (FP-tree) for efficient pattern discovery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Comparison of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with the </a:t>
            </a:r>
            <a:r>
              <a:rPr lang="en-GB" sz="1800" dirty="0" err="1">
                <a:solidFill>
                  <a:srgbClr val="1F1F1F"/>
                </a:solidFill>
              </a:rPr>
              <a:t>Apriori</a:t>
            </a:r>
            <a:r>
              <a:rPr lang="en-GB" sz="1800" dirty="0">
                <a:solidFill>
                  <a:srgbClr val="1F1F1F"/>
                </a:solidFill>
              </a:rPr>
              <a:t> algorithm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is a popular algorithm for mining frequent patterns in transactional datasets.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adopts a pattern growth strategy, which </a:t>
            </a:r>
            <a:r>
              <a:rPr lang="en-GB" sz="1800" b="1" dirty="0">
                <a:solidFill>
                  <a:srgbClr val="1F1F1F"/>
                </a:solidFill>
              </a:rPr>
              <a:t>avoids the need for candidate generation like the </a:t>
            </a:r>
            <a:r>
              <a:rPr lang="en-GB" sz="1800" b="1" dirty="0" err="1">
                <a:solidFill>
                  <a:srgbClr val="1F1F1F"/>
                </a:solidFill>
              </a:rPr>
              <a:t>Apriori</a:t>
            </a:r>
            <a:r>
              <a:rPr lang="en-GB" sz="1800" b="1" dirty="0">
                <a:solidFill>
                  <a:srgbClr val="1F1F1F"/>
                </a:solidFill>
              </a:rPr>
              <a:t> algorithm.</a:t>
            </a:r>
            <a:endParaRPr sz="1800" b="1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uses a compact data structure called an FP-tree for efficient pattern discovery.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FPGrowth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FP-tree (Frequent Pattern tree) is a compact and efficient data structure used by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represents the transactional dataset in a tree-like structure that captures itemset relationships.</a:t>
            </a: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endParaRPr lang="en-GB"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FP-Tree: Compact Data Structure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 1: Constructing the Header Table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to count the support of each item and build a header table.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header table stores item support counts and pointers to the nodes in the FP-tree.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 2: Building the FP-Tree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again, processing transactions one by one.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For each transaction, add items to the FP-tree while maintaining the item order and support count.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FP-Tree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Recursive Mining: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Perform a depth-first traversal of the FP-tree to mine frequent patterns.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Each path in the FP-tree represents a frequent pattern.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Conditional Pattern Base and Conditional FP-Tree: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Extract conditional pattern bases for each frequent item in the FP-tree.	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Construct a conditional FP-tree for each frequent item using its corresponding conditional pattern base.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Recursive Tree Growth: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Recursively apply the </a:t>
            </a: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algorithm to each conditional FP-tree.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Generate frequent patterns by appending the frequent item to each path in the conditional FP-tree.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Frequent Patterns with FPGrowth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684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Construct FP-tree from a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Transational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DB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745450"/>
            <a:ext cx="6898309" cy="32837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48E406-4811-CEB0-52FC-39B1740F0988}"/>
                  </a:ext>
                </a:extLst>
              </p14:cNvPr>
              <p14:cNvContentPartPr/>
              <p14:nvPr/>
            </p14:nvContentPartPr>
            <p14:xfrm>
              <a:off x="6981203" y="3548122"/>
              <a:ext cx="127080" cy="7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48E406-4811-CEB0-52FC-39B1740F09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2563" y="3539482"/>
                <a:ext cx="144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1C940C-B22F-546B-FD43-4AB5E0682561}"/>
                  </a:ext>
                </a:extLst>
              </p14:cNvPr>
              <p14:cNvContentPartPr/>
              <p14:nvPr/>
            </p14:nvContentPartPr>
            <p14:xfrm>
              <a:off x="6669803" y="3550642"/>
              <a:ext cx="93240" cy="7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1C940C-B22F-546B-FD43-4AB5E06825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61163" y="3541642"/>
                <a:ext cx="1108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13B255-1266-F66C-D9EA-72CD8FA636B6}"/>
                  </a:ext>
                </a:extLst>
              </p14:cNvPr>
              <p14:cNvContentPartPr/>
              <p14:nvPr/>
            </p14:nvContentPartPr>
            <p14:xfrm>
              <a:off x="6552083" y="3931882"/>
              <a:ext cx="99720" cy="5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13B255-1266-F66C-D9EA-72CD8FA636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43083" y="3922882"/>
                <a:ext cx="1173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A8AB96-F1FC-2F82-1285-0F93163BACC5}"/>
                  </a:ext>
                </a:extLst>
              </p14:cNvPr>
              <p14:cNvContentPartPr/>
              <p14:nvPr/>
            </p14:nvContentPartPr>
            <p14:xfrm>
              <a:off x="6413483" y="4331482"/>
              <a:ext cx="134280" cy="68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A8AB96-F1FC-2F82-1285-0F93163BAC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04483" y="4322482"/>
                <a:ext cx="1519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309711-64B0-2A50-019E-4A6968CFEF99}"/>
                  </a:ext>
                </a:extLst>
              </p14:cNvPr>
              <p14:cNvContentPartPr/>
              <p14:nvPr/>
            </p14:nvContentPartPr>
            <p14:xfrm>
              <a:off x="6789683" y="4253722"/>
              <a:ext cx="107280" cy="111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309711-64B0-2A50-019E-4A6968CFEF9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0683" y="4244722"/>
                <a:ext cx="1249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01444E-F6C0-01E0-659A-2483937790EE}"/>
                  </a:ext>
                </a:extLst>
              </p14:cNvPr>
              <p14:cNvContentPartPr/>
              <p14:nvPr/>
            </p14:nvContentPartPr>
            <p14:xfrm>
              <a:off x="6356243" y="4674562"/>
              <a:ext cx="106560" cy="69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01444E-F6C0-01E0-659A-2483937790E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47243" y="4665922"/>
                <a:ext cx="1242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99B45D-FC4C-65FB-394D-8E04F34A6252}"/>
                  </a:ext>
                </a:extLst>
              </p14:cNvPr>
              <p14:cNvContentPartPr/>
              <p14:nvPr/>
            </p14:nvContentPartPr>
            <p14:xfrm>
              <a:off x="6883643" y="4713082"/>
              <a:ext cx="86760" cy="65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99B45D-FC4C-65FB-394D-8E04F34A62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74643" y="4704442"/>
                <a:ext cx="1044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ED6E90C-E420-99C0-DF5B-E415702D03D3}"/>
                  </a:ext>
                </a:extLst>
              </p14:cNvPr>
              <p14:cNvContentPartPr/>
              <p14:nvPr/>
            </p14:nvContentPartPr>
            <p14:xfrm>
              <a:off x="6817043" y="3164722"/>
              <a:ext cx="220320" cy="117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ED6E90C-E420-99C0-DF5B-E415702D03D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08403" y="3155722"/>
                <a:ext cx="2379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B070634-BCEC-526A-DB51-1EE2DF7F8FCF}"/>
              </a:ext>
            </a:extLst>
          </p:cNvPr>
          <p:cNvGrpSpPr/>
          <p:nvPr/>
        </p:nvGrpSpPr>
        <p:grpSpPr>
          <a:xfrm>
            <a:off x="7415003" y="3171922"/>
            <a:ext cx="143280" cy="89640"/>
            <a:chOff x="7415003" y="3171922"/>
            <a:chExt cx="14328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50188C-00D0-882A-A4F0-0272364AAE50}"/>
                    </a:ext>
                  </a:extLst>
                </p14:cNvPr>
                <p14:cNvContentPartPr/>
                <p14:nvPr/>
              </p14:nvContentPartPr>
              <p14:xfrm>
                <a:off x="7555763" y="3254362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50188C-00D0-882A-A4F0-0272364AAE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46763" y="32453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4FE2D8-1391-FF67-C252-8E417474B67B}"/>
                    </a:ext>
                  </a:extLst>
                </p14:cNvPr>
                <p14:cNvContentPartPr/>
                <p14:nvPr/>
              </p14:nvContentPartPr>
              <p14:xfrm>
                <a:off x="7551803" y="3171922"/>
                <a:ext cx="6480" cy="82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4FE2D8-1391-FF67-C252-8E417474B6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43163" y="3163282"/>
                  <a:ext cx="24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830F0B-A676-6228-36F4-A3FFD3251229}"/>
                    </a:ext>
                  </a:extLst>
                </p14:cNvPr>
                <p14:cNvContentPartPr/>
                <p14:nvPr/>
              </p14:nvContentPartPr>
              <p14:xfrm>
                <a:off x="7415003" y="3261202"/>
                <a:ext cx="11124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830F0B-A676-6228-36F4-A3FFD32512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06363" y="3252202"/>
                  <a:ext cx="12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400E02-849C-6C15-3945-579E4D3826F2}"/>
              </a:ext>
            </a:extLst>
          </p:cNvPr>
          <p:cNvGrpSpPr/>
          <p:nvPr/>
        </p:nvGrpSpPr>
        <p:grpSpPr>
          <a:xfrm>
            <a:off x="6825323" y="1987882"/>
            <a:ext cx="232200" cy="116280"/>
            <a:chOff x="6825323" y="1987882"/>
            <a:chExt cx="23220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D0B477-A826-22E7-90F2-032612CE45F1}"/>
                    </a:ext>
                  </a:extLst>
                </p14:cNvPr>
                <p14:cNvContentPartPr/>
                <p14:nvPr/>
              </p14:nvContentPartPr>
              <p14:xfrm>
                <a:off x="6937643" y="2014882"/>
                <a:ext cx="360" cy="89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D0B477-A826-22E7-90F2-032612CE45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29003" y="2005882"/>
                  <a:ext cx="18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670E58-6BA6-DA08-0675-E69F5CB695FD}"/>
                    </a:ext>
                  </a:extLst>
                </p14:cNvPr>
                <p14:cNvContentPartPr/>
                <p14:nvPr/>
              </p14:nvContentPartPr>
              <p14:xfrm>
                <a:off x="6825323" y="1987882"/>
                <a:ext cx="23220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670E58-6BA6-DA08-0675-E69F5CB695F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16683" y="1978882"/>
                  <a:ext cx="2498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05B4338-114C-2A63-D85A-6D5720D87335}"/>
              </a:ext>
            </a:extLst>
          </p:cNvPr>
          <p:cNvGrpSpPr/>
          <p:nvPr/>
        </p:nvGrpSpPr>
        <p:grpSpPr>
          <a:xfrm>
            <a:off x="7122683" y="1943962"/>
            <a:ext cx="574560" cy="160920"/>
            <a:chOff x="7122683" y="1943962"/>
            <a:chExt cx="57456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C6DB74-39E4-DDB2-7807-BC57F59B5A9F}"/>
                    </a:ext>
                  </a:extLst>
                </p14:cNvPr>
                <p14:cNvContentPartPr/>
                <p14:nvPr/>
              </p14:nvContentPartPr>
              <p14:xfrm>
                <a:off x="7122683" y="1954762"/>
                <a:ext cx="102960" cy="122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C6DB74-39E4-DDB2-7807-BC57F59B5A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13683" y="1945762"/>
                  <a:ext cx="120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71BCBA-2810-00F0-9553-819F05E29509}"/>
                    </a:ext>
                  </a:extLst>
                </p14:cNvPr>
                <p14:cNvContentPartPr/>
                <p14:nvPr/>
              </p14:nvContentPartPr>
              <p14:xfrm>
                <a:off x="7280003" y="1943962"/>
                <a:ext cx="360" cy="95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71BCBA-2810-00F0-9553-819F05E2950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71363" y="1934962"/>
                  <a:ext cx="18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A5D89B-0C56-F5C7-D8B8-052D09B55F41}"/>
                    </a:ext>
                  </a:extLst>
                </p14:cNvPr>
                <p14:cNvContentPartPr/>
                <p14:nvPr/>
              </p14:nvContentPartPr>
              <p14:xfrm>
                <a:off x="7287203" y="1958002"/>
                <a:ext cx="221760" cy="1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A5D89B-0C56-F5C7-D8B8-052D09B55F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8563" y="1949362"/>
                  <a:ext cx="239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9F0C49-9BBE-0359-6773-764B20EBEDDB}"/>
                    </a:ext>
                  </a:extLst>
                </p14:cNvPr>
                <p14:cNvContentPartPr/>
                <p14:nvPr/>
              </p14:nvContentPartPr>
              <p14:xfrm>
                <a:off x="7312043" y="2011282"/>
                <a:ext cx="12924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9F0C49-9BBE-0359-6773-764B20EBED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03043" y="2002642"/>
                  <a:ext cx="146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E10F1D-69DB-E29D-D131-3CCE9F468A8A}"/>
                    </a:ext>
                  </a:extLst>
                </p14:cNvPr>
                <p14:cNvContentPartPr/>
                <p14:nvPr/>
              </p14:nvContentPartPr>
              <p14:xfrm>
                <a:off x="7292963" y="2074642"/>
                <a:ext cx="15408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E10F1D-69DB-E29D-D131-3CCE9F468A8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83963" y="2065642"/>
                  <a:ext cx="171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695233-D980-3232-87BD-0300D1088AC7}"/>
                    </a:ext>
                  </a:extLst>
                </p14:cNvPr>
                <p14:cNvContentPartPr/>
                <p14:nvPr/>
              </p14:nvContentPartPr>
              <p14:xfrm>
                <a:off x="7578443" y="1951882"/>
                <a:ext cx="360" cy="13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695233-D980-3232-87BD-0300D1088A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69443" y="1943242"/>
                  <a:ext cx="18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688CEA-E9FE-F896-77B2-179663950F6F}"/>
                    </a:ext>
                  </a:extLst>
                </p14:cNvPr>
                <p14:cNvContentPartPr/>
                <p14:nvPr/>
              </p14:nvContentPartPr>
              <p14:xfrm>
                <a:off x="7583123" y="1978522"/>
                <a:ext cx="63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688CEA-E9FE-F896-77B2-179663950F6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74123" y="1969522"/>
                  <a:ext cx="81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D818BE-F7B8-7E8A-3594-E09BFAA8C48B}"/>
                    </a:ext>
                  </a:extLst>
                </p14:cNvPr>
                <p14:cNvContentPartPr/>
                <p14:nvPr/>
              </p14:nvContentPartPr>
              <p14:xfrm>
                <a:off x="7603643" y="2036482"/>
                <a:ext cx="81720" cy="2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D818BE-F7B8-7E8A-3594-E09BFAA8C48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94643" y="2027482"/>
                  <a:ext cx="99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311A2C-AD1A-D4D0-092C-4FE2EAA231A8}"/>
                    </a:ext>
                  </a:extLst>
                </p14:cNvPr>
                <p14:cNvContentPartPr/>
                <p14:nvPr/>
              </p14:nvContentPartPr>
              <p14:xfrm>
                <a:off x="7587803" y="2104522"/>
                <a:ext cx="10944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311A2C-AD1A-D4D0-092C-4FE2EAA231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79163" y="2095882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EE8150-B7B9-449A-3ABD-FD608979D747}"/>
                    </a:ext>
                  </a:extLst>
                </p14:cNvPr>
                <p14:cNvContentPartPr/>
                <p14:nvPr/>
              </p14:nvContentPartPr>
              <p14:xfrm>
                <a:off x="7551083" y="1972762"/>
                <a:ext cx="1407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EE8150-B7B9-449A-3ABD-FD608979D74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42083" y="1963762"/>
                  <a:ext cx="1584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68C5287-3B59-5F80-9087-E3C7C53AEF30}"/>
              </a:ext>
            </a:extLst>
          </p:cNvPr>
          <p:cNvGrpSpPr/>
          <p:nvPr/>
        </p:nvGrpSpPr>
        <p:grpSpPr>
          <a:xfrm>
            <a:off x="7060043" y="2272642"/>
            <a:ext cx="660240" cy="474840"/>
            <a:chOff x="7060043" y="2272642"/>
            <a:chExt cx="660240" cy="47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AC9362-2979-3920-64CE-ABD7527FE99E}"/>
                    </a:ext>
                  </a:extLst>
                </p14:cNvPr>
                <p14:cNvContentPartPr/>
                <p14:nvPr/>
              </p14:nvContentPartPr>
              <p14:xfrm>
                <a:off x="7110803" y="2302162"/>
                <a:ext cx="25200" cy="406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AC9362-2979-3920-64CE-ABD7527FE9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101803" y="2293522"/>
                  <a:ext cx="428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D6FD869-46E1-FD4D-1DDF-9572AB588F88}"/>
                    </a:ext>
                  </a:extLst>
                </p14:cNvPr>
                <p14:cNvContentPartPr/>
                <p14:nvPr/>
              </p14:nvContentPartPr>
              <p14:xfrm>
                <a:off x="7060043" y="2272642"/>
                <a:ext cx="660240" cy="474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D6FD869-46E1-FD4D-1DDF-9572AB588F8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51043" y="2263642"/>
                  <a:ext cx="677880" cy="49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BD43B5A-874D-9043-FB01-C6ACE0D786C8}"/>
                  </a:ext>
                </a:extLst>
              </p14:cNvPr>
              <p14:cNvContentPartPr/>
              <p14:nvPr/>
            </p14:nvContentPartPr>
            <p14:xfrm>
              <a:off x="7505723" y="3552802"/>
              <a:ext cx="91080" cy="68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BD43B5A-874D-9043-FB01-C6ACE0D786C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497083" y="3544162"/>
                <a:ext cx="1087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EE8B7EA-78E6-0197-F671-DE505E1C3FFA}"/>
                  </a:ext>
                </a:extLst>
              </p14:cNvPr>
              <p14:cNvContentPartPr/>
              <p14:nvPr/>
            </p14:nvContentPartPr>
            <p14:xfrm>
              <a:off x="7507523" y="3914602"/>
              <a:ext cx="97560" cy="66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EE8B7EA-78E6-0197-F671-DE505E1C3FF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498523" y="3905962"/>
                <a:ext cx="115200" cy="8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296" name="Google Shape;296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Efficient Pattern Mining: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eliminates the need for candidate generation, reducing computational overhead.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It leverages the FP-tree structure to expedite frequent pattern discovery.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Handling High-Dimensional Data: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efficiently handles datasets with a large number of items and high-dimensional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It is particularly effective for mining complex patterns in such datasets.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FPGrowth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305" name="Google Shape;305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FPGrowth vs. Apriori: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does not generate candidate itemsets, unlike the Apriori algorithm.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uses the FP-tree structure, whereas Apriori uses an itemset lattice.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often outperforms Apriori in terms of efficiency and scalability.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with Apriori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id="314" name="Google Shape;314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 err="1">
                <a:solidFill>
                  <a:srgbClr val="1F1F1F"/>
                </a:solidFill>
              </a:rPr>
              <a:t>FPGrowth</a:t>
            </a:r>
            <a:r>
              <a:rPr lang="en-GB" sz="1800" dirty="0">
                <a:solidFill>
                  <a:srgbClr val="1F1F1F"/>
                </a:solidFill>
              </a:rPr>
              <a:t> has various applications, including: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Market basket analysis for identifying frequently co-occurring items.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DNA sequence analysis in bioinformatics.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Intrusion detection in cybersecurity.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Recommender systems for personalized recommendations.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Use Cases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23" name="Google Shape;323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FP-Growth: Efficient frequent itemset mining.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Steps: Build FP-tree, mine itemsets recursively.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Advantages: Reduced scans, suited for large data.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Consideration: Memory usage varies.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FP-Growth Algorithm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Macintosh PowerPoint</Application>
  <PresentationFormat>On-screen Show (16:9)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Tahoma</vt:lpstr>
      <vt:lpstr>Noto Sans Symbols</vt:lpstr>
      <vt:lpstr>Times New Roman</vt:lpstr>
      <vt:lpstr>Simple Light</vt:lpstr>
      <vt:lpstr>1_Blueprint</vt:lpstr>
      <vt:lpstr>Blueprint</vt:lpstr>
      <vt:lpstr>Chapter 3:  Pattern Discovery in Data Mining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FPGrowth - A Pattern Growth Approach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2026-01-21T09:20:08Z</dcterms:modified>
</cp:coreProperties>
</file>