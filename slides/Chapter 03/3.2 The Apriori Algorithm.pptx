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  <p:sldMasterId id="2147483668" r:id="rId2"/>
    <p:sldMasterId id="2147483669" r:id="rId3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9144000" cy="5143500" type="screen16x9"/>
  <p:notesSz cx="6858000" cy="9144000"/>
  <p:embeddedFontLst>
    <p:embeddedFont>
      <p:font typeface="Noto Sans Symbols" pitchFamily="2" charset="0"/>
      <p:regular r:id="rId23"/>
      <p:bold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  <p:embeddedFont>
      <p:font typeface="Tahoma" panose="020B0604030504040204" pitchFamily="34" charset="0"/>
      <p:regular r:id="rId29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76"/>
  </p:normalViewPr>
  <p:slideViewPr>
    <p:cSldViewPr snapToGrid="0">
      <p:cViewPr varScale="1">
        <p:scale>
          <a:sx n="199" d="100"/>
          <a:sy n="199" d="100"/>
        </p:scale>
        <p:origin x="176" y="2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4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582b55a4a5_0_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g2582b55a4a5_0_419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100" tIns="45550" rIns="91100" bIns="455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2582b55a4a5_0_419:notes"/>
          <p:cNvSpPr txBox="1"/>
          <p:nvPr/>
        </p:nvSpPr>
        <p:spPr>
          <a:xfrm>
            <a:off x="3886696" y="8686800"/>
            <a:ext cx="2971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100" tIns="45550" rIns="91100" bIns="455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GB" sz="1200" b="0" i="0" u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fld>
            <a:endParaRPr sz="13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582b55a4a5_0_62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g2582b55a4a5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2f09eb07a2_0_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g22f09eb07a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2f09eb07a2_0_11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2f09eb07a2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22f09eb07a2_0_21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g22f09eb07a2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2399d6d8065_1_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g2399d6d806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2f09eb07a2_0_3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g22f09eb07a2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2f09eb07a2_0_4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2f09eb07a2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22f09eb07a2_0_49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22f09eb07a2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3ba4f3ae45_1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6" name="Google Shape;316;g23ba4f3ae45_1_24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100" tIns="45550" rIns="91100" bIns="455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23ba4f3ae45_1_240:notes"/>
          <p:cNvSpPr txBox="1"/>
          <p:nvPr/>
        </p:nvSpPr>
        <p:spPr>
          <a:xfrm>
            <a:off x="3886696" y="8686800"/>
            <a:ext cx="2971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100" tIns="45550" rIns="91100" bIns="455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GB" sz="1200" b="0" i="0" u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</a:t>
            </a:fld>
            <a:endParaRPr sz="13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23ba4f3ae45_1_246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23ba4f3ae45_1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3ba4f3ae45_1_254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23ba4f3ae45_1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23ba4f3ae45_1_262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g23ba4f3ae45_1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23ba4f3ae45_1_27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g23ba4f3ae45_1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3ba4f3ae45_1_27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g23ba4f3ae45_1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3ba4f3ae45_1_286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g23ba4f3ae45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ba4f3ae45_1_294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g23ba4f3ae45_1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24c69dee0bd_0_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g24c69dee0b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hart" type="txAndChart">
  <p:cSld name="TEXT_AND_CHAR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■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●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>
            <a:spLocks noGrp="1"/>
          </p:cNvSpPr>
          <p:nvPr>
            <p:ph type="chart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 txBox="1">
            <a:spLocks noGrp="1"/>
          </p:cNvSpPr>
          <p:nvPr>
            <p:ph type="ctrTitle"/>
          </p:nvPr>
        </p:nvSpPr>
        <p:spPr>
          <a:xfrm>
            <a:off x="990600" y="13144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5" descr="Rectangle: Click to edit Master text styles&#10;Second level&#10;Third level&#10;Fourth level&#10;Fifth level"/>
          <p:cNvSpPr txBox="1">
            <a:spLocks noGrp="1"/>
          </p:cNvSpPr>
          <p:nvPr>
            <p:ph type="subTitle" idx="1"/>
          </p:nvPr>
        </p:nvSpPr>
        <p:spPr>
          <a:xfrm>
            <a:off x="990600" y="2482453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SzPts val="1920"/>
              <a:buFont typeface="Noto Sans Symbols"/>
              <a:buNone/>
              <a:defRPr/>
            </a:lvl1pPr>
            <a:lvl2pPr lvl="1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lvl="2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lvl="3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lvl="4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lvl="5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lvl="6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lvl="7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lvl="8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130" name="Google Shape;130;p15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1" name="Google Shape;131;p15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hart" type="txAndChart">
  <p:cSld name="TEXT_AND_CHART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7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17"/>
          <p:cNvSpPr>
            <a:spLocks noGrp="1"/>
          </p:cNvSpPr>
          <p:nvPr>
            <p:ph type="chart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03" name="Google Shape;203;p17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7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7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, and Content" type="txAndObj">
  <p:cSld name="TEXT_AND_OBJECT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8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09" name="Google Shape;209;p18"/>
          <p:cNvSpPr txBox="1">
            <a:spLocks noGrp="1"/>
          </p:cNvSpPr>
          <p:nvPr>
            <p:ph type="body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10" name="Google Shape;210;p18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18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18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19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19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20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5280" algn="l" rtl="0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marL="914400" lvl="1" indent="-320040" algn="l" rtl="0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marL="1371600" lvl="2" indent="-349250" algn="l" rtl="0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>
            <a:endParaRPr/>
          </a:p>
        </p:txBody>
      </p:sp>
      <p:sp>
        <p:nvSpPr>
          <p:cNvPr id="220" name="Google Shape;220;p20"/>
          <p:cNvSpPr txBox="1">
            <a:spLocks noGrp="1"/>
          </p:cNvSpPr>
          <p:nvPr>
            <p:ph type="body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5280" algn="l" rtl="0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marL="914400" lvl="1" indent="-320040" algn="l" rtl="0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marL="1371600" lvl="2" indent="-349250" algn="l" rtl="0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>
            <a:endParaRPr/>
          </a:p>
        </p:txBody>
      </p:sp>
      <p:sp>
        <p:nvSpPr>
          <p:cNvPr id="221" name="Google Shape;221;p20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0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0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1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1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27" name="Google Shape;227;p21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1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1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2"/>
          <p:cNvSpPr txBox="1">
            <a:spLocks noGrp="1"/>
          </p:cNvSpPr>
          <p:nvPr>
            <p:ph type="ctrTitle"/>
          </p:nvPr>
        </p:nvSpPr>
        <p:spPr>
          <a:xfrm>
            <a:off x="990600" y="13144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22" descr="Rectangle: Click to edit Master text styles&#10;Second level&#10;Third level&#10;Fourth level&#10;Fifth level"/>
          <p:cNvSpPr txBox="1">
            <a:spLocks noGrp="1"/>
          </p:cNvSpPr>
          <p:nvPr>
            <p:ph type="subTitle" idx="1"/>
          </p:nvPr>
        </p:nvSpPr>
        <p:spPr>
          <a:xfrm>
            <a:off x="990600" y="2482453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SzPts val="1920"/>
              <a:buFont typeface="Noto Sans Symbols"/>
              <a:buNone/>
              <a:defRPr/>
            </a:lvl1pPr>
            <a:lvl2pPr lvl="1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lvl="2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lvl="3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lvl="4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lvl="5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lvl="6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lvl="7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lvl="8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33" name="Google Shape;233;p22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4" name="Google Shape;234;p22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14"/>
          <p:cNvGrpSpPr/>
          <p:nvPr/>
        </p:nvGrpSpPr>
        <p:grpSpPr>
          <a:xfrm>
            <a:off x="-136525" y="0"/>
            <a:ext cx="9204325" cy="5029200"/>
            <a:chOff x="-86" y="0"/>
            <a:chExt cx="5798" cy="4224"/>
          </a:xfrm>
        </p:grpSpPr>
        <p:grpSp>
          <p:nvGrpSpPr>
            <p:cNvPr id="59" name="Google Shape;59;p14"/>
            <p:cNvGrpSpPr/>
            <p:nvPr/>
          </p:nvGrpSpPr>
          <p:grpSpPr>
            <a:xfrm>
              <a:off x="0" y="0"/>
              <a:ext cx="5712" cy="4224"/>
              <a:chOff x="0" y="0"/>
              <a:chExt cx="5712" cy="4224"/>
            </a:xfrm>
          </p:grpSpPr>
          <p:sp>
            <p:nvSpPr>
              <p:cNvPr id="60" name="Google Shape;60;p14"/>
              <p:cNvSpPr txBox="1"/>
              <p:nvPr/>
            </p:nvSpPr>
            <p:spPr>
              <a:xfrm>
                <a:off x="2112" y="0"/>
                <a:ext cx="3600" cy="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  <p:grpSp>
            <p:nvGrpSpPr>
              <p:cNvPr id="61" name="Google Shape;61;p14"/>
              <p:cNvGrpSpPr/>
              <p:nvPr/>
            </p:nvGrpSpPr>
            <p:grpSpPr>
              <a:xfrm>
                <a:off x="0" y="0"/>
                <a:ext cx="5700" cy="4224"/>
                <a:chOff x="0" y="0"/>
                <a:chExt cx="5700" cy="4224"/>
              </a:xfrm>
            </p:grpSpPr>
            <p:cxnSp>
              <p:nvCxnSpPr>
                <p:cNvPr id="62" name="Google Shape;62;p14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3" name="Google Shape;63;p14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4" name="Google Shape;64;p14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5" name="Google Shape;65;p14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6" name="Google Shape;66;p14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7" name="Google Shape;67;p14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8" name="Google Shape;68;p14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9" name="Google Shape;69;p14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0" name="Google Shape;70;p14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1" name="Google Shape;71;p14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2" name="Google Shape;72;p14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3" name="Google Shape;73;p14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4" name="Google Shape;74;p14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5" name="Google Shape;75;p14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6" name="Google Shape;76;p14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7" name="Google Shape;77;p14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8" name="Google Shape;78;p14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9" name="Google Shape;79;p14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0" name="Google Shape;80;p14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1" name="Google Shape;81;p14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2" name="Google Shape;82;p14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3" name="Google Shape;83;p14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4" name="Google Shape;84;p14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5" name="Google Shape;85;p14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6" name="Google Shape;86;p14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7" name="Google Shape;87;p14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8" name="Google Shape;88;p14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9" name="Google Shape;89;p14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0" name="Google Shape;90;p14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1" name="Google Shape;91;p14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2" name="Google Shape;92;p14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3" name="Google Shape;93;p14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4" name="Google Shape;94;p14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5" name="Google Shape;95;p14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6" name="Google Shape;96;p14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7" name="Google Shape;97;p14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8" name="Google Shape;98;p14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9" name="Google Shape;99;p14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0" name="Google Shape;100;p14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1" name="Google Shape;101;p14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2" name="Google Shape;102;p14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3" name="Google Shape;103;p14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4" name="Google Shape;104;p14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5" name="Google Shape;105;p14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6" name="Google Shape;106;p14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7" name="Google Shape;107;p14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8" name="Google Shape;108;p14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9" name="Google Shape;109;p14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0" name="Google Shape;110;p14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1" name="Google Shape;111;p14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2" name="Google Shape;112;p14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13" name="Google Shape;113;p14"/>
              <p:cNvCxnSpPr/>
              <p:nvPr/>
            </p:nvCxnSpPr>
            <p:spPr>
              <a:xfrm>
                <a:off x="5568" y="0"/>
                <a:ext cx="0" cy="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</p:grpSp>
        <p:grpSp>
          <p:nvGrpSpPr>
            <p:cNvPr id="114" name="Google Shape;114;p14"/>
            <p:cNvGrpSpPr/>
            <p:nvPr/>
          </p:nvGrpSpPr>
          <p:grpSpPr>
            <a:xfrm>
              <a:off x="-86" y="559"/>
              <a:ext cx="4281" cy="1800"/>
              <a:chOff x="-86" y="559"/>
              <a:chExt cx="4281" cy="1800"/>
            </a:xfrm>
          </p:grpSpPr>
          <p:cxnSp>
            <p:nvCxnSpPr>
              <p:cNvPr id="115" name="Google Shape;115;p14"/>
              <p:cNvCxnSpPr/>
              <p:nvPr/>
            </p:nvCxnSpPr>
            <p:spPr>
              <a:xfrm>
                <a:off x="506" y="559"/>
                <a:ext cx="0" cy="1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16" name="Google Shape;116;p14"/>
              <p:cNvCxnSpPr/>
              <p:nvPr/>
            </p:nvCxnSpPr>
            <p:spPr>
              <a:xfrm rot="10800000">
                <a:off x="-86" y="1925"/>
                <a:ext cx="3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17" name="Google Shape;117;p14"/>
              <p:cNvCxnSpPr/>
              <p:nvPr/>
            </p:nvCxnSpPr>
            <p:spPr>
              <a:xfrm rot="10800000">
                <a:off x="295" y="939"/>
                <a:ext cx="3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18" name="Google Shape;118;p14"/>
              <p:cNvSpPr/>
              <p:nvPr/>
            </p:nvSpPr>
            <p:spPr>
              <a:xfrm rot="-5400000" flipH="1">
                <a:off x="425" y="860"/>
                <a:ext cx="108" cy="108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1480" y="1952"/>
              <a:ext cx="3900" cy="1800"/>
              <a:chOff x="1480" y="1952"/>
              <a:chExt cx="3900" cy="1800"/>
            </a:xfrm>
          </p:grpSpPr>
          <p:cxnSp>
            <p:nvCxnSpPr>
              <p:cNvPr id="120" name="Google Shape;120;p14"/>
              <p:cNvCxnSpPr/>
              <p:nvPr/>
            </p:nvCxnSpPr>
            <p:spPr>
              <a:xfrm>
                <a:off x="1480" y="3442"/>
                <a:ext cx="3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14"/>
              <p:cNvCxnSpPr/>
              <p:nvPr/>
            </p:nvCxnSpPr>
            <p:spPr>
              <a:xfrm>
                <a:off x="5172" y="1952"/>
                <a:ext cx="0" cy="1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22" name="Google Shape;122;p14"/>
              <p:cNvSpPr/>
              <p:nvPr/>
            </p:nvSpPr>
            <p:spPr>
              <a:xfrm rot="5400000">
                <a:off x="5145" y="3347"/>
                <a:ext cx="108" cy="108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23" name="Google Shape;123;p1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24" name="Google Shape;124;p1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052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528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73380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111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6"/>
          <p:cNvGrpSpPr/>
          <p:nvPr/>
        </p:nvGrpSpPr>
        <p:grpSpPr>
          <a:xfrm>
            <a:off x="0" y="0"/>
            <a:ext cx="9067800" cy="5029200"/>
            <a:chOff x="0" y="0"/>
            <a:chExt cx="5712" cy="4224"/>
          </a:xfrm>
        </p:grpSpPr>
        <p:grpSp>
          <p:nvGrpSpPr>
            <p:cNvPr id="134" name="Google Shape;134;p16"/>
            <p:cNvGrpSpPr/>
            <p:nvPr/>
          </p:nvGrpSpPr>
          <p:grpSpPr>
            <a:xfrm>
              <a:off x="0" y="0"/>
              <a:ext cx="5700" cy="4224"/>
              <a:chOff x="0" y="0"/>
              <a:chExt cx="5700" cy="4224"/>
            </a:xfrm>
          </p:grpSpPr>
          <p:grpSp>
            <p:nvGrpSpPr>
              <p:cNvPr id="135" name="Google Shape;135;p16"/>
              <p:cNvGrpSpPr/>
              <p:nvPr/>
            </p:nvGrpSpPr>
            <p:grpSpPr>
              <a:xfrm>
                <a:off x="0" y="192"/>
                <a:ext cx="5700" cy="4032"/>
                <a:chOff x="0" y="192"/>
                <a:chExt cx="5700" cy="4032"/>
              </a:xfrm>
            </p:grpSpPr>
            <p:cxnSp>
              <p:nvCxnSpPr>
                <p:cNvPr id="136" name="Google Shape;136;p16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7" name="Google Shape;137;p16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8" name="Google Shape;138;p16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9" name="Google Shape;139;p16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0" name="Google Shape;140;p16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1" name="Google Shape;141;p16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2" name="Google Shape;142;p16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3" name="Google Shape;143;p16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4" name="Google Shape;144;p16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5" name="Google Shape;145;p16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6" name="Google Shape;146;p16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7" name="Google Shape;147;p16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8" name="Google Shape;148;p16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9" name="Google Shape;149;p16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0" name="Google Shape;150;p16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1" name="Google Shape;151;p16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2" name="Google Shape;152;p16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3" name="Google Shape;153;p16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4" name="Google Shape;154;p16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5" name="Google Shape;155;p16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6" name="Google Shape;156;p16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7" name="Google Shape;157;p16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58" name="Google Shape;158;p16"/>
              <p:cNvGrpSpPr/>
              <p:nvPr/>
            </p:nvGrpSpPr>
            <p:grpSpPr>
              <a:xfrm>
                <a:off x="192" y="0"/>
                <a:ext cx="5376" cy="4200"/>
                <a:chOff x="192" y="0"/>
                <a:chExt cx="5376" cy="4200"/>
              </a:xfrm>
            </p:grpSpPr>
            <p:cxnSp>
              <p:nvCxnSpPr>
                <p:cNvPr id="159" name="Google Shape;159;p16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0" name="Google Shape;160;p16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1" name="Google Shape;161;p16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2" name="Google Shape;162;p16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3" name="Google Shape;163;p16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4" name="Google Shape;164;p16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5" name="Google Shape;165;p16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6" name="Google Shape;166;p16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7" name="Google Shape;167;p16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8" name="Google Shape;168;p16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9" name="Google Shape;169;p16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0" name="Google Shape;170;p16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1" name="Google Shape;171;p16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2" name="Google Shape;172;p16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3" name="Google Shape;173;p16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4" name="Google Shape;174;p16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5" name="Google Shape;175;p16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6" name="Google Shape;176;p16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7" name="Google Shape;177;p16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8" name="Google Shape;178;p16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9" name="Google Shape;179;p16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0" name="Google Shape;180;p16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1" name="Google Shape;181;p16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2" name="Google Shape;182;p16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3" name="Google Shape;183;p16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4" name="Google Shape;184;p16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5" name="Google Shape;185;p16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6" name="Google Shape;186;p16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7" name="Google Shape;187;p16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</p:grpSp>
        <p:sp>
          <p:nvSpPr>
            <p:cNvPr id="188" name="Google Shape;188;p16" descr="60%"/>
            <p:cNvSpPr txBox="1"/>
            <p:nvPr/>
          </p:nvSpPr>
          <p:spPr>
            <a:xfrm>
              <a:off x="2112" y="0"/>
              <a:ext cx="3600" cy="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cxnSp>
          <p:nvCxnSpPr>
            <p:cNvPr id="189" name="Google Shape;189;p16"/>
            <p:cNvCxnSpPr/>
            <p:nvPr/>
          </p:nvCxnSpPr>
          <p:spPr>
            <a:xfrm>
              <a:off x="5568" y="0"/>
              <a:ext cx="0" cy="1500"/>
            </a:xfrm>
            <a:prstGeom prst="straightConnector1">
              <a:avLst/>
            </a:prstGeom>
            <a:noFill/>
            <a:ln w="9525" cap="flat" cmpd="sng">
              <a:solidFill>
                <a:schemeClr val="hlink"/>
              </a:solidFill>
              <a:prstDash val="solid"/>
              <a:miter lim="800000"/>
              <a:headEnd type="none" w="med" len="med"/>
              <a:tailEnd type="none" w="med" len="med"/>
            </a:ln>
          </p:spPr>
        </p:cxnSp>
        <p:grpSp>
          <p:nvGrpSpPr>
            <p:cNvPr id="190" name="Google Shape;190;p16"/>
            <p:cNvGrpSpPr/>
            <p:nvPr/>
          </p:nvGrpSpPr>
          <p:grpSpPr>
            <a:xfrm>
              <a:off x="316" y="892"/>
              <a:ext cx="1069" cy="1529"/>
              <a:chOff x="204" y="916"/>
              <a:chExt cx="2100" cy="3004"/>
            </a:xfrm>
          </p:grpSpPr>
          <p:cxnSp>
            <p:nvCxnSpPr>
              <p:cNvPr id="191" name="Google Shape;191;p16"/>
              <p:cNvCxnSpPr/>
              <p:nvPr/>
            </p:nvCxnSpPr>
            <p:spPr>
              <a:xfrm rot="10800000">
                <a:off x="204" y="1038"/>
                <a:ext cx="21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16"/>
              <p:cNvCxnSpPr/>
              <p:nvPr/>
            </p:nvCxnSpPr>
            <p:spPr>
              <a:xfrm>
                <a:off x="336" y="920"/>
                <a:ext cx="0" cy="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93" name="Google Shape;193;p16"/>
              <p:cNvSpPr/>
              <p:nvPr/>
            </p:nvSpPr>
            <p:spPr>
              <a:xfrm flipH="1">
                <a:off x="240" y="916"/>
                <a:ext cx="216" cy="216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94" name="Google Shape;194;p1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5" name="Google Shape;195;p1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052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528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73380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111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96" name="Google Shape;196;p16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7" name="Google Shape;197;p16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8" name="Google Shape;198;p16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3"/>
          <p:cNvSpPr txBox="1">
            <a:spLocks noGrp="1"/>
          </p:cNvSpPr>
          <p:nvPr>
            <p:ph type="ctrTitle"/>
          </p:nvPr>
        </p:nvSpPr>
        <p:spPr>
          <a:xfrm>
            <a:off x="1193275" y="14310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Chapter </a:t>
            </a:r>
            <a:r>
              <a:rPr lang="en-GB" sz="3600"/>
              <a:t>3</a:t>
            </a:r>
            <a: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b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600"/>
              <a:t>Pattern Discovery in Data Mining</a:t>
            </a:r>
            <a:endParaRPr sz="3600"/>
          </a:p>
        </p:txBody>
      </p:sp>
      <p:pic>
        <p:nvPicPr>
          <p:cNvPr id="241" name="Google Shape;241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The Apriori Algorithm</a:t>
            </a:r>
            <a:endParaRPr sz="3600"/>
          </a:p>
        </p:txBody>
      </p:sp>
      <p:sp>
        <p:nvSpPr>
          <p:cNvPr id="247" name="Google Shape;247;p2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Overview of the Apriori algorithm for mining frequent itemsets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How the algorithm works (generating candidate itemsets, pruning, etc.)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Strengths and weaknesses of the Apriori algorithm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48" name="Google Shape;248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</a:t>
            </a:fld>
            <a:endParaRPr/>
          </a:p>
        </p:txBody>
      </p:sp>
      <p:sp>
        <p:nvSpPr>
          <p:cNvPr id="250" name="Google Shape;250;p24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5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The Apriori Algorithm</a:t>
            </a:r>
            <a:endParaRPr sz="3600"/>
          </a:p>
        </p:txBody>
      </p:sp>
      <p:sp>
        <p:nvSpPr>
          <p:cNvPr id="256" name="Google Shape;256;p25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The Apriori algorithm is a classic algorithm used for mining frequent itemsets.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It is based on the observation that if an itemset is frequent, then all of its subsets must also be frequent.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The algorithm aims to find all frequent itemsets in a transactional dataset.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57" name="Google Shape;257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</a:t>
            </a:fld>
            <a:endParaRPr/>
          </a:p>
        </p:txBody>
      </p:sp>
      <p:sp>
        <p:nvSpPr>
          <p:cNvPr id="259" name="Google Shape;259;p25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Overview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The Apriori Algorithm</a:t>
            </a:r>
            <a:endParaRPr sz="3600"/>
          </a:p>
        </p:txBody>
      </p:sp>
      <p:sp>
        <p:nvSpPr>
          <p:cNvPr id="265" name="Google Shape;265;p2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Step 1: Generating Candidate Itemsets</a:t>
            </a:r>
            <a:endParaRPr sz="1800">
              <a:solidFill>
                <a:srgbClr val="1F1F1F"/>
              </a:solidFill>
            </a:endParaRPr>
          </a:p>
          <a:p>
            <a:pPr marL="742950" lvl="1" indent="-2933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○"/>
            </a:pPr>
            <a:r>
              <a:rPr lang="en-GB" sz="1800">
                <a:solidFill>
                  <a:srgbClr val="1F1F1F"/>
                </a:solidFill>
              </a:rPr>
              <a:t>Start with frequent itemsets of size 1 (individual items) and generate candidate itemsets of larger sizes by joining frequent itemsets.</a:t>
            </a:r>
            <a:endParaRPr sz="1800">
              <a:solidFill>
                <a:srgbClr val="1F1F1F"/>
              </a:solidFill>
            </a:endParaRPr>
          </a:p>
          <a:p>
            <a:pPr marL="742950" lvl="1" indent="-2933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○"/>
            </a:pPr>
            <a:r>
              <a:rPr lang="en-GB" sz="1800">
                <a:solidFill>
                  <a:srgbClr val="1F1F1F"/>
                </a:solidFill>
              </a:rPr>
              <a:t>Pruning is applied by eliminating candidate itemsets that have infrequent subsets.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Step 2: Scanning the Dataset</a:t>
            </a:r>
            <a:endParaRPr sz="1800">
              <a:solidFill>
                <a:srgbClr val="1F1F1F"/>
              </a:solidFill>
            </a:endParaRPr>
          </a:p>
          <a:p>
            <a:pPr marL="742950" lvl="1" indent="-2933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○"/>
            </a:pPr>
            <a:r>
              <a:rPr lang="en-GB" sz="1800">
                <a:solidFill>
                  <a:srgbClr val="1F1F1F"/>
                </a:solidFill>
              </a:rPr>
              <a:t>Scan the dataset to count the support of each candidate itemset.</a:t>
            </a:r>
            <a:endParaRPr sz="1800">
              <a:solidFill>
                <a:srgbClr val="1F1F1F"/>
              </a:solidFill>
            </a:endParaRPr>
          </a:p>
          <a:p>
            <a:pPr marL="742950" lvl="1" indent="-2933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○"/>
            </a:pPr>
            <a:r>
              <a:rPr lang="en-GB" sz="1800">
                <a:solidFill>
                  <a:srgbClr val="1F1F1F"/>
                </a:solidFill>
              </a:rPr>
              <a:t>Support is the number of transactions containing the itemset divided by the total number of transactions.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66" name="Google Shape;266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4</a:t>
            </a:fld>
            <a:endParaRPr/>
          </a:p>
        </p:txBody>
      </p:sp>
      <p:sp>
        <p:nvSpPr>
          <p:cNvPr id="268" name="Google Shape;268;p26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How the Apriori Algorithm Works - 1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The Apriori Algorithm</a:t>
            </a:r>
            <a:endParaRPr sz="3600"/>
          </a:p>
        </p:txBody>
      </p:sp>
      <p:sp>
        <p:nvSpPr>
          <p:cNvPr id="274" name="Google Shape;274;p27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Step 3: Pruning Infrequent Itemsets</a:t>
            </a:r>
            <a:endParaRPr sz="1800">
              <a:solidFill>
                <a:srgbClr val="1F1F1F"/>
              </a:solidFill>
            </a:endParaRPr>
          </a:p>
          <a:p>
            <a:pPr marL="742950" lvl="1" indent="-2933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○"/>
            </a:pPr>
            <a:r>
              <a:rPr lang="en-GB" sz="1800">
                <a:solidFill>
                  <a:srgbClr val="1F1F1F"/>
                </a:solidFill>
              </a:rPr>
              <a:t>Remove candidate itemsets with support below a specified threshold, as they cannot be frequent.</a:t>
            </a:r>
            <a:endParaRPr sz="1800">
              <a:solidFill>
                <a:srgbClr val="1F1F1F"/>
              </a:solidFill>
            </a:endParaRPr>
          </a:p>
          <a:p>
            <a:pPr marL="742950" lvl="1" indent="-2933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○"/>
            </a:pPr>
            <a:r>
              <a:rPr lang="en-GB" sz="1800">
                <a:solidFill>
                  <a:srgbClr val="1F1F1F"/>
                </a:solidFill>
              </a:rPr>
              <a:t>Pruning is performed by applying the downward closure property, which states that any subset of an infrequent itemset is also infrequent.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Step 4: Iterating Until No More Frequent Itemsets</a:t>
            </a:r>
            <a:endParaRPr sz="1800">
              <a:solidFill>
                <a:srgbClr val="1F1F1F"/>
              </a:solidFill>
            </a:endParaRPr>
          </a:p>
          <a:p>
            <a:pPr marL="742950" lvl="1" indent="-2933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○"/>
            </a:pPr>
            <a:r>
              <a:rPr lang="en-GB" sz="1800">
                <a:solidFill>
                  <a:srgbClr val="1F1F1F"/>
                </a:solidFill>
              </a:rPr>
              <a:t>Repeat Steps 1-3 to generate candidate itemsets of larger sizes and prune infrequent itemsets until no more frequent itemsets are found.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75" name="Google Shape;275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5</a:t>
            </a:fld>
            <a:endParaRPr/>
          </a:p>
        </p:txBody>
      </p:sp>
      <p:sp>
        <p:nvSpPr>
          <p:cNvPr id="277" name="Google Shape;277;p27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How the Apriori Algorithm Works - 2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The Apriori Algorithm</a:t>
            </a:r>
            <a:endParaRPr sz="3600"/>
          </a:p>
        </p:txBody>
      </p:sp>
      <p:pic>
        <p:nvPicPr>
          <p:cNvPr id="283" name="Google Shape;283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6</a:t>
            </a:fld>
            <a:endParaRPr/>
          </a:p>
        </p:txBody>
      </p:sp>
      <p:sp>
        <p:nvSpPr>
          <p:cNvPr id="285" name="Google Shape;285;p28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 of Apriori Algorithm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86" name="Google Shape;28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80400" y="1646575"/>
            <a:ext cx="6783199" cy="3131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29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The Apriori Algorithm</a:t>
            </a:r>
            <a:endParaRPr sz="3600"/>
          </a:p>
        </p:txBody>
      </p:sp>
      <p:sp>
        <p:nvSpPr>
          <p:cNvPr id="292" name="Google Shape;292;p29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Simplicity: The algorithm is straightforward and easy to understand and implement.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Scalability: It can handle large datasets efficiently by utilizing the downward closure property.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Completeness: The Apriori algorithm guarantees to find all frequent itemsets.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93" name="Google Shape;293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7</a:t>
            </a:fld>
            <a:endParaRPr/>
          </a:p>
        </p:txBody>
      </p:sp>
      <p:sp>
        <p:nvSpPr>
          <p:cNvPr id="295" name="Google Shape;295;p29"/>
          <p:cNvSpPr txBox="1"/>
          <p:nvPr/>
        </p:nvSpPr>
        <p:spPr>
          <a:xfrm>
            <a:off x="762000" y="1184875"/>
            <a:ext cx="4197600" cy="7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Strengths of the Apriori Algorithm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The Apriori Algorithm</a:t>
            </a:r>
            <a:endParaRPr sz="3600"/>
          </a:p>
        </p:txBody>
      </p:sp>
      <p:sp>
        <p:nvSpPr>
          <p:cNvPr id="301" name="Google Shape;301;p30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Computational Cost: Generating a large number of candidate itemsets and scanning the dataset multiple times can be computationally expensive.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Memory Usage: The algorithm requires substantial memory to store candidate itemsets and support counts.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Inefficiency with Sparse Data: In datasets with low support thresholds or sparse itemsets, the algorithm may perform inefficiently.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02" name="Google Shape;302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8</a:t>
            </a:fld>
            <a:endParaRPr/>
          </a:p>
        </p:txBody>
      </p:sp>
      <p:sp>
        <p:nvSpPr>
          <p:cNvPr id="304" name="Google Shape;304;p30"/>
          <p:cNvSpPr txBox="1"/>
          <p:nvPr/>
        </p:nvSpPr>
        <p:spPr>
          <a:xfrm>
            <a:off x="762000" y="1184875"/>
            <a:ext cx="4197600" cy="7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Weaknesses  of the Apriori Algorithm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1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The Apriori Algorithm</a:t>
            </a:r>
            <a:endParaRPr sz="3600"/>
          </a:p>
        </p:txBody>
      </p:sp>
      <p:sp>
        <p:nvSpPr>
          <p:cNvPr id="310" name="Google Shape;310;p31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Hash-based Itemset Counting: Utilizing hash functions to reduce the number of passes over the dataset and expedite support counting.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Transaction Reduction: Reducing memory requirements and database size by removing infrequent items or transactions.</a:t>
            </a:r>
            <a:endParaRPr sz="1800">
              <a:solidFill>
                <a:srgbClr val="1F1F1F"/>
              </a:solidFill>
            </a:endParaRPr>
          </a:p>
          <a:p>
            <a:pPr marL="342900" lvl="0" indent="-35052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>
                <a:solidFill>
                  <a:srgbClr val="1F1F1F"/>
                </a:solidFill>
              </a:rPr>
              <a:t>Effective Pruning Strategies: Implementing advanced pruning techniques to avoid unnecessary candidate generation and reduce computational overhead.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11" name="Google Shape;311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3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9</a:t>
            </a:fld>
            <a:endParaRPr/>
          </a:p>
        </p:txBody>
      </p:sp>
      <p:sp>
        <p:nvSpPr>
          <p:cNvPr id="313" name="Google Shape;313;p31"/>
          <p:cNvSpPr txBox="1"/>
          <p:nvPr/>
        </p:nvSpPr>
        <p:spPr>
          <a:xfrm>
            <a:off x="762000" y="1184875"/>
            <a:ext cx="6482400" cy="11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Optimization Techniques for the Apriori Algorithm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2"/>
          <p:cNvSpPr txBox="1">
            <a:spLocks noGrp="1"/>
          </p:cNvSpPr>
          <p:nvPr>
            <p:ph type="ctrTitle"/>
          </p:nvPr>
        </p:nvSpPr>
        <p:spPr>
          <a:xfrm>
            <a:off x="1193275" y="14310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Chapter </a:t>
            </a:r>
            <a:r>
              <a:rPr lang="en-GB" sz="3600"/>
              <a:t>3</a:t>
            </a:r>
            <a: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b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600"/>
              <a:t>Pattern Discovery in Data Mining</a:t>
            </a:r>
            <a:endParaRPr sz="3600"/>
          </a:p>
        </p:txBody>
      </p:sp>
      <p:pic>
        <p:nvPicPr>
          <p:cNvPr id="320" name="Google Shape;320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Extension or Improvements of Apriori</a:t>
            </a:r>
            <a:endParaRPr sz="3600"/>
          </a:p>
        </p:txBody>
      </p:sp>
      <p:sp>
        <p:nvSpPr>
          <p:cNvPr id="326" name="Google Shape;326;p33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Overview of extension techniques to improve the efficiency of the Apriori algorithm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Techniques like hashing, transaction reduction, and vertical format representation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Benefits and trade-offs of these extensions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27" name="Google Shape;327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11</a:t>
            </a:fld>
            <a:endParaRPr/>
          </a:p>
        </p:txBody>
      </p:sp>
      <p:sp>
        <p:nvSpPr>
          <p:cNvPr id="329" name="Google Shape;329;p33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Extension or Improvements of Apriori</a:t>
            </a:r>
            <a:endParaRPr sz="3600"/>
          </a:p>
        </p:txBody>
      </p:sp>
      <p:sp>
        <p:nvSpPr>
          <p:cNvPr id="335" name="Google Shape;335;p3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Apriori algorithm forms the basis for several extensions and improvements to enhance its efficiency and scalability.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These techniques aim to reduce the computational complexity and memory requirements of the original algorithm.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36" name="Google Shape;336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3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12</a:t>
            </a:fld>
            <a:endParaRPr/>
          </a:p>
        </p:txBody>
      </p:sp>
      <p:sp>
        <p:nvSpPr>
          <p:cNvPr id="338" name="Google Shape;338;p34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Overview of Extension or Improvements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5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Extension or Improvements of Apriori</a:t>
            </a:r>
            <a:endParaRPr sz="3600"/>
          </a:p>
        </p:txBody>
      </p:sp>
      <p:sp>
        <p:nvSpPr>
          <p:cNvPr id="344" name="Google Shape;344;p35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Hash-Based Itemset Counting: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Utilizes hash functions to efficiently count the support of candidate itemsets.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Reduces the number of passes over the dataset and speeds up the counting process.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Examples include the Hash-Tree and the Trie-based methods.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8862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Bitmap Techniques: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Represent the presence or absence of items in transactions using bitmaps.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Enable faster itemset support counting and reduce memory usage.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Examples include the FP-Tree and the Eclat algorithm.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45" name="Google Shape;345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13</a:t>
            </a:fld>
            <a:endParaRPr/>
          </a:p>
        </p:txBody>
      </p:sp>
      <p:sp>
        <p:nvSpPr>
          <p:cNvPr id="347" name="Google Shape;347;p35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Hash-Based and Bitmap Techniques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Extension or Improvements of Apriori</a:t>
            </a:r>
            <a:endParaRPr sz="3600"/>
          </a:p>
        </p:txBody>
      </p:sp>
      <p:sp>
        <p:nvSpPr>
          <p:cNvPr id="353" name="Google Shape;353;p3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Transaction Reduction: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Removes infrequent items or transactions from the dataset.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Reduces the memory requirements and database size, improving the algorithm's efficiency.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Techniques like Transaction Reduction with Gap Elimination (TRG) and Transaction ID List Intersection (TID-intersection) are commonly used.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8862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Sampling: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Selects a representative subset of the original dataset for mining.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Enables faster processing by operating on a smaller dataset.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Techniques include Random Sampling and Stratified Sampling.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54" name="Google Shape;354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3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14</a:t>
            </a:fld>
            <a:endParaRPr/>
          </a:p>
        </p:txBody>
      </p:sp>
      <p:sp>
        <p:nvSpPr>
          <p:cNvPr id="356" name="Google Shape;356;p36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Transaction Reduction and Sampling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Extension or Improvements of Apriori</a:t>
            </a:r>
            <a:endParaRPr sz="3600"/>
          </a:p>
        </p:txBody>
      </p:sp>
      <p:sp>
        <p:nvSpPr>
          <p:cNvPr id="362" name="Google Shape;362;p37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Dynamic Itemset Counting: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Adapts the support counting process dynamically during the mining process.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Avoids redundant scanning of the entire dataset for each iteration.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Examples include the Dynamic Counting Principle and Dynamic Hashing.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8862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Dynamic Pruning: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Prunes infrequent itemsets and reduces unnecessary candidate generation.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Improves efficiency by eliminating unpromising itemsets early.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Techniques like Dynamic Itemset Counting Pruning (DICP) and Dynamic Rule Pruning (DRP) are used.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63" name="Google Shape;363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3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15</a:t>
            </a:fld>
            <a:endParaRPr/>
          </a:p>
        </p:txBody>
      </p:sp>
      <p:sp>
        <p:nvSpPr>
          <p:cNvPr id="365" name="Google Shape;365;p37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Dynamic Itemset Counting and Pruning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Extension or Improvements of Apriori</a:t>
            </a:r>
            <a:endParaRPr sz="3600"/>
          </a:p>
        </p:txBody>
      </p:sp>
      <p:sp>
        <p:nvSpPr>
          <p:cNvPr id="371" name="Google Shape;371;p38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Combine the strengths of multiple algorithms to improve performance.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Examples include the Apriori-Hybrid algorithm, which combines the Apriori algorithm with other techniques like FP-Growth or vertical format.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72" name="Google Shape;372;p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16</a:t>
            </a:fld>
            <a:endParaRPr/>
          </a:p>
        </p:txBody>
      </p:sp>
      <p:sp>
        <p:nvSpPr>
          <p:cNvPr id="374" name="Google Shape;374;p38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Hybrid Approaches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9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Extension or Improvements of Apriori</a:t>
            </a:r>
            <a:endParaRPr sz="3600"/>
          </a:p>
        </p:txBody>
      </p:sp>
      <p:sp>
        <p:nvSpPr>
          <p:cNvPr id="380" name="Google Shape;380;p39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Benefits of the extensions and improvements: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Reduced computational complexity and improved efficiency.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Lower memory requirements and better scalability.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Faster mining on large-scale datasets.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8862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Trade-offs to consider: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Increased implementation complexity.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Algorithm-specific parameters and tuning requirements.</a:t>
            </a:r>
            <a:endParaRPr sz="1800">
              <a:solidFill>
                <a:srgbClr val="1F1F1F"/>
              </a:solidFill>
            </a:endParaRPr>
          </a:p>
          <a:p>
            <a:pPr marL="742950" marR="0" lvl="1" indent="-331469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Potential trade-offs between memory usage, runtime, and the accuracy of results.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81" name="Google Shape;381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3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17</a:t>
            </a:fld>
            <a:endParaRPr/>
          </a:p>
        </p:txBody>
      </p:sp>
      <p:sp>
        <p:nvSpPr>
          <p:cNvPr id="383" name="Google Shape;383;p39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Benefits and Trade-offs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Summary</a:t>
            </a:r>
            <a:endParaRPr sz="3600"/>
          </a:p>
        </p:txBody>
      </p:sp>
      <p:sp>
        <p:nvSpPr>
          <p:cNvPr id="389" name="Google Shape;389;p40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88620" algn="just" rtl="0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Apriori: Mines frequent itemsets.</a:t>
            </a:r>
            <a:endParaRPr sz="1800">
              <a:solidFill>
                <a:srgbClr val="000000"/>
              </a:solidFill>
            </a:endParaRPr>
          </a:p>
          <a:p>
            <a:pPr marL="342900" lvl="0" indent="-388620" algn="just" rtl="0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Steps: Generate candidates, prune, repeat.</a:t>
            </a:r>
            <a:endParaRPr sz="1800">
              <a:solidFill>
                <a:srgbClr val="000000"/>
              </a:solidFill>
            </a:endParaRPr>
          </a:p>
          <a:p>
            <a:pPr marL="342900" lvl="0" indent="-388620" algn="just" rtl="0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Strengths: Simplicity, effective.</a:t>
            </a:r>
            <a:endParaRPr sz="1800">
              <a:solidFill>
                <a:srgbClr val="000000"/>
              </a:solidFill>
            </a:endParaRPr>
          </a:p>
          <a:p>
            <a:pPr marL="342900" lvl="0" indent="-388620" algn="just" rtl="0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Weaknesses: Inefficient for large datasets.</a:t>
            </a:r>
            <a:endParaRPr sz="1800">
              <a:solidFill>
                <a:srgbClr val="000000"/>
              </a:solidFill>
            </a:endParaRPr>
          </a:p>
        </p:txBody>
      </p:sp>
      <p:pic>
        <p:nvPicPr>
          <p:cNvPr id="390" name="Google Shape;390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4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18</a:t>
            </a:fld>
            <a:endParaRPr/>
          </a:p>
        </p:txBody>
      </p:sp>
      <p:sp>
        <p:nvSpPr>
          <p:cNvPr id="392" name="Google Shape;392;p40"/>
          <p:cNvSpPr txBox="1"/>
          <p:nvPr/>
        </p:nvSpPr>
        <p:spPr>
          <a:xfrm>
            <a:off x="762000" y="1184875"/>
            <a:ext cx="7953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3" name="Google Shape;393;p40"/>
          <p:cNvSpPr txBox="1"/>
          <p:nvPr/>
        </p:nvSpPr>
        <p:spPr>
          <a:xfrm>
            <a:off x="762000" y="1184875"/>
            <a:ext cx="8239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Apriori Algorithm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945</Words>
  <Application>Microsoft Macintosh PowerPoint</Application>
  <PresentationFormat>On-screen Show (16:9)</PresentationFormat>
  <Paragraphs>121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Tahoma</vt:lpstr>
      <vt:lpstr>Noto Sans Symbols</vt:lpstr>
      <vt:lpstr>Times New Roman</vt:lpstr>
      <vt:lpstr>Roboto</vt:lpstr>
      <vt:lpstr>Simple Light</vt:lpstr>
      <vt:lpstr>1_Blueprint</vt:lpstr>
      <vt:lpstr>Blueprint</vt:lpstr>
      <vt:lpstr>Chapter 3:  Pattern Discovery in Data Mining</vt:lpstr>
      <vt:lpstr>The Apriori Algorithm</vt:lpstr>
      <vt:lpstr>The Apriori Algorithm</vt:lpstr>
      <vt:lpstr>The Apriori Algorithm</vt:lpstr>
      <vt:lpstr>The Apriori Algorithm</vt:lpstr>
      <vt:lpstr>The Apriori Algorithm</vt:lpstr>
      <vt:lpstr>The Apriori Algorithm</vt:lpstr>
      <vt:lpstr>The Apriori Algorithm</vt:lpstr>
      <vt:lpstr>The Apriori Algorithm</vt:lpstr>
      <vt:lpstr>Chapter 3:  Pattern Discovery in Data Mining</vt:lpstr>
      <vt:lpstr>Extension or Improvements of Apriori</vt:lpstr>
      <vt:lpstr>Extension or Improvements of Apriori</vt:lpstr>
      <vt:lpstr>Extension or Improvements of Apriori</vt:lpstr>
      <vt:lpstr>Extension or Improvements of Apriori</vt:lpstr>
      <vt:lpstr>Extension or Improvements of Apriori</vt:lpstr>
      <vt:lpstr>Extension or Improvements of Apriori</vt:lpstr>
      <vt:lpstr>Extension or Improvements of Apriori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. Daziel.vad</cp:lastModifiedBy>
  <cp:revision>1</cp:revision>
  <dcterms:modified xsi:type="dcterms:W3CDTF">2026-01-16T07:08:26Z</dcterms:modified>
</cp:coreProperties>
</file>