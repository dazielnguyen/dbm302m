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  <p:sldMasterId id="2147483668" r:id="rId2"/>
    <p:sldMasterId id="2147483669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 type="screen16x9"/>
  <p:notesSz cx="6858000" cy="9144000"/>
  <p:embeddedFontLst>
    <p:embeddedFont>
      <p:font typeface="Noto Sans Symbols" pitchFamily="2" charset="0"/>
      <p:regular r:id="rId23"/>
      <p:bold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  <p:embeddedFont>
      <p:font typeface="Tahoma" panose="020B0604030504040204" pitchFamily="34" charset="0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5"/>
    <p:restoredTop sz="94616"/>
  </p:normalViewPr>
  <p:slideViewPr>
    <p:cSldViewPr snapToGrid="0">
      <p:cViewPr varScale="1">
        <p:scale>
          <a:sx n="140" d="100"/>
          <a:sy n="140" d="100"/>
        </p:scale>
        <p:origin x="208" y="5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582b55a4a5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2582b55a4a5_0_41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582b55a4a5_0_62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2582b55a4a5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2f09eb07a2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22f09eb07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f09eb07a2_0_1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22f09eb07a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f09eb07a2_0_21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2f09eb07a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399d6d8065_1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2399d6d806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f09eb07a2_0_3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22f09eb07a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2f09eb07a2_0_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22f09eb07a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7388"/>
            <a:ext cx="6091238" cy="34274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2f09eb07a2_0_49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22f09eb07a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3ba4f3ae45_1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23ba4f3ae45_1_24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23ba4f3ae45_1_240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100" tIns="45550" rIns="91100" bIns="455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GB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3ba4f3ae45_1_24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23ba4f3ae45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3ba4f3ae45_1_25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23ba4f3ae45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3ba4f3ae45_1_262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23ba4f3ae45_1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3ba4f3ae45_1_27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3ba4f3ae45_1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3ba4f3ae45_1_278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g23ba4f3ae45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3ba4f3ae45_1_286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23ba4f3ae45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3ba4f3ae45_1_294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23ba4f3ae45_1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4c69dee0bd_0_0:notes"/>
          <p:cNvSpPr txBox="1">
            <a:spLocks noGrp="1"/>
          </p:cNvSpPr>
          <p:nvPr>
            <p:ph type="body" idx="1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24c69dee0b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9100" y="687314"/>
            <a:ext cx="6001500" cy="3427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5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>
            <a:spLocks noGrp="1"/>
          </p:cNvSpPr>
          <p:nvPr>
            <p:ph type="chart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10" name="Google Shape;210;p18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8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8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 rtl="0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 rtl="0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 rtl="0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>
            <a:spLocks noGrp="1"/>
          </p:cNvSpPr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2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 rtl="0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 rtl="0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 rtl="0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4" name="Google Shape;234;p22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rot="-5400000" flipH="1">
                <a:off x="425" y="860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4" name="Google Shape;124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88" name="Google Shape;188;p16" descr="60%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5" name="Google Shape;195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dt" idx="10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ftr" idx="11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ldNum" idx="12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41" name="Google Shape;24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id="247" name="Google Shape;247;p2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the Apriori algorithm for mining frequent itemsets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the algorithm works (generating candidate itemsets, pruning, etc.)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Strengths and weaknesses of the Apriori algorithm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id="256" name="Google Shape;256;p2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 </a:t>
            </a:r>
            <a:r>
              <a:rPr lang="en-GB" sz="1800" dirty="0" err="1">
                <a:solidFill>
                  <a:srgbClr val="1F1F1F"/>
                </a:solidFill>
              </a:rPr>
              <a:t>Apriori</a:t>
            </a:r>
            <a:r>
              <a:rPr lang="en-GB" sz="1800" dirty="0">
                <a:solidFill>
                  <a:srgbClr val="1F1F1F"/>
                </a:solidFill>
              </a:rPr>
              <a:t> algorithm is a classic algorithm used for mining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It is based on the observation that if an itemset is frequent, then all of its subsets must also be frequent.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The algorithm aims to find all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in a transactional dataset.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57" name="Google Shape;25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id="265" name="Google Shape;265;p2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1: Generating Candidate Itemsets</a:t>
            </a:r>
            <a:endParaRPr sz="180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Start with frequent itemsets of size 1 (individual items) and generate candidate itemsets of larger sizes by joining frequent itemsets.</a:t>
            </a:r>
            <a:endParaRPr sz="180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Pruning is applied by eliminating candidate itemsets that have infrequent subsets.</a:t>
            </a:r>
            <a:endParaRPr sz="180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2: Scanning the Dataset</a:t>
            </a:r>
            <a:endParaRPr sz="180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Scan the dataset to count the support of each candidate itemset.</a:t>
            </a:r>
            <a:endParaRPr sz="180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Support is the number of transactions containing the itemset divided by the total number of transactions.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6" name="Google Shape;26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 Apriori Algorithm Works - 1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id="274" name="Google Shape;274;p2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3: Pruning Infrequent Itemsets</a:t>
            </a:r>
            <a:endParaRPr sz="180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Remove candidate itemsets with support below a specified threshold, as they cannot be frequent.</a:t>
            </a:r>
            <a:endParaRPr sz="180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Pruning is performed by applying the downward closure property, which states that any subset of an infrequent itemset is also infrequent.</a:t>
            </a:r>
            <a:endParaRPr sz="180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Step 4: Iterating Until No More Frequent Itemsets</a:t>
            </a:r>
            <a:endParaRPr sz="1800">
              <a:solidFill>
                <a:srgbClr val="1F1F1F"/>
              </a:solidFill>
            </a:endParaRPr>
          </a:p>
          <a:p>
            <a:pPr marL="742950" lvl="1" indent="-29336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○"/>
            </a:pPr>
            <a:r>
              <a:rPr lang="en-GB" sz="1800">
                <a:solidFill>
                  <a:srgbClr val="1F1F1F"/>
                </a:solidFill>
              </a:rPr>
              <a:t>Repeat Steps 1-3 to generate candidate itemsets of larger sizes and prune infrequent itemsets until no more frequent itemsets are found.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5" name="Google Shape;2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 Apriori Algorithm Works - 2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pic>
        <p:nvPicPr>
          <p:cNvPr id="283" name="Google Shape;283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of Apriori Algorithm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0400" y="1646575"/>
            <a:ext cx="6783199" cy="31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id="292" name="Google Shape;292;p2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Simplicity: The algorithm is straightforward and easy to understand and implement.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Scalability: It can handle large datasets efficiently by utilizing the downward closure property.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Completeness: The </a:t>
            </a:r>
            <a:r>
              <a:rPr lang="en-GB" sz="1800" dirty="0" err="1">
                <a:solidFill>
                  <a:srgbClr val="1F1F1F"/>
                </a:solidFill>
              </a:rPr>
              <a:t>Apriori</a:t>
            </a:r>
            <a:r>
              <a:rPr lang="en-GB" sz="1800" dirty="0">
                <a:solidFill>
                  <a:srgbClr val="1F1F1F"/>
                </a:solidFill>
              </a:rPr>
              <a:t> algorithm guarantees to find all frequent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293" name="Google Shape;29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762000" y="1184875"/>
            <a:ext cx="4197600" cy="7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Strengths of the </a:t>
            </a:r>
            <a:r>
              <a:rPr lang="en-GB" sz="1800" b="1" i="1" dirty="0" err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Apriori</a:t>
            </a:r>
            <a:r>
              <a:rPr lang="en-GB" sz="1800" b="1" i="1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</a:t>
            </a:r>
            <a:endParaRPr sz="1200" dirty="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id="301" name="Google Shape;301;p3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50520">
              <a:lnSpc>
                <a:spcPct val="115000"/>
              </a:lnSpc>
              <a:spcBef>
                <a:spcPts val="1500"/>
              </a:spcBef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b="1" i="1" dirty="0">
                <a:solidFill>
                  <a:srgbClr val="0B5394"/>
                </a:solidFill>
              </a:rPr>
              <a:t>Weaknesses  of the </a:t>
            </a:r>
            <a:r>
              <a:rPr lang="en-GB" sz="1800" b="1" i="1" dirty="0" err="1">
                <a:solidFill>
                  <a:srgbClr val="0B5394"/>
                </a:solidFill>
              </a:rPr>
              <a:t>Apriori</a:t>
            </a:r>
            <a:r>
              <a:rPr lang="en-GB" sz="1800" b="1" i="1" dirty="0">
                <a:solidFill>
                  <a:srgbClr val="0B5394"/>
                </a:solidFill>
              </a:rPr>
              <a:t> Algorithm</a:t>
            </a:r>
            <a:endParaRPr lang="en-GB" sz="1800" dirty="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Computational Cost: Generating a large number of candidate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and scanning the dataset multiple times can be computationally expensive.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Memory Usage: The algorithm requires substantial memory to store candidate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 and support counts.</a:t>
            </a:r>
            <a:endParaRPr sz="1800" dirty="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 dirty="0">
                <a:solidFill>
                  <a:srgbClr val="1F1F1F"/>
                </a:solidFill>
              </a:rPr>
              <a:t>Inefficiency with Sparse Data: In datasets with low support thresholds or sparse </a:t>
            </a:r>
            <a:r>
              <a:rPr lang="en-GB" sz="1800" dirty="0" err="1">
                <a:solidFill>
                  <a:srgbClr val="1F1F1F"/>
                </a:solidFill>
              </a:rPr>
              <a:t>itemsets</a:t>
            </a:r>
            <a:r>
              <a:rPr lang="en-GB" sz="1800" dirty="0">
                <a:solidFill>
                  <a:srgbClr val="1F1F1F"/>
                </a:solidFill>
              </a:rPr>
              <a:t>, the algorithm may perform inefficiently.</a:t>
            </a:r>
            <a:endParaRPr sz="1800" dirty="0">
              <a:solidFill>
                <a:srgbClr val="1F1F1F"/>
              </a:solidFill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The Apriori Algorithm</a:t>
            </a:r>
            <a:endParaRPr sz="3600"/>
          </a:p>
        </p:txBody>
      </p:sp>
      <p:sp>
        <p:nvSpPr>
          <p:cNvPr id="310" name="Google Shape;310;p3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5052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Hash-based Itemset Counting: Utilizing hash functions to reduce the number of passes over the dataset and expedite support counting.</a:t>
            </a:r>
            <a:endParaRPr sz="180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Transaction Reduction: Reducing memory requirements and database size by removing infrequent items or transactions.</a:t>
            </a:r>
            <a:endParaRPr sz="1800">
              <a:solidFill>
                <a:srgbClr val="1F1F1F"/>
              </a:solidFill>
            </a:endParaRPr>
          </a:p>
          <a:p>
            <a:pPr marL="342900" lvl="0" indent="-3505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Effective Pruning Strategies: Implementing advanced pruning techniques to avoid unnecessary candidate generation and reduce computational overhead.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1" name="Google Shape;31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313" name="Google Shape;313;p31"/>
          <p:cNvSpPr txBox="1"/>
          <p:nvPr/>
        </p:nvSpPr>
        <p:spPr>
          <a:xfrm>
            <a:off x="762000" y="1184875"/>
            <a:ext cx="64824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Optimization Techniques for the Apriori Algorithm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 txBox="1">
            <a:spLocks noGrp="1"/>
          </p:cNvSpPr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3600" b="0" i="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320" name="Google Shape;32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id="326" name="Google Shape;326;p3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extension techniques to improve the efficiency of the Apriori algorithm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Techniques like hashing, transaction reduction, and vertical format representation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Benefits and trade-offs of these extensions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329" name="Google Shape;329;p3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id="335" name="Google Shape;335;p3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Apriori algorithm forms the basis for several extensions and improvements to enhance its efficiency and scalability.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These techniques aim to reduce the computational complexity and memory requirements of the original algorithm.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6" name="Google Shape;33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Extension or Improvements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5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id="344" name="Google Shape;344;p3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Hash-Based Itemset Counting: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Utilizes hash functions to efficiently count the support of candidate itemsets.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Reduces the number of passes over the dataset and speeds up the counting process.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include the Hash-Tree and the Trie-based methods.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Bitmap Techniques: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Represent the presence or absence of items in transactions using bitmaps.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 faster itemset support counting and reduce memory usage.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include the FP-Tree and the Eclat algorithm.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5" name="Google Shape;34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47" name="Google Shape;347;p3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Hash-Based and Bitmap Techniques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id="353" name="Google Shape;353;p3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Transaction Reduction: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Removes infrequent items or transactions from the dataset.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Reduces the memory requirements and database size, improving the algorithm's efficiency.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like Transaction Reduction with Gap Elimination (TRG) and Transaction ID List Intersection (TID-intersection) are commonly used.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Sampling: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Selects a representative subset of the original dataset for mining.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Enables faster processing by operating on a smaller dataset.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include Random Sampling and Stratified Sampling.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4" name="Google Shape;35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56" name="Google Shape;356;p3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Reduction and Sampling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id="362" name="Google Shape;362;p3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Dynamic Itemset Counting: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Adapts the support counting process dynamically during the mining process.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Avoids redundant scanning of the entire dataset for each iteration.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include the Dynamic Counting Principle and Dynamic Hashing.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Dynamic Pruning: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Prunes infrequent itemsets and reduces unnecessary candidate generation.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Improves efficiency by eliminating unpromising itemsets early.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like Dynamic Itemset Counting Pruning (DICP) and Dynamic Rule Pruning (DRP) are used.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3" name="Google Shape;36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65" name="Google Shape;365;p3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Itemset Counting and Pruning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id="371" name="Google Shape;371;p3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Combine the strengths of multiple algorithms to improve performance.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Examples include the Apriori-Hybrid algorithm, which combines the Apriori algorithm with other techniques like FP-Growth or vertical format.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2" name="Google Shape;37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74" name="Google Shape;374;p3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Approaches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Extension or Improvements of Apriori</a:t>
            </a:r>
            <a:endParaRPr sz="3600"/>
          </a:p>
        </p:txBody>
      </p:sp>
      <p:sp>
        <p:nvSpPr>
          <p:cNvPr id="380" name="Google Shape;380;p3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7338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Benefits of the extensions and improvements: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Reduced computational complexity and improved efficiency.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Lower memory requirements and better scalability.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Faster mining on large-scale datasets.</a:t>
            </a:r>
            <a:endParaRPr sz="1800">
              <a:solidFill>
                <a:srgbClr val="1F1F1F"/>
              </a:solidFill>
            </a:endParaRPr>
          </a:p>
          <a:p>
            <a:pPr marL="342900" marR="0" lvl="0" indent="-38862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Trade-offs to consider: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Increased implementation complexity.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Algorithm-specific parameters and tuning requirements.</a:t>
            </a:r>
            <a:endParaRPr sz="1800">
              <a:solidFill>
                <a:srgbClr val="1F1F1F"/>
              </a:solidFill>
            </a:endParaRPr>
          </a:p>
          <a:p>
            <a:pPr marL="742950" marR="0" lvl="1" indent="-331469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Potential trade-offs between memory usage, runtime, and the accuracy of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1" name="Google Shape;38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83" name="Google Shape;383;p3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Trade-offs</a:t>
            </a: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id="389" name="Google Shape;389;p4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Apriori: Mines frequent itemsets.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Steps: Generate candidates, prune, repeat.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Strengths: Simplicity, effective.</a:t>
            </a:r>
            <a:endParaRPr sz="1800">
              <a:solidFill>
                <a:srgbClr val="000000"/>
              </a:solidFill>
            </a:endParaRPr>
          </a:p>
          <a:p>
            <a:pPr marL="342900" lvl="0" indent="-388620" algn="just" rtl="0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Weaknesses: Inefficient for large datasets.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GB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392" name="Google Shape;392;p40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endParaRPr sz="1800"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40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 b="1" i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Apriori Algorithm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1788</TotalTime>
  <Words>945</Words>
  <Application>Microsoft Macintosh PowerPoint</Application>
  <PresentationFormat>On-screen Show (16:9)</PresentationFormat>
  <Paragraphs>121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Tahoma</vt:lpstr>
      <vt:lpstr>Noto Sans Symbols</vt:lpstr>
      <vt:lpstr>Roboto</vt:lpstr>
      <vt:lpstr>Times New Roman</vt:lpstr>
      <vt:lpstr>Simple Light</vt:lpstr>
      <vt:lpstr>1_Blueprint</vt:lpstr>
      <vt:lpstr>Blueprint</vt:lpstr>
      <vt:lpstr>Chapter 3:  Pattern Discovery in Data Mining</vt:lpstr>
      <vt:lpstr>The Apriori Algorithm</vt:lpstr>
      <vt:lpstr>The Apriori Algorithm</vt:lpstr>
      <vt:lpstr>The Apriori Algorithm</vt:lpstr>
      <vt:lpstr>The Apriori Algorithm</vt:lpstr>
      <vt:lpstr>The Apriori Algorithm</vt:lpstr>
      <vt:lpstr>The Apriori Algorithm</vt:lpstr>
      <vt:lpstr>The Apriori Algorithm</vt:lpstr>
      <vt:lpstr>The Apriori Algorithm</vt:lpstr>
      <vt:lpstr>Chapter 3:  Pattern Discovery in Data Mining</vt:lpstr>
      <vt:lpstr>Extension or Improvements of Apriori</vt:lpstr>
      <vt:lpstr>Extension or Improvements of Apriori</vt:lpstr>
      <vt:lpstr>Extension or Improvements of Apriori</vt:lpstr>
      <vt:lpstr>Extension or Improvements of Apriori</vt:lpstr>
      <vt:lpstr>Extension or Improvements of Apriori</vt:lpstr>
      <vt:lpstr>Extension or Improvements of Apriori</vt:lpstr>
      <vt:lpstr>Extension or Improvements of Apriori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. Daziel.vad</cp:lastModifiedBy>
  <cp:revision>2</cp:revision>
  <dcterms:modified xsi:type="dcterms:W3CDTF">2026-01-21T08:34:53Z</dcterms:modified>
</cp:coreProperties>
</file>