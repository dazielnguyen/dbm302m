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y="5143500" cx="9144000"/>
  <p:notesSz cx="6858000" cy="9144000"/>
  <p:embeddedFontLst>
    <p:embeddedFont>
      <p:font typeface="Roboto"/>
      <p:regular r:id="rId45"/>
      <p:bold r:id="rId46"/>
      <p:italic r:id="rId47"/>
      <p:boldItalic r:id="rId48"/>
    </p:embeddedFont>
    <p:embeddedFont>
      <p:font typeface="Tahoma"/>
      <p:regular r:id="rId49"/>
      <p:bold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font" Target="fonts/Roboto-bold.fntdata"/><Relationship Id="rId45" Type="http://schemas.openxmlformats.org/officeDocument/2006/relationships/font" Target="fonts/Roboto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Roboto-boldItalic.fntdata"/><Relationship Id="rId47" Type="http://schemas.openxmlformats.org/officeDocument/2006/relationships/font" Target="fonts/Roboto-italic.fntdata"/><Relationship Id="rId49" Type="http://schemas.openxmlformats.org/officeDocument/2006/relationships/font" Target="fonts/Tahoma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0" Type="http://schemas.openxmlformats.org/officeDocument/2006/relationships/font" Target="fonts/Tahoma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582b55a4a5_0_6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58332fb90c_0_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58332fb90c_0_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58332fb90c_0_1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258332fb90c_0_1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58332fb90c_0_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258332fb90c_0_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58332fb90c_0_3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258332fb90c_0_3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58332fb90c_0_4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258332fb90c_0_4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58332fb90c_0_5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258332fb90c_0_5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58332fb90c_0_6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258332fb90c_0_6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58332fb90c_0_7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258332fb90c_0_7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3ba7813cb9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23ba7813cb9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3ba7813cb9_0_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23ba7813cb9_0_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3ba7813cb9_0_1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23ba7813cb9_0_1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3ba7813cb9_0_2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23ba7813cb9_0_2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3ba7813cb9_0_3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23ba7813cb9_0_3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3ba7813cb9_0_4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23ba7813cb9_0_4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3ba7813cb9_0_4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23ba7813cb9_0_4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3ba7813cb9_0_5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23ba7813cb9_0_5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3ba7813cb9_0_6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23ba7813cb9_0_6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3ba7813cb9_0_7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23ba7813cb9_0_7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3ba7813cb9_0_8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23ba7813cb9_0_8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3ba7813cb9_0_8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23ba7813cb9_0_8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3ba7813cb9_0_9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23ba7813cb9_0_9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3ba7813cb9_1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g23ba7813cb9_1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3ba7813cb9_1_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23ba7813cb9_1_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3ba7813cb9_1_1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23ba7813cb9_1_1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3ba7813cb9_1_2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23ba7813cb9_1_2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3ba7813cb9_1_3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23ba7813cb9_1_3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3ba7813cb9_1_4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23ba7813cb9_1_4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3ba7813cb9_1_5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23ba7813cb9_1_5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3ba7813cb9_1_5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g23ba7813cb9_1_5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3ba7813cb9_1_67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g23ba7813cb9_1_67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3ba7813cb9_1_75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23ba7813cb9_1_75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3ba7813cb9_1_8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23ba7813cb9_1_8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23ba7813cb9_1_9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g23ba7813cb9_1_9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3ba7813cb9_1_9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g23ba7813cb9_1_9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24c7216d592_0_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g24c7216d592_0_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9" name="Google Shape;129;p15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1" name="Google Shape;221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4" name="Google Shape;12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8" name="Google Shape;188;p16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5" name="Google Shape;195;p16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3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Discovery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2" name="Google Shape;242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Overview of other pattern mining methods beyond frequent itemset mining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Association rule mining, sequential pattern mining, graph pattern mining, etc.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Brief explanation of their respective algorithms and applications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1" name="Google Shape;251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Mining quantitative associations involves discovering associations and dependencies among quantitative or numerical attributes.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focuses on identifying patterns and relationships in numerical data to gain insights and make informed decisions.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Mining Quantitative Associations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0" name="Google Shape;260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Quantitative associations provide valuable information about the relationships between numerical attributes.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They help uncover hidden patterns, dependencies, and trends in numerical data.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Quantitative associations are crucial for various domains, including finance, healthcare, and scientific research.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 for Mining Quantitative Associations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9" name="Google Shape;269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Mining associations with numerical attributes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Ex.: Numerical attributes: age and salary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Methods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Static discretization based on predefined concept hierarchies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Data cube-based aggregation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Dynamic discretization based on data distribution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Clustering: Distance-based association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First one-dimensional clustering, then association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Deviation analysis: 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■"/>
            </a:pPr>
            <a:r>
              <a:rPr lang="en-GB" sz="1800">
                <a:solidFill>
                  <a:srgbClr val="1F1F1F"/>
                </a:solidFill>
              </a:rPr>
              <a:t>Gender = female ⇒ Wage: mean=$7/hr (overall mean = $9)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62000" y="1184875"/>
            <a:ext cx="629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 Quantitative Associations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3" name="Google Shape;27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8213" y="125075"/>
            <a:ext cx="3267075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6"/>
          <p:cNvSpPr/>
          <p:nvPr/>
        </p:nvSpPr>
        <p:spPr>
          <a:xfrm>
            <a:off x="5126025" y="1188275"/>
            <a:ext cx="1313100" cy="314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80" name="Google Shape;280;p2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Mining extraordinary (i.e., interesting) phenomena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Ex.: Gender = female ⇒ Wage: mean=$7/hr (overall mean = $9)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LHS: a subset of the population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RHS: an extraordinary behavior of this subset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rule is accepted only if a statistical test (e.g., Z-test) confirms the inference with high confidence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Subrule: (Gender = female) ^ (South = yes) ⇒ mean wage = $6.3/hr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Rule condition: Education in [14-18] (yrs) ⇒ mean wage = $11.64/hr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Efficient methods have been developed for mining such extraordinary rules (e.g., Aumann and Lindell@KDD’99)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1" name="Google Shape;28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3" name="Google Shape;283;p27"/>
          <p:cNvSpPr txBox="1"/>
          <p:nvPr/>
        </p:nvSpPr>
        <p:spPr>
          <a:xfrm>
            <a:off x="762000" y="1184875"/>
            <a:ext cx="700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 Extraordinary Phenomena in Quantitative Association Mining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89" name="Google Shape;289;p2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Consider a scenario where stock market data is analyzed to identify quantitative associations.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Mining quantitative associations can reveal insights such as: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Positive or negative correlations between different stocks or financial indicators.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Association rules between specific market conditions and stock price movements.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0" name="Google Shape;29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2" name="Google Shape;292;p28"/>
          <p:cNvSpPr txBox="1"/>
          <p:nvPr/>
        </p:nvSpPr>
        <p:spPr>
          <a:xfrm>
            <a:off x="762000" y="1184875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Mining Quantitative Associations in Stock Market Analysis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98" name="Google Shape;298;p2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Insights into Data Relationships: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Mining quantitative associations helps uncover relationships and dependencies between numerical attributes.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It provides insights into cause-and-effect relationships, trends, and patterns.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Financial Analysis: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Quantitative associations assist in financial analysis, such as identifying risk factors, portfolio optimization, and investment strategies.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They support decision-making in areas like stock market analysis, asset allocation, and risk management.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9" name="Google Shape;29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1" name="Google Shape;301;p29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 and Applications 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07" name="Google Shape;307;p3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Scientific Research: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Quantitative associations are valuable in scientific research for analyzing experimental data, exploring relationships between variables, and identifying significant factors.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They contribute to fields such as medicine, environmental studies, and social sciences.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8" name="Google Shape;30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0" name="Google Shape;310;p30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 and Applications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16" name="Google Shape;316;p31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Preprocessing: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Numeric data may require preprocessing, such as handling missing values, outliers, and scaling, to ensure reliable results.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Appropriate preprocessing techniques are essential to obtain accurate associations.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Interpretability and Causality: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Identifying associations does not necessarily imply causality.	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Care must be taken to avoid misinterpretation and consider domain knowledge when analyzing quantitative associations.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7" name="Google Shape;31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9" name="Google Shape;319;p31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in Mining Quantitative Associations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25" name="Google Shape;325;p3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Overview of other pattern mining methods beyond frequent itemset mining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Association rule mining, sequential pattern mining, graph pattern mining, etc.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Brief explanation of their respective algorithms and applications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6" name="Google Shape;32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8" name="Google Shape;328;p32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34" name="Google Shape;334;p3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Introduction: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Negative correlations represent an inverse relationship between two variables in a dataset.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When one variable increases, the other variable tends to decrease.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35" name="Google Shape;33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7" name="Google Shape;337;p33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Negative Correlations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43" name="Google Shape;343;p3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Implications and Insights: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Negative correlations provide valuable insights into variables that move in opposite directions.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They indicate potential dependencies or relationships that may be useful for decision-making and understanding data relationships.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Identifying negative correlations can help uncover counterintuitive patterns and variables that influence each other inversely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4" name="Google Shape;34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6" name="Google Shape;346;p34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Negative Correlations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52" name="Google Shape;352;p35"/>
          <p:cNvSpPr txBox="1"/>
          <p:nvPr>
            <p:ph idx="1" type="body"/>
          </p:nvPr>
        </p:nvSpPr>
        <p:spPr>
          <a:xfrm>
            <a:off x="762000" y="1646575"/>
            <a:ext cx="809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Rare patterns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Very low support but interesting (e.g., buying Rolex watches)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How to mine them? Setting individualized, group-based min-support thresholds for different groups of items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Negative patterns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Negatively correlated: Unlikely to happen together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Ex.: Since it is unlikely that the same customer buys both a Ford Expedition (an SUV car) and a Ford Fusion (a hybrid car), buying a Ford Expedition and buying a Ford Fusion are likely negatively correlated patterns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How to define negative patterns?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53" name="Google Shape;35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5" name="Google Shape;355;p35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Rare Patterns vs. Negative Patterns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61" name="Google Shape;361;p36"/>
          <p:cNvSpPr txBox="1"/>
          <p:nvPr>
            <p:ph idx="1" type="body"/>
          </p:nvPr>
        </p:nvSpPr>
        <p:spPr>
          <a:xfrm>
            <a:off x="762000" y="1646574"/>
            <a:ext cx="7953300" cy="3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support-based definition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If itemsets A and B are both frequent but rarely occur together, i.e., </a:t>
            </a:r>
            <a:r>
              <a:rPr lang="en-GB" sz="1800">
                <a:solidFill>
                  <a:srgbClr val="FF0000"/>
                </a:solidFill>
              </a:rPr>
              <a:t>sup(A U B) &lt;&lt; sup (A) × sup(B)  </a:t>
            </a:r>
            <a:endParaRPr sz="1800">
              <a:solidFill>
                <a:srgbClr val="FF0000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Then A and B are negatively correlated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Is this a good definition for large transaction datasets?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Ex.: Suppose a store sold two needle packages A and B 100 times each, but only one transaction contained both A and B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When there are in total 200 transactions, we have  </a:t>
            </a:r>
            <a:r>
              <a:rPr lang="en-GB" sz="1800">
                <a:solidFill>
                  <a:srgbClr val="FF0000"/>
                </a:solidFill>
              </a:rPr>
              <a:t>s(A U B) = 0.005, s(A) × s(B) = 0.25, s(A U B) &lt;&lt; s(A) × s(B)  </a:t>
            </a:r>
            <a:endParaRPr sz="1800">
              <a:solidFill>
                <a:srgbClr val="FF0000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But when there are 105 transactions, we have  </a:t>
            </a:r>
            <a:r>
              <a:rPr lang="en-GB" sz="1800">
                <a:solidFill>
                  <a:srgbClr val="FF0000"/>
                </a:solidFill>
              </a:rPr>
              <a:t>s(A U B) = 1/105, s(A) × s(B) = 1/103 × 1/103 , s(A U B) &gt; s(A) × s(B)</a:t>
            </a:r>
            <a:r>
              <a:rPr lang="en-GB" sz="1800">
                <a:solidFill>
                  <a:srgbClr val="1F1F1F"/>
                </a:solidFill>
              </a:rPr>
              <a:t>   → Null transactions ?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2" name="Google Shape;36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4" name="Google Shape;364;p36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Defining Negative Correlated Patterns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70" name="Google Shape;370;p37"/>
          <p:cNvSpPr txBox="1"/>
          <p:nvPr>
            <p:ph idx="1" type="body"/>
          </p:nvPr>
        </p:nvSpPr>
        <p:spPr>
          <a:xfrm>
            <a:off x="762000" y="1646574"/>
            <a:ext cx="7953300" cy="3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good definition on negative correlation should take care of the null-invariance problem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Whether two itemsets A and B are negatively correlated should not be influenced by the number of null-transactions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Kulczynski measure-based definition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If itemsets A and B are frequent but (P(A|B) + P(B|A))/2 &lt; є, where є is a negative pattern threshold, then A and B are negatively correlated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For the same needle package problem: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No matter there are in total 200 or 105 transactions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If є = 0.01, we have (P(A|B) + P(B|A))/2 = (0.01 + 0.01)/2 &lt; є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1" name="Google Shape;37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73" name="Google Shape;373;p37"/>
          <p:cNvSpPr txBox="1"/>
          <p:nvPr/>
        </p:nvSpPr>
        <p:spPr>
          <a:xfrm>
            <a:off x="762000" y="1184875"/>
            <a:ext cx="66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Defining Negative Correlation: Need Null-Invariance in Definition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79" name="Google Shape;379;p3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Example 1: Temperature and Sales of Cold Beverages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 a retail setting, there is often a negative correlation between temperature and sales of cold beverages.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As the temperature increases, the sales of cold beverages tend to decrease.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This suggests that customers are less inclined to purchase cold beverages when the weather is warmer.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80" name="Google Shape;38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2" name="Google Shape;382;p38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of Negative Correlations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88" name="Google Shape;388;p3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Example 2: Studying Time and Exam Scores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 an educational context, there may be a negative correlation between studying time and exam scores.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More time spent studying does not always guarantee higher exam scores.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This implies that other factors, such as study techniques or individual aptitude, may also influence exam performance.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89" name="Google Shape;38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91" name="Google Shape;391;p39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Examples of Negative Correlations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97" name="Google Shape;397;p4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Decision-Making: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Negative correlations provide insights that can guide decision-making processes.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Understanding variables that move in opposite directions helps in developing strategies and making informed choices.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98" name="Google Shape;39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00" name="Google Shape;400;p40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and Applications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06" name="Google Shape;406;p41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Identifying Counterintuitive Patterns: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Negative correlations can reveal counterintuitive patterns that may not be immediately apparent.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They highlight relationships that defy common expectations and challenge conventional wisdom.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07" name="Google Shape;40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4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09" name="Google Shape;409;p41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and Applications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15" name="Google Shape;415;p4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Domain-Specific Applications: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Negative correlations have applications across various domains, such as finance, healthcare, marketing, and social sciences.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They assist in understanding complex systems, identifying risk factors, optimizing processes, and predicting outcomes.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16" name="Google Shape;41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4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18" name="Google Shape;418;p42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and Applications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24" name="Google Shape;424;p4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Causality: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is important to note that identifying a negative correlation does not necessarily imply causation.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Additional analysis, experimentation, or domain knowledge is often required to establish causal relationships.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25" name="Google Shape;42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27" name="Google Shape;427;p43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Considerations and Limitations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33" name="Google Shape;433;p4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Data Quality and Confounding Factors: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Ensure the data used for mining negative correlations is reliable and representative.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Be aware of confounding factors that may influence the relationship between variables, as they can impact the interpretation of negative correlations.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34" name="Google Shape;43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4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36" name="Google Shape;436;p44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Considerations and Limitations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42" name="Google Shape;442;p4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Overview of other pattern mining methods beyond frequent itemset mining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Association rule mining, sequential pattern mining, graph pattern mining, etc.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Brief explanation of their respective algorithms and applications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43" name="Google Shape;44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45" name="Google Shape;445;p4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51" name="Google Shape;451;p4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What are Compressed Patterns?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Compressed patterns refer to a concise representation of frequent itemsets in a dataset.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They aim to reduce redundancy and improve efficiency in pattern mining.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34290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52" name="Google Shape;45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4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54" name="Google Shape;454;p46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Mining Compressed Patterns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60" name="Google Shape;460;p4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Benefits of Mining Compressed Patterns: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Concise Pattern Representation: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Compressed patterns provide a condensed and non-redundant representation of frequent itemsets.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Reducing redundancy helps in streamlining the analysis process and improving interpretability.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34290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61" name="Google Shape;46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63" name="Google Shape;463;p47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Mining Compressed Patterns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69" name="Google Shape;469;p4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Benefits of Mining Compressed Patterns: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Focus on Meaningful Patterns: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Compressed patterns capture the most significant and informative patterns.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They help in narrowing down the set of patterns to be analyzed, saving time and resources.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70" name="Google Shape;47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4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72" name="Google Shape;472;p48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Mining Compressed Patterns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78" name="Google Shape;478;p49"/>
          <p:cNvSpPr txBox="1"/>
          <p:nvPr>
            <p:ph idx="1" type="body"/>
          </p:nvPr>
        </p:nvSpPr>
        <p:spPr>
          <a:xfrm>
            <a:off x="2787975" y="1646575"/>
            <a:ext cx="6053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Why mining compressed patterns?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Too many scattered patterns but not so meaningful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Pattern distance measure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δ-clustering: For each pattern P, find all patterns which can be expressed by P and whose distance to P is within δ (δ-cover)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All patterns in the cluster can be represented by P  Method for efficient, direct mining of compressed frequent patterns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79" name="Google Shape;47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4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81" name="Google Shape;481;p49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 Compressed Patterns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2" name="Google Shape;482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2036150"/>
            <a:ext cx="2389800" cy="2913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09175" y="2312200"/>
            <a:ext cx="2753411" cy="3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89" name="Google Shape;489;p5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Desired patterns: high significance &amp; low redundancy  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Method: Use MMS (Maximal Marginal Significance) for measuring the combined significance of a pattern set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90" name="Google Shape;49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5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92" name="Google Shape;492;p50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Redundancy-Aware Top-k Patterns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3" name="Google Shape;49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4825" y="2004975"/>
            <a:ext cx="3643275" cy="209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99" name="Google Shape;499;p51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Consider a transactional dataset representing customer purchases in a grocery store. The dataset contains information about items bought in each transaction.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Mining compressed patterns can reveal interesting insights, such as: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Closed Patterns: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Frequent itemsets that are closed patterns represent unique combinations of items frequently purchased together.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These closed patterns provide a concise representation of item associations, capturing meaningful relationships among products.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00" name="Google Shape;50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5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02" name="Google Shape;502;p51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Mining Compressed Patterns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508" name="Google Shape;508;p5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Consider a transactional dataset representing customer purchases in a grocery store. The dataset contains information about items bought in each transaction.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Mining compressed patterns can reveal interesting insights, such as: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Maximal Patterns: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Maximal patterns highlight the largest itemsets that meet the support threshold.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These patterns identify the most extensive combinations of items that occur frequently, offering insights into comprehensive customer preferences.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09" name="Google Shape;50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5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11" name="Google Shape;511;p52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Mining Compressed Patterns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517" name="Google Shape;517;p5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Concise Pattern Representation: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Compressed patterns offer a compact representation of frequent itemsets.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They reduce the number of patterns to analyze, improving the interpretability and ease of understanding.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18" name="Google Shape;51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5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20" name="Google Shape;520;p53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and Applications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526" name="Google Shape;526;p5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Market Basket Analysis: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Compressed patterns are valuable for market basket analysis, identifying frequently co-occurring items and association rules.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rgbClr val="1F1F1F"/>
                </a:solidFill>
              </a:rPr>
              <a:t>They help understand customer purchasing behavior, optimize product placement, and facilitate targeted marketing strategies.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27" name="Google Shape;52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5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29" name="Google Shape;529;p54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and Applications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535" name="Google Shape;535;p5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Recommendation Systems: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Compressed patterns aid in building recommendation systems by identifying frequently co-purchased items.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They enable personalized recommendations, enhancing user experience and driving sales.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36" name="Google Shape;53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38" name="Google Shape;538;p55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and Applications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544" name="Google Shape;544;p5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Threshold Selection: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Determining appropriate thresholds for support and other parameters is crucial for mining compressed patterns.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Thresholds impact the number of patterns discovered and their significance.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45" name="Google Shape;545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5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47" name="Google Shape;547;p56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and Considerations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Methods 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553" name="Google Shape;553;p5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Interpretation: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Interpreting compressed patterns requires domain expertise and context.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Patterns should be analyzed in conjunction with business knowledge to extract meaningful insights.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554" name="Google Shape;55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5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56" name="Google Shape;556;p57"/>
          <p:cNvSpPr txBox="1"/>
          <p:nvPr/>
        </p:nvSpPr>
        <p:spPr>
          <a:xfrm>
            <a:off x="762000" y="1184875"/>
            <a:ext cx="568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and Considerations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562" name="Google Shape;562;p5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Beyond frequent itemset mining.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Methods: Association rules, sequential patterns, graph patterns.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Algorithms and applications vary by method.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563" name="Google Shape;56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5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65" name="Google Shape;565;p58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6" name="Google Shape;566;p58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 Methods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