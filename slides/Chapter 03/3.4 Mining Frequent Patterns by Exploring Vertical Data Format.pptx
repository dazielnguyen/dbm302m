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embeddedFontLst>
    <p:embeddedFont>
      <p:font typeface="Noto Sans Symbols" pitchFamily="2" charset="0"/>
      <p:regular r:id="rId15"/>
      <p:bold r:id="rId16"/>
    </p:embeddedFont>
    <p:embeddedFont>
      <p:font typeface="Tahoma" panose="020B060403050404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8"/>
    <p:restoredTop sz="94616"/>
  </p:normalViewPr>
  <p:slideViewPr>
    <p:cSldViewPr snapToGrid="0">
      <p:cViewPr varScale="1">
        <p:scale>
          <a:sx n="138" d="100"/>
          <a:sy n="138" d="100"/>
        </p:scale>
        <p:origin x="176" y="5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f0a52a10e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2f0a52a1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f0a52a10e_0_1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2f0a52a10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f0a52a10e_0_2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22f0a52a10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f0a52a10e_0_3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2f0a52a10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81b63e4c2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381b63e4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f0a52a10e_0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2f0a52a10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2f0a52a10e_0_5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2f0a52a10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8a09a742c3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8a09a742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vertical data format and its advantages in pattern mining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format representation and its relationship to transactional databases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Algorithms for mining frequent patterns using the vertical data format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42050" y="1646575"/>
            <a:ext cx="51837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vertical data format is an alternative representation of transactional data.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this format, each item and its corresponding transactions are represented in a vertical structure.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Vertical Data Format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850" y="899588"/>
            <a:ext cx="21526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61" name="Google Shape;261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 dirty="0">
                <a:solidFill>
                  <a:srgbClr val="1F1F1F"/>
                </a:solidFill>
              </a:rPr>
              <a:t>Compact Data Representation</a:t>
            </a:r>
            <a:r>
              <a:rPr lang="en-GB" sz="1800" dirty="0">
                <a:solidFill>
                  <a:srgbClr val="1F1F1F"/>
                </a:solidFill>
              </a:rPr>
              <a:t>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Vertical format reduces redundancy by storing each item once, along with its corresponding transactions.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Requires </a:t>
            </a:r>
            <a:r>
              <a:rPr lang="en-GB" sz="1800" b="1" dirty="0">
                <a:solidFill>
                  <a:srgbClr val="1F1F1F"/>
                </a:solidFill>
              </a:rPr>
              <a:t>less memory compared to the horizontal format.</a:t>
            </a:r>
            <a:endParaRPr sz="1800" b="1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Efficient Support </a:t>
            </a:r>
            <a:r>
              <a:rPr lang="en-GB" sz="1800" b="1" dirty="0">
                <a:solidFill>
                  <a:srgbClr val="1F1F1F"/>
                </a:solidFill>
              </a:rPr>
              <a:t>Counting:</a:t>
            </a:r>
            <a:endParaRPr sz="1800" b="1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Vertical format </a:t>
            </a:r>
            <a:r>
              <a:rPr lang="en-GB" sz="1800" b="1" dirty="0">
                <a:solidFill>
                  <a:srgbClr val="1F1F1F"/>
                </a:solidFill>
              </a:rPr>
              <a:t>enables efficient counting </a:t>
            </a:r>
            <a:r>
              <a:rPr lang="en-GB" sz="1800" dirty="0">
                <a:solidFill>
                  <a:srgbClr val="1F1F1F"/>
                </a:solidFill>
              </a:rPr>
              <a:t>of itemset support.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b="1" dirty="0">
                <a:solidFill>
                  <a:srgbClr val="1F1F1F"/>
                </a:solidFill>
              </a:rPr>
              <a:t>Reduces the number of passes over the dataset</a:t>
            </a:r>
            <a:r>
              <a:rPr lang="en-GB" sz="1800" dirty="0">
                <a:solidFill>
                  <a:srgbClr val="1F1F1F"/>
                </a:solidFill>
              </a:rPr>
              <a:t>, leading to </a:t>
            </a:r>
            <a:r>
              <a:rPr lang="en-GB" sz="1800" b="1" dirty="0">
                <a:solidFill>
                  <a:srgbClr val="1F1F1F"/>
                </a:solidFill>
              </a:rPr>
              <a:t>improved performance.</a:t>
            </a:r>
            <a:endParaRPr sz="1800" b="1" dirty="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Vertical Data Format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70" name="Google Shape;270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 dirty="0">
                <a:solidFill>
                  <a:srgbClr val="1F1F1F"/>
                </a:solidFill>
              </a:rPr>
              <a:t>Items Table:</a:t>
            </a:r>
            <a:endParaRPr sz="1800" b="1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Contains a list of unique items present in the dataset.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Each item is associated with a set of transaction identifiers (TIDs) where it appears.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b="1" dirty="0">
                <a:solidFill>
                  <a:srgbClr val="1F1F1F"/>
                </a:solidFill>
              </a:rPr>
              <a:t>Transaction Table:</a:t>
            </a:r>
            <a:endParaRPr sz="1800" b="1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Stores the </a:t>
            </a:r>
            <a:r>
              <a:rPr lang="en-GB" sz="1800" b="1" dirty="0">
                <a:solidFill>
                  <a:srgbClr val="1F1F1F"/>
                </a:solidFill>
              </a:rPr>
              <a:t>transaction</a:t>
            </a:r>
            <a:r>
              <a:rPr lang="en-GB" sz="1800" dirty="0">
                <a:solidFill>
                  <a:srgbClr val="1F1F1F"/>
                </a:solidFill>
              </a:rPr>
              <a:t> identifiers and the items associated with each transaction.	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Enables quick access to the items associated with a specific transaction.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Data Format Representation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79" name="Google Shape;279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Vertical Bitmap (VB) Algorithm: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Utilizes bitmap representation to count the support of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efficiently.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Performs bitwise operations to perform intersections and unions of bitmaps.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Vertical Minimum Support (VMS) Algorithm: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Applies the downward closure property to prune infrequent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Scans the transaction table and maintains a support count for each item.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Vertical Maximal Patterns (VMP) Algorithm:	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Focuses on discovering maximal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(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that are not subsumed by any other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).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Uses the vertical data format and employs a breadth-first search strategy.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 dirty="0"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for Mining Frequent Patterns in Vertical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88" name="Google Shape;288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Bitmap (VB) Algorithm: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Utilizes bitmap representation to count the support of itemsets efficiently.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Performs bitwise operations to perform intersections and unions of bitmaps.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Minimum Support (VMS) Algorithm: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Applies the downward closure property to prune infrequent itemsets.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Scans the transaction table and maintains a support count for each item.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Vertical Maximal Patterns (VMP) Algorithm: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Focuses on discovering maximal frequent itemsets (itemsets that are not subsumed by any other frequent itemsets).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Uses the vertical data format and employs a breadth-first search strategy.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for Mining Frequent Patterns in Vertical Format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297" name="Google Shape;29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73380" algn="just">
              <a:spcBef>
                <a:spcPts val="440"/>
              </a:spcBef>
              <a:buSzPts val="1800"/>
              <a:buFont typeface="Noto Sans Symbols"/>
              <a:buChar char="●"/>
            </a:pPr>
            <a:r>
              <a:rPr lang="en-GB" sz="1800" b="1" i="1" dirty="0">
                <a:solidFill>
                  <a:srgbClr val="0B5394"/>
                </a:solidFill>
              </a:rPr>
              <a:t>Benefits of Mining Frequent Patterns</a:t>
            </a: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endParaRPr lang="en-GB" sz="1800" dirty="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Improved Performance: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Vertical data format reduces the number of passes over the dataset, resulting in faster mining.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Enables efficient support counting and pruning techniques.</a:t>
            </a:r>
            <a:endParaRPr sz="1800" dirty="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Scalability: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Vertical format is particularly useful for large-scale datasets with numerous transactions and items.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Handles high-dimensional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effectively.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Frequent Patterns</a:t>
            </a:r>
            <a:endParaRPr sz="360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Applications: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Market basket analysis for understanding customer </a:t>
            </a:r>
            <a:r>
              <a:rPr lang="en-GB" sz="1800" dirty="0" err="1">
                <a:solidFill>
                  <a:srgbClr val="1F1F1F"/>
                </a:solidFill>
              </a:rPr>
              <a:t>behavior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Bioinformatics for gene association discovery.</a:t>
            </a:r>
            <a:endParaRPr sz="1800" dirty="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Web mining for identifying user </a:t>
            </a:r>
            <a:r>
              <a:rPr lang="en-GB" sz="1800" dirty="0" err="1">
                <a:solidFill>
                  <a:srgbClr val="1F1F1F"/>
                </a:solidFill>
              </a:rPr>
              <a:t>behavior</a:t>
            </a:r>
            <a:r>
              <a:rPr lang="en-GB" sz="1800" dirty="0">
                <a:solidFill>
                  <a:srgbClr val="1F1F1F"/>
                </a:solidFill>
              </a:rPr>
              <a:t> patterns.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627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Vertical data format: Organized by items.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Efficient for frequent pattern mining.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Advantages: Sparse data, reduced memory.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Considerations: Data transformation, dataset suitability.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Frequent Patterns Vertically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Macintosh PowerPoint</Application>
  <PresentationFormat>On-screen Show 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Tahoma</vt:lpstr>
      <vt:lpstr>Noto Sans Symbols</vt:lpstr>
      <vt:lpstr>Times New Roman</vt:lpstr>
      <vt:lpstr>Simple Light</vt:lpstr>
      <vt:lpstr>1_Blueprint</vt:lpstr>
      <vt:lpstr>Blueprint</vt:lpstr>
      <vt:lpstr>Chapter 3:  Pattern Discovery in Data Mining</vt:lpstr>
      <vt:lpstr>Mining Frequent Patterns</vt:lpstr>
      <vt:lpstr>Mining Frequent Patterns</vt:lpstr>
      <vt:lpstr>Mining Frequent Patterns</vt:lpstr>
      <vt:lpstr>Mining Frequent Patterns</vt:lpstr>
      <vt:lpstr>Mining Frequent Patterns</vt:lpstr>
      <vt:lpstr>Mining Frequent Patterns</vt:lpstr>
      <vt:lpstr>Mining Frequent Patterns</vt:lpstr>
      <vt:lpstr>Mining Frequent Patterns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2026-01-21T09:08:06Z</dcterms:modified>
</cp:coreProperties>
</file>