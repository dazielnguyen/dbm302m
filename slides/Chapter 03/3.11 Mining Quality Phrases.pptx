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6858000" cy="9144000"/>
  <p:embeddedFontLst>
    <p:embeddedFont>
      <p:font typeface="Noto Sans Symbols" pitchFamily="2" charset="0"/>
      <p:regular r:id="rId27"/>
      <p:bold r:id="rId28"/>
    </p:embeddedFont>
    <p:embeddedFont>
      <p:font typeface="Tahoma" panose="020B0604030504040204" pitchFamily="3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76"/>
  </p:normalViewPr>
  <p:slideViewPr>
    <p:cSldViewPr snapToGrid="0">
      <p:cViewPr>
        <p:scale>
          <a:sx n="171" d="100"/>
          <a:sy n="171" d="100"/>
        </p:scale>
        <p:origin x="976" y="6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2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582b55a4a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f1ff0f628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5f1ff0f6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f1ff0f628_0_1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25f1ff0f62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5f1ff0f628_0_2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5f1ff0f62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5f1ff0f628_0_3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5f1ff0f62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5f1ff0f628_0_4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25f1ff0f628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5f1ff0f628_0_5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25f1ff0f628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5f1ff0f628_0_6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25f1ff0f62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f1ff0f628_0_7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25f1ff0f628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f1ff0f628_0_85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25f1ff0f628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5f1ff0f628_0_9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1" name="Google Shape;331;g25f1ff0f628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5f1ff0f628_0_107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25f1ff0f628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5f1ff0f628_0_12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25f1ff0f628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5f1ff0f628_0_13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25f1ff0f628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5f1ff0f628_0_15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25f1ff0f628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5f1ff0f628_0_16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25f1ff0f628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5f1ff0f628_0_17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g25f1ff0f628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f1ff0f628_0_185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5f1ff0f62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5f1ff0f628_0_19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25f1ff0f628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f1ff0f628_0_20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f1ff0f628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4c6ffca9bc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24c6ffca9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Introduction to mining quality phrases or collocations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Methods for extracting meaningful phrases from textual data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Importance and applications of quality phrase mining in natural language processing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sp>
        <p:nvSpPr>
          <p:cNvPr id="251" name="Google Shape;251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From Frequent Pattern Mining to Phrase Mining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Previous Phrase Mining Methods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ToPMine: Phrase Mining without Training Data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SegPhrase: Phrase Mining with Tiny Training Sets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Mining Applications: Mining Quality Phrases from Text Data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sp>
        <p:nvSpPr>
          <p:cNvPr id="260" name="Google Shape;260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Unigrams vs. phrases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Unigrams (single words) are often ambiguous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Example: “United”: United States? United Airline? United Parcel Service?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Phrase: A natural, meaningful, unambiguous semantic unit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Example: “United States” vs. “United Airline”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semantically meaningful phrases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Transform text data from word granularity to phrase granularity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Enhance the power and efficiency at manipulating unstructured data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Phrase Mining?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dirty="0"/>
              <a:t>Mining Quality Phrases</a:t>
            </a:r>
            <a:endParaRPr sz="3600" dirty="0"/>
          </a:p>
        </p:txBody>
      </p:sp>
      <p:sp>
        <p:nvSpPr>
          <p:cNvPr id="269" name="Google Shape;269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4"/>
            <a:ext cx="8549148" cy="3672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Phrase mining: Originated from the NLP community—“Chunking”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Model it as a sequence </a:t>
            </a:r>
            <a:r>
              <a:rPr lang="en-GB" sz="1600" dirty="0" err="1">
                <a:solidFill>
                  <a:srgbClr val="1F1F1F"/>
                </a:solidFill>
              </a:rPr>
              <a:t>labeling</a:t>
            </a:r>
            <a:r>
              <a:rPr lang="en-GB" sz="1600" dirty="0">
                <a:solidFill>
                  <a:srgbClr val="1F1F1F"/>
                </a:solidFill>
              </a:rPr>
              <a:t> problem (B-NP, I-NP, O, …)  </a:t>
            </a:r>
            <a:endParaRPr sz="16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Need annotation and training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Annotate hundreds of documents as training data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Train a supervised model based on part-of-speech features  </a:t>
            </a:r>
            <a:endParaRPr sz="16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Recent trend: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Use distributional features based on web n-grams (Bergsma et al., 2010)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State-of-the-art performance: ~95% accuracy, ~88% phrase-level F-score  </a:t>
            </a:r>
            <a:endParaRPr sz="16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Limitations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High annotation cost, not scalable to a new language, a new domain/genre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May not fit domain-specific, dynamic, emerging applications  </a:t>
            </a:r>
            <a:endParaRPr sz="1600" dirty="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647700" y="1135437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Phrase Mining: Can We Reduce Annotation Cost?</a:t>
            </a:r>
            <a:endParaRPr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sp>
        <p:nvSpPr>
          <p:cNvPr id="278" name="Google Shape;278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4"/>
            <a:ext cx="8207400" cy="3898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Many studies of unsupervised phrase mining are linked with topic </a:t>
            </a:r>
            <a:r>
              <a:rPr lang="en-GB" sz="1600" dirty="0" err="1">
                <a:solidFill>
                  <a:srgbClr val="1F1F1F"/>
                </a:solidFill>
              </a:rPr>
              <a:t>modeling</a:t>
            </a:r>
            <a:r>
              <a:rPr lang="en-GB" sz="1600" dirty="0">
                <a:solidFill>
                  <a:srgbClr val="1F1F1F"/>
                </a:solidFill>
              </a:rPr>
              <a:t>  T</a:t>
            </a:r>
            <a:endParaRPr sz="16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Topic </a:t>
            </a:r>
            <a:r>
              <a:rPr lang="en-GB" sz="1600" dirty="0" err="1">
                <a:solidFill>
                  <a:srgbClr val="1F1F1F"/>
                </a:solidFill>
              </a:rPr>
              <a:t>modeling</a:t>
            </a:r>
            <a:r>
              <a:rPr lang="en-GB" sz="1600" dirty="0">
                <a:solidFill>
                  <a:srgbClr val="1F1F1F"/>
                </a:solidFill>
              </a:rPr>
              <a:t>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Represents documents by multiple topics in different proportions:  Each topic is represented by a word distribution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Does not require any prior annotations or </a:t>
            </a:r>
            <a:r>
              <a:rPr lang="en-GB" sz="1600" dirty="0" err="1">
                <a:solidFill>
                  <a:srgbClr val="1F1F1F"/>
                </a:solidFill>
              </a:rPr>
              <a:t>labeling</a:t>
            </a:r>
            <a:r>
              <a:rPr lang="en-GB" sz="1600" dirty="0">
                <a:solidFill>
                  <a:srgbClr val="1F1F1F"/>
                </a:solidFill>
              </a:rPr>
              <a:t> of the documents  </a:t>
            </a:r>
            <a:endParaRPr sz="16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Statistical topic </a:t>
            </a:r>
            <a:r>
              <a:rPr lang="en-GB" sz="1600" dirty="0" err="1">
                <a:solidFill>
                  <a:srgbClr val="1F1F1F"/>
                </a:solidFill>
              </a:rPr>
              <a:t>modeling</a:t>
            </a:r>
            <a:r>
              <a:rPr lang="en-GB" sz="1600" dirty="0">
                <a:solidFill>
                  <a:srgbClr val="1F1F1F"/>
                </a:solidFill>
              </a:rPr>
              <a:t> algorithms  The most common algorithm: LDA</a:t>
            </a:r>
            <a:endParaRPr sz="16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Three strategies on phrase mining with topic </a:t>
            </a:r>
            <a:r>
              <a:rPr lang="en-GB" sz="1600" dirty="0" err="1">
                <a:solidFill>
                  <a:srgbClr val="1F1F1F"/>
                </a:solidFill>
              </a:rPr>
              <a:t>modeling</a:t>
            </a:r>
            <a:r>
              <a:rPr lang="en-GB" sz="1600" dirty="0">
                <a:solidFill>
                  <a:srgbClr val="1F1F1F"/>
                </a:solidFill>
              </a:rPr>
              <a:t>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Strategy 1: Generate bag-of-words → generate sequence of tokens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Strategy 2: Post bag-of-words model inference, visualize topics with n-grams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Strategy 3: Prior bag-of-words model inference, mine phrases and impose on the bag-of-words model</a:t>
            </a:r>
            <a:endParaRPr sz="1600" dirty="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Unsupervised Phrase Mining and Topic Modeling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dirty="0"/>
              <a:t>Mining Quality Phrases</a:t>
            </a:r>
            <a:endParaRPr sz="3600" dirty="0"/>
          </a:p>
        </p:txBody>
      </p:sp>
      <p:sp>
        <p:nvSpPr>
          <p:cNvPr id="287" name="Google Shape;287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207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Bigram Topic Model [Wallach’06]:  Probabilistic generative model that conditions on previous word and topic when drawing next word  T</a:t>
            </a:r>
            <a:endParaRPr sz="16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 err="1">
                <a:solidFill>
                  <a:srgbClr val="1F1F1F"/>
                </a:solidFill>
              </a:rPr>
              <a:t>opical</a:t>
            </a:r>
            <a:r>
              <a:rPr lang="en-GB" sz="1600" dirty="0">
                <a:solidFill>
                  <a:srgbClr val="1F1F1F"/>
                </a:solidFill>
              </a:rPr>
              <a:t> N-Grams (TNG) [Wang, et al.’07] (a generalization of Bigram Topic Model):  Probabilistic model that generates words in textual order -  Create n-grams by concatenating successive bigrams  </a:t>
            </a:r>
            <a:endParaRPr sz="16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Phrase-Discovering LDA (PDLDA) [Lindsey, et al.’12]:  Viewing each sentence as a time-series of words, PDLDA posits that the generative parameter (topic) changes periodically - Each word is drawn based on previous m words (context) and current phrase topic  </a:t>
            </a:r>
            <a:endParaRPr sz="16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Comments on this strategy:  High model complexity: Tends to overfitting - High inference cost: Slow</a:t>
            </a:r>
            <a:endParaRPr sz="1600" dirty="0">
              <a:solidFill>
                <a:srgbClr val="1F1F1F"/>
              </a:solidFill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Strategy 1: Simultaneously Inferring Phrases and Topics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sp>
        <p:nvSpPr>
          <p:cNvPr id="296" name="Google Shape;296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5437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TurboTopics [Blei &amp; Lafferty’09] – Phrase construction as a post-processing step to Latent Dirichlet Allocation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Perform Latent Dirichlet Allocation on corpus to assign each token a topic label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Merge adjacent unigrams with the same topic label by a distribution-free permutation test on arbitrary-length back-off model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End recursive merging when all significant adjacent unigrams have been merged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7" name="Google Shape;29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Strategy 2: Post Topic-Modeling Phrase Construction (I): TurboTopics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0" name="Google Shape;30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0600" y="3628175"/>
            <a:ext cx="4926501" cy="151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dirty="0"/>
              <a:t>Mining Quality Phrases</a:t>
            </a:r>
            <a:endParaRPr sz="3600" dirty="0"/>
          </a:p>
        </p:txBody>
      </p:sp>
      <p:sp>
        <p:nvSpPr>
          <p:cNvPr id="306" name="Google Shape;306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33400" y="1635335"/>
            <a:ext cx="85437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KERT [</a:t>
            </a:r>
            <a:r>
              <a:rPr lang="en-GB" sz="1600" dirty="0" err="1">
                <a:solidFill>
                  <a:srgbClr val="1F1F1F"/>
                </a:solidFill>
              </a:rPr>
              <a:t>Danilevsky</a:t>
            </a:r>
            <a:r>
              <a:rPr lang="en-GB" sz="1600" dirty="0">
                <a:solidFill>
                  <a:srgbClr val="1F1F1F"/>
                </a:solidFill>
              </a:rPr>
              <a:t> et al.’14] – Phrase construction as a post-processing step to LDA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Run bag-of-words model inference and assign topic label to each token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Perform frequent pattern mining to extract candidate phrases within each topic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Perform phrase ranking based on four different criteria  </a:t>
            </a:r>
            <a:endParaRPr sz="1600" dirty="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600" dirty="0">
                <a:solidFill>
                  <a:srgbClr val="1F1F1F"/>
                </a:solidFill>
              </a:rPr>
              <a:t>Popularity: e.g., “information retrieval” vs. “cross-language information retrieval”  </a:t>
            </a:r>
            <a:endParaRPr sz="1600" dirty="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600" dirty="0">
                <a:solidFill>
                  <a:srgbClr val="1F1F1F"/>
                </a:solidFill>
              </a:rPr>
              <a:t>Concordance  “powerful tea” vs. “strong tea”  “active learning” vs. “learning classification”  </a:t>
            </a:r>
            <a:endParaRPr sz="1600" dirty="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600" dirty="0">
                <a:solidFill>
                  <a:srgbClr val="1F1F1F"/>
                </a:solidFill>
              </a:rPr>
              <a:t>Informativeness: e.g., “this paper” (frequent but not discriminative, not informative)  </a:t>
            </a:r>
            <a:endParaRPr sz="1600" dirty="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600" dirty="0">
                <a:solidFill>
                  <a:srgbClr val="1F1F1F"/>
                </a:solidFill>
              </a:rPr>
              <a:t>Completeness: e.g., “vector machine” vs. “support vector machine</a:t>
            </a:r>
            <a:endParaRPr sz="1600" dirty="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Topic-Modeling Phrase Construction (II): KERT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dirty="0"/>
              <a:t>Mining Quality Phrases</a:t>
            </a:r>
            <a:endParaRPr sz="3600" dirty="0"/>
          </a:p>
        </p:txBody>
      </p:sp>
      <p:sp>
        <p:nvSpPr>
          <p:cNvPr id="315" name="Google Shape;315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5437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Why first Phrase Mining then Topic </a:t>
            </a:r>
            <a:r>
              <a:rPr lang="en-GB" sz="1600" dirty="0" err="1">
                <a:solidFill>
                  <a:srgbClr val="1F1F1F"/>
                </a:solidFill>
              </a:rPr>
              <a:t>Modeling</a:t>
            </a:r>
            <a:r>
              <a:rPr lang="en-GB" sz="1600" dirty="0">
                <a:solidFill>
                  <a:srgbClr val="1F1F1F"/>
                </a:solidFill>
              </a:rPr>
              <a:t>?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With Strategy 2, tokens in the same phrase may be assigned to different topics  </a:t>
            </a:r>
            <a:endParaRPr sz="1600" dirty="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600" dirty="0">
                <a:solidFill>
                  <a:srgbClr val="1F1F1F"/>
                </a:solidFill>
              </a:rPr>
              <a:t>Ex. knowledge discovery using least squares support vector machine classifiers…  </a:t>
            </a:r>
            <a:endParaRPr sz="1600" dirty="0">
              <a:solidFill>
                <a:srgbClr val="1F1F1F"/>
              </a:solidFill>
            </a:endParaRPr>
          </a:p>
          <a:p>
            <a: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Knowledge discovery and support vector machine should have coherent topic labels  </a:t>
            </a:r>
            <a:endParaRPr sz="16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Solution: switch the order of phrase mining and topic model inference</a:t>
            </a:r>
            <a:endParaRPr sz="1600" dirty="0">
              <a:solidFill>
                <a:srgbClr val="1F1F1F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Strategy 3: First Phrase Mining then Topic Modeling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3250" y="3911575"/>
            <a:ext cx="781050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sp>
        <p:nvSpPr>
          <p:cNvPr id="325" name="Google Shape;325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5437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 err="1">
                <a:solidFill>
                  <a:srgbClr val="1F1F1F"/>
                </a:solidFill>
              </a:rPr>
              <a:t>ToPMine</a:t>
            </a:r>
            <a:r>
              <a:rPr lang="en-GB" sz="1600" dirty="0">
                <a:solidFill>
                  <a:srgbClr val="1F1F1F"/>
                </a:solidFill>
              </a:rPr>
              <a:t> [El-</a:t>
            </a:r>
            <a:r>
              <a:rPr lang="en-GB" sz="1600" dirty="0" err="1">
                <a:solidFill>
                  <a:srgbClr val="1F1F1F"/>
                </a:solidFill>
              </a:rPr>
              <a:t>Kishky</a:t>
            </a:r>
            <a:r>
              <a:rPr lang="en-GB" sz="1600" dirty="0">
                <a:solidFill>
                  <a:srgbClr val="1F1F1F"/>
                </a:solidFill>
              </a:rPr>
              <a:t> et al. VLDB’15]: Phrase mining, then phrase-based topic </a:t>
            </a:r>
            <a:r>
              <a:rPr lang="en-GB" sz="1600" dirty="0" err="1">
                <a:solidFill>
                  <a:srgbClr val="1F1F1F"/>
                </a:solidFill>
              </a:rPr>
              <a:t>modeling</a:t>
            </a:r>
            <a:r>
              <a:rPr lang="en-GB" sz="1600" dirty="0">
                <a:solidFill>
                  <a:srgbClr val="1F1F1F"/>
                </a:solidFill>
              </a:rPr>
              <a:t>  </a:t>
            </a:r>
            <a:endParaRPr sz="16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Phrase mining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Frequent contiguous pattern mining: Extract candidate phrases and their counts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Agglomerative merging of adjacent unigrams as guided by a significance score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Document segmentation to count phrase occurrence  </a:t>
            </a:r>
            <a:endParaRPr sz="1600" dirty="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600" dirty="0">
                <a:solidFill>
                  <a:srgbClr val="1F1F1F"/>
                </a:solidFill>
              </a:rPr>
              <a:t>Calculate rectified (i.e., true) phrase frequency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Phrase ranking (using the criteria proposed in KERT)  </a:t>
            </a:r>
            <a:endParaRPr sz="1600" dirty="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600" dirty="0">
                <a:solidFill>
                  <a:srgbClr val="1F1F1F"/>
                </a:solidFill>
              </a:rPr>
              <a:t>Popularity, concordance, informativeness, completeness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Phrase-based topic </a:t>
            </a:r>
            <a:r>
              <a:rPr lang="en-GB" sz="1600" dirty="0" err="1">
                <a:solidFill>
                  <a:srgbClr val="1F1F1F"/>
                </a:solidFill>
              </a:rPr>
              <a:t>modeling</a:t>
            </a:r>
            <a:r>
              <a:rPr lang="en-GB" sz="1600" dirty="0">
                <a:solidFill>
                  <a:srgbClr val="1F1F1F"/>
                </a:solidFill>
              </a:rPr>
              <a:t>  </a:t>
            </a:r>
            <a:endParaRPr sz="1600" dirty="0">
              <a:solidFill>
                <a:srgbClr val="1F1F1F"/>
              </a:solidFill>
            </a:endParaRPr>
          </a:p>
        </p:txBody>
      </p:sp>
      <p:pic>
        <p:nvPicPr>
          <p:cNvPr id="326" name="Google Shape;32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28" name="Google Shape;328;p32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ToPMine: Phrase Mining before Topic Modeling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sp>
        <p:nvSpPr>
          <p:cNvPr id="334" name="Google Shape;334;p3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5437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Collocation: A sequence of words that occur more frequently than expected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Often “interesting”, relay information not portrayed by their constituent terms  Ex. “made an exception”, “strong tea”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Many different measures used to extract collocations from a corpus [Dunning 93, Pederson 96]  E.g., mutual information, t-test, z-test, chi-squared test, likelihood ratio  </a:t>
            </a:r>
            <a:endParaRPr sz="1600" dirty="0">
              <a:solidFill>
                <a:srgbClr val="1F1F1F"/>
              </a:solidFill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600" dirty="0">
              <a:solidFill>
                <a:srgbClr val="1F1F1F"/>
              </a:solidFill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6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Many of these measures can be used to guide the agglomerative </a:t>
            </a:r>
            <a:r>
              <a:rPr lang="en-GB" sz="1600" dirty="0" err="1">
                <a:solidFill>
                  <a:srgbClr val="1F1F1F"/>
                </a:solidFill>
              </a:rPr>
              <a:t>phrasesegmentation</a:t>
            </a:r>
            <a:r>
              <a:rPr lang="en-GB" sz="1600" dirty="0">
                <a:solidFill>
                  <a:srgbClr val="1F1F1F"/>
                </a:solidFill>
              </a:rPr>
              <a:t> algorithm</a:t>
            </a:r>
            <a:endParaRPr sz="1600" dirty="0">
              <a:solidFill>
                <a:srgbClr val="1F1F1F"/>
              </a:solidFill>
            </a:endParaRPr>
          </a:p>
        </p:txBody>
      </p:sp>
      <p:pic>
        <p:nvPicPr>
          <p:cNvPr id="335" name="Google Shape;33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37" name="Google Shape;337;p33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Collocation Mining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8" name="Google Shape;33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3439775"/>
            <a:ext cx="807720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sp>
        <p:nvSpPr>
          <p:cNvPr id="344" name="Google Shape;344;p3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3481000" y="3121225"/>
            <a:ext cx="56529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Note for the first title: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[feature selection] forms phrase but not [selection for] based on the significant scores computed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[support vector machine] does not contribute to the counts of [support], [vector], [support vector], [vector machine]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5" name="Google Shape;34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47" name="Google Shape;347;p34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Phrase Candidate Generation: Frequent Pattern Mining + Statistical Analysis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8" name="Google Shape;3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825" y="1565742"/>
            <a:ext cx="5652901" cy="1555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000" y="3536775"/>
            <a:ext cx="3202226" cy="99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pic>
        <p:nvPicPr>
          <p:cNvPr id="355" name="Google Shape;35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357" name="Google Shape;357;p35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ToPMine: Experiments on DBLP Abstracts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8" name="Google Shape;35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5325" y="1798975"/>
            <a:ext cx="6120692" cy="273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pic>
        <p:nvPicPr>
          <p:cNvPr id="364" name="Google Shape;36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366" name="Google Shape;366;p36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ToPMine: Experiments on Yelp Reviews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7" name="Google Shape;36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675" y="1646575"/>
            <a:ext cx="6400801" cy="3105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  <p:sp>
        <p:nvSpPr>
          <p:cNvPr id="375" name="Google Shape;375;p37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SagPhrase: Phrase Mining with Tiny Training Sets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3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5437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small set of training data may enhance the quality of phrase mining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7" name="Google Shape;37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3825" y="2120025"/>
            <a:ext cx="6010099" cy="27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pic>
        <p:nvPicPr>
          <p:cNvPr id="383" name="Google Shape;383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/>
          </a:p>
        </p:txBody>
      </p:sp>
      <p:sp>
        <p:nvSpPr>
          <p:cNvPr id="385" name="Google Shape;385;p38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SegPhrase+: The Overall Framework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3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5437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ClassPhrase: Frequent pattern mining, feature extraction, classification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SegPhrase: Phrasal segmentation and phrase quality estimation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SegPhrase+: One more round to enhance mined phrase quality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7" name="Google Shape;38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5438" y="2678375"/>
            <a:ext cx="6801724" cy="235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pic>
        <p:nvPicPr>
          <p:cNvPr id="393" name="Google Shape;393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18</a:t>
            </a:fld>
            <a:endParaRPr/>
          </a:p>
        </p:txBody>
      </p:sp>
      <p:sp>
        <p:nvSpPr>
          <p:cNvPr id="395" name="Google Shape;395;p39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SegPhrase: Pattern Mining and Feature Extraction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3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5437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Pattern Mining for Candidate Set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Build a candidate phrases set by frequent pattern mining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Mining frequent k-grams (k is typically small, e.g., 6 in the experiments)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Popularity measured by raw frequent words and phrases mined from the corpus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Feature Extraction: Concordance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Partition a phrase into two parts to check whether the co-occurrence is significantly higher than pure random  </a:t>
            </a:r>
            <a:endParaRPr sz="18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pic>
        <p:nvPicPr>
          <p:cNvPr id="402" name="Google Shape;40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/>
          </a:p>
        </p:txBody>
      </p:sp>
      <p:sp>
        <p:nvSpPr>
          <p:cNvPr id="404" name="Google Shape;404;p40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SegPhrase: Pattern Mining and Feature Extraction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4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5437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Feature Extraction: Informativeness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Quality phrases typically start and end with a non-stopword  “machine learning is” vs. “machine learning”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 average IDF over words in the phrase to measure the semantics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Usually, the probabilities of a quality phrase in quotes, brackets, or connected by hyphen should be higher (punctuations information)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e.g., “state-of-the-art”</a:t>
            </a:r>
            <a:endParaRPr sz="18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pic>
        <p:nvPicPr>
          <p:cNvPr id="411" name="Google Shape;41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</a:t>
            </a:fld>
            <a:endParaRPr/>
          </a:p>
        </p:txBody>
      </p:sp>
      <p:sp>
        <p:nvSpPr>
          <p:cNvPr id="413" name="Google Shape;413;p41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SegPhrase: Classification Using Tiny Training Sets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4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5437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Use tiny training sets (300 labels for 1GB corpus; can also use phrases extracted from KBs)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Label: indicating whether a phrase is a high quality one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E.g., “support vector machine”: 1; “the experiment shows”: 0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Classification: Construct models to distinguish quality phrases from poor ones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 Random Forest algorithm to bootstrap different datasets with limited labels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Phrasal segmentation can tell which phrase is more appropriate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Ex: “A standard [feature vector] [machine learning] setup is used to describe ......”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Partition a sequence of words by maximizing the likelihood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Consider length penalty and filter out phrases with low rectified frequency</a:t>
            </a:r>
            <a:endParaRPr sz="18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Quality Phrases</a:t>
            </a:r>
            <a:endParaRPr sz="3600"/>
          </a:p>
        </p:txBody>
      </p:sp>
      <p:pic>
        <p:nvPicPr>
          <p:cNvPr id="420" name="Google Shape;42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21</a:t>
            </a:fld>
            <a:endParaRPr/>
          </a:p>
        </p:txBody>
      </p:sp>
      <p:sp>
        <p:nvSpPr>
          <p:cNvPr id="422" name="Google Shape;422;p42"/>
          <p:cNvSpPr txBox="1"/>
          <p:nvPr/>
        </p:nvSpPr>
        <p:spPr>
          <a:xfrm>
            <a:off x="762000" y="1184875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Performance: Precision Recall Curves on DBLP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4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50685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Datasets: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Evaluation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Wiki Phrases (based on internal links, ~7K high quality phrases)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Sampled 500*7 Wikiuncovered phrases: Results evaluated by 3 reviewers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Compared with other phrasemining methods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TF-IDF, C-Value, ConExtr, KEA, and ToPMine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Also, Segphrase+ is efficient, linearly scalable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24" name="Google Shape;42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4850" y="1563150"/>
            <a:ext cx="5068500" cy="754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5675" y="2677604"/>
            <a:ext cx="3506224" cy="177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id="431" name="Google Shape;431;p4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Identifying meaningful phrases.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Techniques for extraction.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Enhances language analysis tasks.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432" name="Google Shape;432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22</a:t>
            </a:fld>
            <a:endParaRPr/>
          </a:p>
        </p:txBody>
      </p:sp>
      <p:sp>
        <p:nvSpPr>
          <p:cNvPr id="434" name="Google Shape;434;p43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43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Phrase Mining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1477</Words>
  <Application>Microsoft Macintosh PowerPoint</Application>
  <PresentationFormat>On-screen Show (16:9)</PresentationFormat>
  <Paragraphs>173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Tahoma</vt:lpstr>
      <vt:lpstr>Times New Roman</vt:lpstr>
      <vt:lpstr>Noto Sans Symbols</vt:lpstr>
      <vt:lpstr>Simple Light</vt:lpstr>
      <vt:lpstr>1_Blueprint</vt:lpstr>
      <vt:lpstr>Blueprint</vt:lpstr>
      <vt:lpstr>Chapter 3:  Pattern Discovery in Data Mining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Mining Quality Phrases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1</cp:revision>
  <dcterms:modified xsi:type="dcterms:W3CDTF">2026-02-25T02:46:20Z</dcterms:modified>
</cp:coreProperties>
</file>