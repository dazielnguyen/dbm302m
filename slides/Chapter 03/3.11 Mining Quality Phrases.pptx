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  <p:sldMasterId id="2147483667" r:id="rId5"/>
    <p:sldMasterId id="2147483668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y="5143500" cx="9144000"/>
  <p:notesSz cx="6858000" cy="9144000"/>
  <p:embeddedFontLst>
    <p:embeddedFont>
      <p:font typeface="Tahoma"/>
      <p:regular r:id="rId30"/>
      <p:bold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Tahoma-bold.fntdata"/><Relationship Id="rId30" Type="http://schemas.openxmlformats.org/officeDocument/2006/relationships/font" Target="fonts/Tahoma-regular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82b55a4a5_0_419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g2582b55a4a5_0_419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550" lIns="91100" spcFirstLastPara="1" rIns="91100" wrap="square" tIns="45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2582b55a4a5_0_419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550" lIns="91100" spcFirstLastPara="1" rIns="91100" wrap="square" tIns="455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b="0" i="0" lang="en-GB" sz="120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sz="13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582b55a4a5_0_62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2582b55a4a5_0_62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5f1ff0f628_0_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g25f1ff0f628_0_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5f1ff0f628_0_1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25f1ff0f628_0_1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5f1ff0f628_0_2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g25f1ff0f628_0_2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5f1ff0f628_0_3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25f1ff0f628_0_3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5f1ff0f628_0_4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25f1ff0f628_0_4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5f1ff0f628_0_5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25f1ff0f628_0_5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5f1ff0f628_0_6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25f1ff0f628_0_6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5f1ff0f628_0_74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g25f1ff0f628_0_74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25f1ff0f628_0_85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25f1ff0f628_0_85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5f1ff0f628_0_96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g25f1ff0f628_0_96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25f1ff0f628_0_107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g25f1ff0f628_0_107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5f1ff0f628_0_12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g25f1ff0f628_0_12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5f1ff0f628_0_13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g25f1ff0f628_0_13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5f1ff0f628_0_15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g25f1ff0f628_0_15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5f1ff0f628_0_16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g25f1ff0f628_0_16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5f1ff0f628_0_174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g25f1ff0f628_0_174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5f1ff0f628_0_185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g25f1ff0f628_0_185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5f1ff0f628_0_19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25f1ff0f628_0_19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5f1ff0f628_0_204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g25f1ff0f628_0_204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4c6ffca9bc_0_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g24c6ffca9bc_0_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■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●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53" name="Google Shape;53;p13"/>
          <p:cNvSpPr/>
          <p:nvPr>
            <p:ph idx="2" type="chart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/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descr="Rectangle: Click to edit Master text styles&#10;Second level&#10;Third level&#10;Fourth level&#10;Fifth level" id="129" name="Google Shape;129;p15"/>
          <p:cNvSpPr txBox="1"/>
          <p:nvPr>
            <p:ph idx="1" type="subTitle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rtl="0" algn="l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130" name="Google Shape;130;p15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1" name="Google Shape;131;p15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17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02" name="Google Shape;202;p17"/>
          <p:cNvSpPr/>
          <p:nvPr>
            <p:ph idx="2" type="chart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203" name="Google Shape;203;p17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17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17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18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09" name="Google Shape;209;p18"/>
          <p:cNvSpPr txBox="1"/>
          <p:nvPr>
            <p:ph idx="2" type="body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10" name="Google Shape;210;p18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p18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18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19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19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0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5280" lvl="0" marL="457200" rtl="0" algn="l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indent="-320040" lvl="1" marL="914400" rtl="0" algn="l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indent="-349250" lvl="2" marL="1371600" rtl="0" algn="l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/>
        </p:txBody>
      </p:sp>
      <p:sp>
        <p:nvSpPr>
          <p:cNvPr id="220" name="Google Shape;220;p20"/>
          <p:cNvSpPr txBox="1"/>
          <p:nvPr>
            <p:ph idx="2" type="body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5280" lvl="0" marL="457200" rtl="0" algn="l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indent="-320040" lvl="1" marL="914400" rtl="0" algn="l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indent="-349250" lvl="2" marL="1371600" rtl="0" algn="l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/>
        </p:txBody>
      </p:sp>
      <p:sp>
        <p:nvSpPr>
          <p:cNvPr id="221" name="Google Shape;221;p20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20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0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1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27" name="Google Shape;227;p21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21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21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4"/>
          <p:cNvGrpSpPr/>
          <p:nvPr/>
        </p:nvGrpSpPr>
        <p:grpSpPr>
          <a:xfrm>
            <a:off x="-136525" y="0"/>
            <a:ext cx="9204325" cy="5029200"/>
            <a:chOff x="-86" y="0"/>
            <a:chExt cx="5798" cy="4224"/>
          </a:xfrm>
        </p:grpSpPr>
        <p:grpSp>
          <p:nvGrpSpPr>
            <p:cNvPr id="59" name="Google Shape;59;p14"/>
            <p:cNvGrpSpPr/>
            <p:nvPr/>
          </p:nvGrpSpPr>
          <p:grpSpPr>
            <a:xfrm>
              <a:off x="0" y="0"/>
              <a:ext cx="5712" cy="4224"/>
              <a:chOff x="0" y="0"/>
              <a:chExt cx="5712" cy="4224"/>
            </a:xfrm>
          </p:grpSpPr>
          <p:sp>
            <p:nvSpPr>
              <p:cNvPr id="60" name="Google Shape;60;p14"/>
              <p:cNvSpPr txBox="1"/>
              <p:nvPr/>
            </p:nvSpPr>
            <p:spPr>
              <a:xfrm>
                <a:off x="2112" y="0"/>
                <a:ext cx="3600" cy="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  <p:grpSp>
            <p:nvGrpSpPr>
              <p:cNvPr id="61" name="Google Shape;61;p14"/>
              <p:cNvGrpSpPr/>
              <p:nvPr/>
            </p:nvGrpSpPr>
            <p:grpSpPr>
              <a:xfrm>
                <a:off x="0" y="0"/>
                <a:ext cx="5700" cy="4224"/>
                <a:chOff x="0" y="0"/>
                <a:chExt cx="5700" cy="4224"/>
              </a:xfrm>
            </p:grpSpPr>
            <p:cxnSp>
              <p:nvCxnSpPr>
                <p:cNvPr id="62" name="Google Shape;62;p14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3" name="Google Shape;63;p14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4" name="Google Shape;64;p14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5" name="Google Shape;65;p14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6" name="Google Shape;66;p14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7" name="Google Shape;67;p14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8" name="Google Shape;68;p14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9" name="Google Shape;69;p14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0" name="Google Shape;70;p14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1" name="Google Shape;71;p14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2" name="Google Shape;72;p14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3" name="Google Shape;73;p14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4" name="Google Shape;74;p14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5" name="Google Shape;75;p14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6" name="Google Shape;76;p14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7" name="Google Shape;77;p14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8" name="Google Shape;78;p14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9" name="Google Shape;79;p14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0" name="Google Shape;80;p14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1" name="Google Shape;81;p14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2" name="Google Shape;82;p14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3" name="Google Shape;83;p14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4" name="Google Shape;84;p14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5" name="Google Shape;85;p14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6" name="Google Shape;86;p14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7" name="Google Shape;87;p14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8" name="Google Shape;88;p14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9" name="Google Shape;89;p14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0" name="Google Shape;90;p14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1" name="Google Shape;91;p14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2" name="Google Shape;92;p14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3" name="Google Shape;93;p14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4" name="Google Shape;94;p14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5" name="Google Shape;95;p14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6" name="Google Shape;96;p14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7" name="Google Shape;97;p14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8" name="Google Shape;98;p14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9" name="Google Shape;99;p14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0" name="Google Shape;100;p14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1" name="Google Shape;101;p14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2" name="Google Shape;102;p14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3" name="Google Shape;103;p14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4" name="Google Shape;104;p14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5" name="Google Shape;105;p14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6" name="Google Shape;106;p14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7" name="Google Shape;107;p14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8" name="Google Shape;108;p14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9" name="Google Shape;109;p14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0" name="Google Shape;110;p14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1" name="Google Shape;111;p14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2" name="Google Shape;112;p14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  <p:cxnSp>
            <p:nvCxnSpPr>
              <p:cNvPr id="113" name="Google Shape;113;p14"/>
              <p:cNvCxnSpPr/>
              <p:nvPr/>
            </p:nvCxnSpPr>
            <p:spPr>
              <a:xfrm>
                <a:off x="5568" y="0"/>
                <a:ext cx="0" cy="1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</p:grpSp>
        <p:grpSp>
          <p:nvGrpSpPr>
            <p:cNvPr id="114" name="Google Shape;114;p14"/>
            <p:cNvGrpSpPr/>
            <p:nvPr/>
          </p:nvGrpSpPr>
          <p:grpSpPr>
            <a:xfrm>
              <a:off x="-86" y="559"/>
              <a:ext cx="4281" cy="1800"/>
              <a:chOff x="-86" y="559"/>
              <a:chExt cx="4281" cy="1800"/>
            </a:xfrm>
          </p:grpSpPr>
          <p:cxnSp>
            <p:nvCxnSpPr>
              <p:cNvPr id="115" name="Google Shape;115;p14"/>
              <p:cNvCxnSpPr/>
              <p:nvPr/>
            </p:nvCxnSpPr>
            <p:spPr>
              <a:xfrm>
                <a:off x="506" y="559"/>
                <a:ext cx="0" cy="1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16" name="Google Shape;116;p14"/>
              <p:cNvCxnSpPr/>
              <p:nvPr/>
            </p:nvCxnSpPr>
            <p:spPr>
              <a:xfrm rot="10800000">
                <a:off x="-86" y="1925"/>
                <a:ext cx="33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17" name="Google Shape;117;p14"/>
              <p:cNvCxnSpPr/>
              <p:nvPr/>
            </p:nvCxnSpPr>
            <p:spPr>
              <a:xfrm rot="10800000">
                <a:off x="295" y="939"/>
                <a:ext cx="3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18" name="Google Shape;118;p14"/>
              <p:cNvSpPr/>
              <p:nvPr/>
            </p:nvSpPr>
            <p:spPr>
              <a:xfrm flipH="1" rot="-5400000">
                <a:off x="425" y="860"/>
                <a:ext cx="108" cy="108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1480" y="1952"/>
              <a:ext cx="3900" cy="1800"/>
              <a:chOff x="1480" y="1952"/>
              <a:chExt cx="3900" cy="1800"/>
            </a:xfrm>
          </p:grpSpPr>
          <p:cxnSp>
            <p:nvCxnSpPr>
              <p:cNvPr id="120" name="Google Shape;120;p14"/>
              <p:cNvCxnSpPr/>
              <p:nvPr/>
            </p:nvCxnSpPr>
            <p:spPr>
              <a:xfrm>
                <a:off x="1480" y="3442"/>
                <a:ext cx="3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21" name="Google Shape;121;p14"/>
              <p:cNvCxnSpPr/>
              <p:nvPr/>
            </p:nvCxnSpPr>
            <p:spPr>
              <a:xfrm>
                <a:off x="5172" y="1952"/>
                <a:ext cx="0" cy="1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22" name="Google Shape;122;p14"/>
              <p:cNvSpPr/>
              <p:nvPr/>
            </p:nvSpPr>
            <p:spPr>
              <a:xfrm rot="5400000">
                <a:off x="5145" y="3347"/>
                <a:ext cx="108" cy="108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23" name="Google Shape;123;p1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descr="Rectangle: Click to edit Master text styles &#10;Second level &#10;Third level &#10;Fourth level &#10;Fifth level" id="124" name="Google Shape;124;p14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3528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7338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111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048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048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048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048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048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25" name="Google Shape;125;p14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6"/>
          <p:cNvGrpSpPr/>
          <p:nvPr/>
        </p:nvGrpSpPr>
        <p:grpSpPr>
          <a:xfrm>
            <a:off x="0" y="0"/>
            <a:ext cx="9067800" cy="5029200"/>
            <a:chOff x="0" y="0"/>
            <a:chExt cx="5712" cy="4224"/>
          </a:xfrm>
        </p:grpSpPr>
        <p:grpSp>
          <p:nvGrpSpPr>
            <p:cNvPr id="134" name="Google Shape;134;p16"/>
            <p:cNvGrpSpPr/>
            <p:nvPr/>
          </p:nvGrpSpPr>
          <p:grpSpPr>
            <a:xfrm>
              <a:off x="0" y="0"/>
              <a:ext cx="5700" cy="4224"/>
              <a:chOff x="0" y="0"/>
              <a:chExt cx="5700" cy="4224"/>
            </a:xfrm>
          </p:grpSpPr>
          <p:grpSp>
            <p:nvGrpSpPr>
              <p:cNvPr id="135" name="Google Shape;135;p16"/>
              <p:cNvGrpSpPr/>
              <p:nvPr/>
            </p:nvGrpSpPr>
            <p:grpSpPr>
              <a:xfrm>
                <a:off x="0" y="192"/>
                <a:ext cx="5700" cy="4032"/>
                <a:chOff x="0" y="192"/>
                <a:chExt cx="5700" cy="4032"/>
              </a:xfrm>
            </p:grpSpPr>
            <p:cxnSp>
              <p:nvCxnSpPr>
                <p:cNvPr id="136" name="Google Shape;136;p16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7" name="Google Shape;137;p16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8" name="Google Shape;138;p16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9" name="Google Shape;139;p16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0" name="Google Shape;140;p16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1" name="Google Shape;141;p16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2" name="Google Shape;142;p16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3" name="Google Shape;143;p16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4" name="Google Shape;144;p16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5" name="Google Shape;145;p16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6" name="Google Shape;146;p16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7" name="Google Shape;147;p16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8" name="Google Shape;148;p16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9" name="Google Shape;149;p16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0" name="Google Shape;150;p16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1" name="Google Shape;151;p16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2" name="Google Shape;152;p16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3" name="Google Shape;153;p16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4" name="Google Shape;154;p16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5" name="Google Shape;155;p16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6" name="Google Shape;156;p16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7" name="Google Shape;157;p16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158" name="Google Shape;158;p16"/>
              <p:cNvGrpSpPr/>
              <p:nvPr/>
            </p:nvGrpSpPr>
            <p:grpSpPr>
              <a:xfrm>
                <a:off x="192" y="0"/>
                <a:ext cx="5376" cy="4200"/>
                <a:chOff x="192" y="0"/>
                <a:chExt cx="5376" cy="4200"/>
              </a:xfrm>
            </p:grpSpPr>
            <p:cxnSp>
              <p:nvCxnSpPr>
                <p:cNvPr id="159" name="Google Shape;159;p16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0" name="Google Shape;160;p16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1" name="Google Shape;161;p16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2" name="Google Shape;162;p16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3" name="Google Shape;163;p16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4" name="Google Shape;164;p16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5" name="Google Shape;165;p16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6" name="Google Shape;166;p16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7" name="Google Shape;167;p16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8" name="Google Shape;168;p16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9" name="Google Shape;169;p16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0" name="Google Shape;170;p16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1" name="Google Shape;171;p16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2" name="Google Shape;172;p16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3" name="Google Shape;173;p16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4" name="Google Shape;174;p16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5" name="Google Shape;175;p16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6" name="Google Shape;176;p16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7" name="Google Shape;177;p16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8" name="Google Shape;178;p16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9" name="Google Shape;179;p16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0" name="Google Shape;180;p16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1" name="Google Shape;181;p16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2" name="Google Shape;182;p16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3" name="Google Shape;183;p16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4" name="Google Shape;184;p16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5" name="Google Shape;185;p16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6" name="Google Shape;186;p16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7" name="Google Shape;187;p16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</p:grpSp>
        <p:sp>
          <p:nvSpPr>
            <p:cNvPr descr="60%" id="188" name="Google Shape;188;p16"/>
            <p:cNvSpPr txBox="1"/>
            <p:nvPr/>
          </p:nvSpPr>
          <p:spPr>
            <a:xfrm>
              <a:off x="2112" y="0"/>
              <a:ext cx="3600" cy="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cxnSp>
          <p:nvCxnSpPr>
            <p:cNvPr id="189" name="Google Shape;189;p16"/>
            <p:cNvCxnSpPr/>
            <p:nvPr/>
          </p:nvCxnSpPr>
          <p:spPr>
            <a:xfrm>
              <a:off x="5568" y="0"/>
              <a:ext cx="0" cy="1500"/>
            </a:xfrm>
            <a:prstGeom prst="straightConnector1">
              <a:avLst/>
            </a:prstGeom>
            <a:noFill/>
            <a:ln cap="flat" cmpd="sng" w="9525">
              <a:solidFill>
                <a:schemeClr val="hlink"/>
              </a:solidFill>
              <a:prstDash val="solid"/>
              <a:miter lim="800000"/>
              <a:headEnd len="med" w="med" type="none"/>
              <a:tailEnd len="med" w="med" type="none"/>
            </a:ln>
          </p:spPr>
        </p:cxnSp>
        <p:grpSp>
          <p:nvGrpSpPr>
            <p:cNvPr id="190" name="Google Shape;190;p16"/>
            <p:cNvGrpSpPr/>
            <p:nvPr/>
          </p:nvGrpSpPr>
          <p:grpSpPr>
            <a:xfrm>
              <a:off x="316" y="892"/>
              <a:ext cx="1069" cy="1529"/>
              <a:chOff x="204" y="916"/>
              <a:chExt cx="2100" cy="3004"/>
            </a:xfrm>
          </p:grpSpPr>
          <p:cxnSp>
            <p:nvCxnSpPr>
              <p:cNvPr id="191" name="Google Shape;191;p16"/>
              <p:cNvCxnSpPr/>
              <p:nvPr/>
            </p:nvCxnSpPr>
            <p:spPr>
              <a:xfrm rot="10800000">
                <a:off x="204" y="1038"/>
                <a:ext cx="2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92" name="Google Shape;192;p16"/>
              <p:cNvCxnSpPr/>
              <p:nvPr/>
            </p:nvCxnSpPr>
            <p:spPr>
              <a:xfrm>
                <a:off x="336" y="920"/>
                <a:ext cx="0" cy="30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93" name="Google Shape;193;p16"/>
              <p:cNvSpPr/>
              <p:nvPr/>
            </p:nvSpPr>
            <p:spPr>
              <a:xfrm flipH="1">
                <a:off x="240" y="916"/>
                <a:ext cx="216" cy="216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94" name="Google Shape;194;p1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descr="Rectangle: Click to edit Master text styles &#10;Second level &#10;Third level &#10;Fourth level &#10;Fifth level" id="195" name="Google Shape;195;p16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3528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7338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111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048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048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048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048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048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96" name="Google Shape;196;p16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197" name="Google Shape;197;p16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198" name="Google Shape;198;p16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2"/>
          <p:cNvSpPr txBox="1"/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</a:t>
            </a:r>
            <a:r>
              <a:rPr lang="en-GB" sz="3600"/>
              <a:t>3</a:t>
            </a:r>
            <a: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Pattern Discovery in Data Mining</a:t>
            </a:r>
            <a:endParaRPr sz="3600"/>
          </a:p>
        </p:txBody>
      </p:sp>
      <p:pic>
        <p:nvPicPr>
          <p:cNvPr id="236" name="Google Shape;23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42" name="Google Shape;242;p23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Introduction to mining quality phrases or collocations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Methods for extracting meaningful phrases from textual data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Importance and applications of quality phrase mining in natural language processing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43" name="Google Shape;24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51" name="Google Shape;251;p24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From Frequent Pattern Mining to Phrase Mining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Previous Phrase Mining Methods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ToPMine: Phrase Mining without Training Data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SegPhrase: Phrase Mining with Tiny Training Sets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52" name="Google Shape;2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Pattern Mining Applications: Mining Quality Phrases from Text Data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5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60" name="Google Shape;260;p25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Unigrams vs. phrases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Unigrams (single words) are often ambiguous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Example: “United”: United States? United Airline? United Parcel Service?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Phrase: A natural, meaningful, unambiguous semantic unit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Example: “United States” vs. “United Airline”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Mining semantically meaningful phrases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Transform text data from word granularity to phrase granularity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Enhance the power and efficiency at manipulating unstructured data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61" name="Google Shape;26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Why Phrase Mining?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69" name="Google Shape;269;p26"/>
          <p:cNvSpPr txBox="1"/>
          <p:nvPr>
            <p:ph idx="1" type="body"/>
          </p:nvPr>
        </p:nvSpPr>
        <p:spPr>
          <a:xfrm>
            <a:off x="762000" y="1646575"/>
            <a:ext cx="8207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Phrase mining: Originated from the NLP community—“Chunking”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Model it as a sequence labeling problem (B-NP, I-NP, O, …)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Need annotation and training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Annotate hundreds of documents as training data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Train a supervised model based on part-of-speech features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Recent trend: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Use distributional features based on web n-grams (Bergsma et al., 2010)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State-of-the-art performance: ~95% accuracy, ~88% phrase-level F-score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Limitations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High annotation cost, not scalable to a new language, a new domain/genre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May not fit domain-specific, dynamic, emerging applications 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70" name="Google Shape;27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72" name="Google Shape;272;p26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Phrase Mining: Can We Reduce Annotation Cost?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78" name="Google Shape;278;p27"/>
          <p:cNvSpPr txBox="1"/>
          <p:nvPr>
            <p:ph idx="1" type="body"/>
          </p:nvPr>
        </p:nvSpPr>
        <p:spPr>
          <a:xfrm>
            <a:off x="762000" y="1646575"/>
            <a:ext cx="8207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Many studies of unsupervised phrase mining are linked with topic modeling  T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Topic modeling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Represents documents by multiple topics in different proportions:  Each topic is represented by a word distribution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Does not require any prior annotations or labeling of the documents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Statistical topic modeling algorithms  The most common algorithm: LDA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Three strategies on phrase mining with topic modeling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Strategy 1: Generate bag-of-words → generate sequence of tokens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Strategy 2: Post bag-of-words model inference, visualize topics with n-grams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Strategy 3: Prior bag-of-words model inference, mine phrases and impose on the bag-of-words model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79" name="Google Shape;27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81" name="Google Shape;281;p27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Unsupervised Phrase Mining and Topic Modeling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87" name="Google Shape;287;p28"/>
          <p:cNvSpPr txBox="1"/>
          <p:nvPr>
            <p:ph idx="1" type="body"/>
          </p:nvPr>
        </p:nvSpPr>
        <p:spPr>
          <a:xfrm>
            <a:off x="762000" y="1646575"/>
            <a:ext cx="8207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Bigram Topic Model [Wallach’06]:  Probabilistic generative model that conditions on previous word and topic when drawing next word  T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opical N-Grams (TNG) [Wang, et al.’07] (a generalization of Bigram Topic Model):  Probabilistic model that generates words in textual order -  Create n-grams by concatenating successive bigrams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Phrase-Discovering LDA (PDLDA) [Lindsey, et al.’12]:  Viewing each sentence as a time-series of words, PDLDA posits that the generative parameter (topic) changes periodically - Each word is drawn based on previous m words (context) and current phrase topic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Comments on this strategy:  High model complexity: Tends to overfitting - High inference cost: Slow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88" name="Google Shape;28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Strategy 1: Simultaneously Inferring Phrases and Topics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96" name="Google Shape;296;p29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TurboTopics [Blei &amp; Lafferty’09] – Phrase construction as a post-processing step to Latent Dirichlet Allocation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Perform Latent Dirichlet Allocation on corpus to assign each token a topic label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Merge adjacent unigrams with the same topic label by a distribution-free permutation test on arbitrary-length back-off model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End recursive merging when all significant adjacent unigrams have been merged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97" name="Google Shape;29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99" name="Google Shape;299;p29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Strategy 2: Post Topic-Modeling Phrase Construction (I): TurboTopics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00" name="Google Shape;300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70600" y="3628175"/>
            <a:ext cx="4926501" cy="151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306" name="Google Shape;306;p30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KERT [Danilevsky et al.’14] – Phrase construction as a post-processing step to LDA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Run bag-of-words model inference and assign topic label to each token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Perform frequent pattern mining to extract candidate phrases within each topic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Perform phrase ranking based on four different criteria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Popularity: e.g., “information retrieval” vs. “cross-language information retrieval”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Concordance  “powerful tea” vs. “strong tea”  “active learning” vs. “learning classification”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Informativeness: e.g., “this paper” (frequent but not discriminative, not informative)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Completeness: e.g., “vector machine” vs. “support vector machine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07" name="Google Shape;30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3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09" name="Google Shape;309;p30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Post Topic-Modeling Phrase Construction (II): KERT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315" name="Google Shape;315;p31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Why first Phrase Mining then Topic Modeling?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With Strategy 2, tokens in the same phrase may be assigned to different topics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Ex. knowledge discovery using least squares support vector machine classifiers…  </a:t>
            </a:r>
            <a:endParaRPr sz="1800">
              <a:solidFill>
                <a:srgbClr val="1F1F1F"/>
              </a:solidFill>
            </a:endParaRPr>
          </a:p>
          <a:p>
            <a:pPr indent="-3429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Knowledge discovery and support vector machine should have coherent topic labels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Solution: switch the order of phrase mining and topic model inference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16" name="Google Shape;3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18" name="Google Shape;318;p31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Strategy 3: First Phrase Mining then Topic Modeling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9" name="Google Shape;319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3250" y="3911575"/>
            <a:ext cx="7810500" cy="97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2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325" name="Google Shape;325;p32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ToPMine [El-Kishky et al. VLDB’15]: Phrase mining, then phrase-based topic modeling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Phrase mining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Frequent contiguous pattern mining: Extract candidate phrases and their counts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Agglomerative merging of adjacent unigrams as guided by a significance score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Document segmentation to count phrase occurrence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Calculate rectified (i.e., true) phrase frequency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Phrase ranking (using the criteria proposed in KERT)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Popularity, concordance, informativeness, completeness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Phrase-based topic modeling 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26" name="Google Shape;32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28" name="Google Shape;328;p32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ToPMine: Phrase Mining before Topic Modeling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334" name="Google Shape;334;p33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Collocation: A sequence of words that occur more frequently than expected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Often “interesting”, relay information not portrayed by their constituent terms  Ex. “made an exception”, “strong tea”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Many different measures used to extract collocations from a corpus [Dunning 93, Pederson 96]  E.g., mutual information, t-test, z-test, chi-squared test, likelihood ratio  </a:t>
            </a:r>
            <a:endParaRPr sz="1800">
              <a:solidFill>
                <a:srgbClr val="1F1F1F"/>
              </a:solidFill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Many of these measures can be used to guide the agglomerative phrasesegmentation algorithm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35" name="Google Shape;33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3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37" name="Google Shape;337;p33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Collocation Mining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8" name="Google Shape;338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66800" y="3774413"/>
            <a:ext cx="8077200" cy="73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344" name="Google Shape;344;p34"/>
          <p:cNvSpPr txBox="1"/>
          <p:nvPr>
            <p:ph idx="1" type="body"/>
          </p:nvPr>
        </p:nvSpPr>
        <p:spPr>
          <a:xfrm>
            <a:off x="3481000" y="3121225"/>
            <a:ext cx="56529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Note for the first title: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[feature selection] forms phrase but not [selection for] based on the significant scores computed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[support vector machine] does not contribute to the counts of [support], [vector], [support vector], [vector machine]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45" name="Google Shape;34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47" name="Google Shape;347;p34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Phrase Candidate Generation: Frequent Pattern Mining + Statistical Analysis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48" name="Google Shape;34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5825" y="1565742"/>
            <a:ext cx="5652901" cy="1555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2000" y="3536775"/>
            <a:ext cx="3202226" cy="99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5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355" name="Google Shape;355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3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57" name="Google Shape;357;p35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ToPMine: Experiments on DBLP Abstracts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58" name="Google Shape;35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5325" y="1798975"/>
            <a:ext cx="6120692" cy="273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364" name="Google Shape;36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3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66" name="Google Shape;366;p36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ToPMine: Experiments on Yelp Reviews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67" name="Google Shape;367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675" y="1646575"/>
            <a:ext cx="6400801" cy="31054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373" name="Google Shape;37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3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75" name="Google Shape;375;p37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SagPhrase: Phrase Mining with Tiny Training Sets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76" name="Google Shape;376;p37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small set of training data may enhance the quality of phrase mining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77" name="Google Shape;37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3825" y="2120025"/>
            <a:ext cx="6010099" cy="278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383" name="Google Shape;38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3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85" name="Google Shape;385;p38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SegPhrase+: The Overall Framework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86" name="Google Shape;386;p38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ClassPhrase: Frequent pattern mining, feature extraction, classification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SegPhrase: Phrasal segmentation and phrase quality estimation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SegPhrase+: One more round to enhance mined phrase quality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87" name="Google Shape;38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5438" y="2678375"/>
            <a:ext cx="6801724" cy="235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9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393" name="Google Shape;393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95" name="Google Shape;395;p39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SegPhrase: Pattern Mining and Feature Extraction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96" name="Google Shape;396;p39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Pattern Mining for Candidate Set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Build a candidate phrases set by frequent pattern mining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Mining frequent k-grams (k is typically small, e.g., 6 in the experiments)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Popularity measured by raw frequent words and phrases mined from the corpus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Feature Extraction: Concordance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Partition a phrase into two parts to check whether the co-occurrence is significantly higher than pure random  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402" name="Google Shape;40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04" name="Google Shape;404;p40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SegPhrase: Pattern Mining and Feature Extraction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405" name="Google Shape;405;p40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Feature Extraction: Informativeness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Quality phrases typically start and end with a non-stopword  “machine learning is” vs. “machine learning”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Use average IDF over words in the phrase to measure the semantics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Usually, the probabilities of a quality phrase in quotes, brackets, or connected by hyphen should be higher (punctuations information)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e.g., “state-of-the-art”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411" name="Google Shape;41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4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13" name="Google Shape;413;p41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SegPhrase: Classification Using Tiny Training Sets 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414" name="Google Shape;414;p41"/>
          <p:cNvSpPr txBox="1"/>
          <p:nvPr>
            <p:ph idx="1" type="body"/>
          </p:nvPr>
        </p:nvSpPr>
        <p:spPr>
          <a:xfrm>
            <a:off x="762000" y="1646575"/>
            <a:ext cx="8543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Use tiny training sets (300 labels for 1GB corpus; can also use phrases extracted from KBs)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Label: indicating whether a phrase is a high quality one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E.g., “support vector machine”: 1; “the experiment shows”: 0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Classification: Construct models to distinguish quality phrases from poor ones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Use Random Forest algorithm to bootstrap different datasets with limited labels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Phrasal segmentation can tell which phrase is more appropriate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Ex: “A standard [feature vector] [machine learning] setup is used to describe ......”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Partition a sequence of words by maximizing the likelihood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Consider length penalty and filter out phrases with low rectified frequency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2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Mining Quality Phrases</a:t>
            </a:r>
            <a:endParaRPr sz="3600"/>
          </a:p>
        </p:txBody>
      </p:sp>
      <p:pic>
        <p:nvPicPr>
          <p:cNvPr id="420" name="Google Shape;420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4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22" name="Google Shape;422;p42"/>
          <p:cNvSpPr txBox="1"/>
          <p:nvPr/>
        </p:nvSpPr>
        <p:spPr>
          <a:xfrm>
            <a:off x="762000" y="1184875"/>
            <a:ext cx="784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Performance: Precision Recall Curves on DBLP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423" name="Google Shape;423;p42"/>
          <p:cNvSpPr txBox="1"/>
          <p:nvPr>
            <p:ph idx="1" type="body"/>
          </p:nvPr>
        </p:nvSpPr>
        <p:spPr>
          <a:xfrm>
            <a:off x="762000" y="1646575"/>
            <a:ext cx="50685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Datasets: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Evaluation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Wiki Phrases (based on internal links, ~7K high quality phrases)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Sampled 500*7 Wikiuncovered phrases: Results evaluated by 3 reviewers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Compared with other phrasemining methods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TF-IDF, C-Value, ConExtr, KEA, and ToPMine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Also, Segphrase+ is efficient, linearly scalable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24" name="Google Shape;424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4850" y="1563150"/>
            <a:ext cx="5068500" cy="754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45675" y="2677604"/>
            <a:ext cx="3506224" cy="177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4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Summary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431" name="Google Shape;431;p43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Identifying meaningful phrases.</a:t>
            </a:r>
            <a:endParaRPr sz="1800">
              <a:solidFill>
                <a:srgbClr val="000000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Techniques for extraction.</a:t>
            </a:r>
            <a:endParaRPr sz="1800">
              <a:solidFill>
                <a:srgbClr val="000000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Enhances language analysis tasks.</a:t>
            </a:r>
            <a:endParaRPr sz="1800">
              <a:solidFill>
                <a:srgbClr val="000000"/>
              </a:solidFill>
            </a:endParaRPr>
          </a:p>
        </p:txBody>
      </p:sp>
      <p:pic>
        <p:nvPicPr>
          <p:cNvPr id="432" name="Google Shape;432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34" name="Google Shape;434;p43"/>
          <p:cNvSpPr txBox="1"/>
          <p:nvPr/>
        </p:nvSpPr>
        <p:spPr>
          <a:xfrm>
            <a:off x="762000" y="1184875"/>
            <a:ext cx="795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5" name="Google Shape;435;p43"/>
          <p:cNvSpPr txBox="1"/>
          <p:nvPr/>
        </p:nvSpPr>
        <p:spPr>
          <a:xfrm>
            <a:off x="762000" y="1184875"/>
            <a:ext cx="823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Quality Phrase Mining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