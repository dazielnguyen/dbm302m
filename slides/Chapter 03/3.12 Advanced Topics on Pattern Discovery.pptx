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  <p:sldMasterId id="2147483667" r:id="rId5"/>
    <p:sldMasterId id="2147483668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y="5143500" cx="9144000"/>
  <p:notesSz cx="6858000" cy="9144000"/>
  <p:embeddedFontLst>
    <p:embeddedFont>
      <p:font typeface="Tahoma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22" Type="http://schemas.openxmlformats.org/officeDocument/2006/relationships/font" Target="fonts/Tahoma-bold.fntdata"/><Relationship Id="rId10" Type="http://schemas.openxmlformats.org/officeDocument/2006/relationships/slide" Target="slides/slide3.xml"/><Relationship Id="rId21" Type="http://schemas.openxmlformats.org/officeDocument/2006/relationships/font" Target="fonts/Tahoma-regular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3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82b55a4a5_0_41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g2582b55a4a5_0_41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550" lIns="91100" spcFirstLastPara="1" rIns="91100" wrap="square" tIns="45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550" lIns="91100" spcFirstLastPara="1" rIns="91100" wrap="square" tIns="455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b="0" i="0" lang="en-GB" sz="120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582b55a4a5_0_62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2582b55a4a5_0_62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8d79587c0b_0_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g28d79587c0b_0_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8d79587c0b_0_1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28d79587c0b_0_1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8d79587c0b_0_2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28d79587c0b_0_2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8d79587c0b_0_3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28d79587c0b_0_3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8d79587c0b_0_4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28d79587c0b_0_4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8d79587c0b_0_6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28d79587c0b_0_6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8d79587c0b_0_7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g28d79587c0b_0_7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8d79587c0b_0_8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28d79587c0b_0_8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8d79587c0b_0_9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g28d79587c0b_0_9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8d79587c0b_0_10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28d79587c0b_0_10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4c73930152_0_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24c73930152_0_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53" name="Google Shape;53;p13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/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descr="Rectangle: Click to edit Master text styles&#10;Second level&#10;Third level&#10;Fourth level&#10;Fifth level" id="129" name="Google Shape;129;p15"/>
          <p:cNvSpPr txBox="1"/>
          <p:nvPr>
            <p:ph idx="1" type="subTitle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rtl="0" algn="l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17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2" name="Google Shape;202;p17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203" name="Google Shape;203;p17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17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17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9" name="Google Shape;209;p18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10" name="Google Shape;210;p18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18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18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19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19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0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0" name="Google Shape;220;p20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1" name="Google Shape;221;p20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20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0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1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27" name="Google Shape;227;p21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21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21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flipH="1" rot="-5400000">
                <a:off x="425" y="860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24" name="Google Shape;124;p14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25" name="Google Shape;125;p14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</p:grpSp>
        <p:sp>
          <p:nvSpPr>
            <p:cNvPr descr="60%" id="188" name="Google Shape;188;p16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cap="flat" cmpd="sng" w="9525">
              <a:solidFill>
                <a:schemeClr val="hlink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95" name="Google Shape;195;p16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96" name="Google Shape;196;p16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7" name="Google Shape;197;p16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8" name="Google Shape;198;p16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2"/>
          <p:cNvSpPr txBox="1"/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3</a:t>
            </a: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Pattern Discovery in Data Mining</a:t>
            </a:r>
            <a:endParaRPr sz="3600"/>
          </a:p>
        </p:txBody>
      </p:sp>
      <p:pic>
        <p:nvPicPr>
          <p:cNvPr id="236" name="Google Shape;2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42" name="Google Shape;242;p2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3380" lvl="0" marL="3429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Brief overview of advanced topics in pattern discovery</a:t>
            </a:r>
            <a:endParaRPr sz="1800">
              <a:solidFill>
                <a:srgbClr val="1F1F1F"/>
              </a:solidFill>
            </a:endParaRPr>
          </a:p>
          <a:p>
            <a:pPr indent="-373380" lvl="0" marL="3429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Subgroup discovery, contrast pattern mining, emerging pattern mining, etc.</a:t>
            </a:r>
            <a:endParaRPr sz="1800">
              <a:solidFill>
                <a:srgbClr val="1F1F1F"/>
              </a:solidFill>
            </a:endParaRPr>
          </a:p>
          <a:p>
            <a:pPr indent="-373380" lvl="0" marL="3429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Cutting-edge research and emerging trends in pattern discovery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51" name="Google Shape;251;p24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Data Streams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Features: Continuous, ordered, changing, fast, huge volumn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Contrast with traditional DBMS (finite, persistent data sets)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Characteristics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Huge volumes of continuous data, possibly infinite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Fast changing and requires fast, real-time response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Data stream captures nicely our data processing needs of today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Random access is expensive: single scan algorithm (can only have one look)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Store only the summary of the data seen thus far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Most stream data are at low-level and multi-dimensional in nature, needs multi-level and multi-dimensional processing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2" name="Google Shape;2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Challenges for Data Analysis in Data Streams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260" name="Google Shape;26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62" name="Google Shape;262;p25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Architecture: Stream Data Processing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63" name="Google Shape;2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1075" y="1745450"/>
            <a:ext cx="6739824" cy="320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269" name="Google Shape;26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Stream Data Mining Tasks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272" name="Google Shape;272;p26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Stream mining vs. stream querying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Stream mining shares many difficulties with stream querying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E.g., single-scan, fast response, dynamic, …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But often requires less “precision”, e.g., no join, grouping, sorting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Patterns are hidden and more general than querying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Stream data mining tasks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Pattern mining in data streams  	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Multi-dimensional on-line analysis of streams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Clustering data streams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Classification of stream data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Mining outliers and anomalies in stream data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278" name="Google Shape;27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80" name="Google Shape;280;p27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Mining Approximate Frequent Patterns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281" name="Google Shape;281;p27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Mining precise frequent patterns in stream data: Unrealistic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Cannot even store them in a compressed form (e.g., FPtree)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Approximate answers are often sufficient for pattern analysis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Ex.: A router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is interested in all flows whose frequency is at least 1% (σ) of the entire traffic stream seen so far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and feels that 1/10 of σ (ε = 0.1%) error is comfortable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How to mine frequent patterns with good approximation?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Lossy Counting Algorithm (Manku &amp; Motwani, VLDB’02)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Major ideas: Not to keep the items with very low support count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Advantage: Guaranteed error bound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Disadvantage: Keeping a large set of traces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287" name="Google Shape;28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89" name="Google Shape;289;p28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Lossy Counting for Frequent Single Items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0" name="Google Shape;290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675" y="1863050"/>
            <a:ext cx="6400799" cy="304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296" name="Google Shape;29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98" name="Google Shape;298;p29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Approximation Guarantee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299" name="Google Shape;299;p29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Given: (1) support threshold: σ, (2) error threshold: ε, and (3) stream length N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Output: items with frequency counts exceeding (σ – ε) N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How much do we undercount?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If stream length seen so far = N and bucket-size = 1/ε then frequency count error ≤ # of buckets = N/bucket-size = N/(1/ε) = εN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Approximation guarantee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No false negatives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False positives have true frequency count at least (σ–ε)N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Frequency count underestimated by at most εN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305" name="Google Shape;30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07" name="Google Shape;307;p30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Other Issues and Recommended Readings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08" name="Google Shape;308;p30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Other issues on pattern discovery in data streams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Space-saving computation of frequent and top-k elements (Metwally, Agrawal, and El Abbadi, ICDT'05)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Mining approximate frequent k-itemsets in data streams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Mining sequential patterns in data streams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Recommended Readings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G. Manku and R. Motwani, “Approximate Frequency Counts over Data Streams”, VLDB’02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A. Metwally, D. Agrawal, and A. El Abbadi, “Efficient Computation of Frequent and Top-k Elements in Data Streams”, ICDT'05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314" name="Google Shape;31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16" name="Google Shape;316;p31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Pattern Discovery for Software Bug Mining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17" name="Google Shape;317;p31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Software is complex, and its runtime data is larger and more complex!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Finding bugs is challenging: Often no clear specifications or properties; need substantial human efforts in analyzing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Software reliability analysis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Static bug detection: Check the code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Dynamic bug detection or testing: Run the code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Debugging: Given symptoms or failures, pinpoint the bug locations in the code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Why pattern mining?—Code or running sequences contain hidden patterns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Common patterns → likely specification or property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Violations (anomalies comparing to patterns) → likely bugs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Mining patterns to narrow down the scope of inspection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323" name="Google Shape;32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3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25" name="Google Shape;325;p32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Image Representation for Visual Pattern Discovery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26" name="Google Shape;326;p32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An image can be characterized by visual primitives, e.g., interest points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Each visual primitive can be described by visual feature, e.g., a highdimensional feature vector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Each image is a collection of visual primitives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27" name="Google Shape;32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1688" y="2875600"/>
            <a:ext cx="6008225" cy="21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Advanced Topics on Pattern Discovery</a:t>
            </a:r>
            <a:endParaRPr sz="3600"/>
          </a:p>
        </p:txBody>
      </p:sp>
      <p:pic>
        <p:nvPicPr>
          <p:cNvPr id="333" name="Google Shape;33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35" name="Google Shape;335;p33"/>
          <p:cNvSpPr txBox="1"/>
          <p:nvPr/>
        </p:nvSpPr>
        <p:spPr>
          <a:xfrm>
            <a:off x="762000" y="1184875"/>
            <a:ext cx="623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Pattern Mining and Society: Privacy Issues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descr="Rectangle: Click to edit Master text styles &#10;Second level &#10;Third level &#10;Fourth level &#10;Fifth level" id="336" name="Google Shape;336;p3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potential adverse side-effect of data mining—Privacy could be compromised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Privacy and accuracy are typically contradictory in nature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Improving one often incurs a cost on the other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Three categories on privacy issues arising out of data mining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 Input privacy (or data hiding)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Distort or hide data to prevent the miners from reliably extracting confidential or private information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Output privacy (or knowledge hiding)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No disclosure of sensitive patterns or knowledge from datasets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Owner privacy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Does not allow any party to reliably learn the data or sensitive information that the other owners hold (i.e., the source of the data)</a:t>
            </a:r>
            <a:endParaRPr sz="18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342" name="Google Shape;342;p34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Cutting-edge areas: Subgroup, contrast, emerging patterns.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Addressing complex data challenges.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Embracing evolving trends in research.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343" name="Google Shape;34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45" name="Google Shape;345;p34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6" name="Google Shape;346;p34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Advance Pattern Discovery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