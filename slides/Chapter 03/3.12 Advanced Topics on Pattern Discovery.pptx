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6858000" cy="9144000"/>
  <p:embeddedFontLst>
    <p:embeddedFont>
      <p:font typeface="Noto Sans Symbols" pitchFamily="2" charset="0"/>
      <p:regular r:id="rId18"/>
      <p:bold r:id="rId19"/>
    </p:embeddedFont>
    <p:embeddedFont>
      <p:font typeface="Tahoma" panose="020B0604030504040204" pitchFamily="3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d79587c0b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8d79587c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8d79587c0b_0_1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8d79587c0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8d79587c0b_0_2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g28d79587c0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8d79587c0b_0_3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tiếng</a:t>
            </a:r>
            <a:br>
              <a:rPr lang="en-US" dirty="0"/>
            </a:br>
            <a:r>
              <a:rPr lang="en-US" dirty="0"/>
              <a:t>- Case study: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Viettel (100 users)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-&gt;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nta</a:t>
            </a:r>
            <a:r>
              <a:rPr lang="en-US" dirty="0"/>
              <a:t> hay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, -&gt;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1% 1 tr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  -&gt; 1%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99% </a:t>
            </a:r>
            <a:r>
              <a:rPr lang="en-US" dirty="0" err="1"/>
              <a:t>người</a:t>
            </a:r>
            <a:r>
              <a:rPr lang="en-US" dirty="0"/>
              <a:t> kia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dính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(bao </a:t>
            </a:r>
            <a:r>
              <a:rPr lang="en-US" dirty="0" err="1"/>
              <a:t>quát</a:t>
            </a:r>
            <a:r>
              <a:rPr lang="en-US" dirty="0"/>
              <a:t>)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Lossy </a:t>
            </a:r>
            <a:r>
              <a:rPr lang="en-US" dirty="0" err="1"/>
              <a:t>Couting</a:t>
            </a:r>
            <a:r>
              <a:rPr lang="en-US" dirty="0"/>
              <a:t>: (</a:t>
            </a:r>
            <a:r>
              <a:rPr lang="en-US" dirty="0" err="1"/>
              <a:t>Đừng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support </a:t>
            </a:r>
            <a:r>
              <a:rPr lang="en-US" dirty="0" err="1"/>
              <a:t>thấp</a:t>
            </a:r>
            <a:r>
              <a:rPr lang="en-US" dirty="0"/>
              <a:t> 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75" name="Google Shape;275;g28d79587c0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d79587c0b_0_4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1/0,001 = 1000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epsilon = 0,001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trống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1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-&gt;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,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-&gt;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bữa</a:t>
            </a:r>
            <a:r>
              <a:rPr lang="en-US" dirty="0"/>
              <a:t> </a:t>
            </a:r>
            <a:r>
              <a:rPr lang="en-US" dirty="0" err="1"/>
              <a:t>bãi</a:t>
            </a:r>
            <a:endParaRPr lang="en-US" dirty="0"/>
          </a:p>
        </p:txBody>
      </p:sp>
      <p:sp>
        <p:nvSpPr>
          <p:cNvPr id="284" name="Google Shape;284;g28d79587c0b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d79587c0b_0_6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thiếu</a:t>
            </a:r>
            <a:r>
              <a:rPr lang="en-US" dirty="0"/>
              <a:t> undercount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bao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. -&gt;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(epsilon x 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0,001 x 10000 = 10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3" name="Google Shape;293;g28d79587c0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8d79587c0b_0_7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8d79587c0b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8d79587c0b_0_8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Chiến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datamining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code.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kì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code </a:t>
            </a:r>
            <a:r>
              <a:rPr lang="en-US" dirty="0" err="1"/>
              <a:t>nào</a:t>
            </a:r>
            <a:r>
              <a:rPr lang="en-US" dirty="0"/>
              <a:t> vi </a:t>
            </a:r>
            <a:r>
              <a:rPr lang="en-US" dirty="0" err="1"/>
              <a:t>phạm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11" name="Google Shape;311;g28d79587c0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8d79587c0b_0_9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28d79587c0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8d79587c0b_0_10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0" name="Google Shape;330;g28d79587c0b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c73930152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4c739301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Brief overview of advanced topics in pattern discovery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Subgroup discovery, contrast pattern mining, emerging pattern mining, etc.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Cutting-edge research and emerging trends in pattern discovery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Streams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Features: Continuous, ordered, changing, fast, huge volumn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Contrast with traditional DBMS (finite, persistent data sets)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Characteristics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Huge volumes of continuous data, possibly infinite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Fast changing and requires fast, real-time response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stream captures nicely our data processing needs of today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Random access is expensive: single scan algorithm (can only have one look)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Store only the summary of the data seen thus far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Most stream data are at low-level and multi-dimensional in nature, needs multi-level and multi-dimensional processing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for Data Analysis in Data Streams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pic>
        <p:nvPicPr>
          <p:cNvPr id="260" name="Google Shape;26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Architecture: Stream Data Processing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075" y="1745450"/>
            <a:ext cx="6739824" cy="32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 Data Mining Tasks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Stream mining vs. stream querying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Stream mining shares many difficulties with stream querying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E.g., single-scan, fast response, dynamic, …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But often requires less “precision”, e.g., no join, grouping, sorting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Patterns are hidden and more general than querying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Stream data mining tasks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 mining in data streams  	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Multi-dimensional on-line analysis of streams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Clustering data streams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Classification of stream data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Mining outliers and anomalies in stream data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pic>
        <p:nvPicPr>
          <p:cNvPr id="278" name="Google Shape;27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Approximate Frequent Patterns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precise frequent patterns in stream data: Unrealistic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Cannot even store them in a compressed form (e.g., FPtree)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Approximate answers are often sufficient for pattern analysis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Ex.: A router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is interested in all flows whose frequency is at least 1% (σ) of the entire traffic stream seen so far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and feels that 1/10 of σ (ε = 0.1%) error is comfortable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to mine frequent patterns with good approximation?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Lossy Counting Algorithm (Manku &amp; Motwani, VLDB’02)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Major ideas: Not to keep the items with very low support count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Advantage: Guaranteed error bound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Disadvantage: Keeping a large set of traces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pic>
        <p:nvPicPr>
          <p:cNvPr id="287" name="Google Shape;28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Lossy Counting for Frequent Single Items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675" y="1863050"/>
            <a:ext cx="6400799" cy="304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pic>
        <p:nvPicPr>
          <p:cNvPr id="296" name="Google Shape;29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Approximation Guarantee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Given: (1) support threshold: σ, (2) error threshold: ε, and (3) stream length N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Output: items with frequency counts exceeding (σ – ε) N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much do we undercount?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If stream length seen so far = N and bucket-size = 1/ε then frequency count error ≤ # of buckets = N/bucket-size = N/(1/ε) = εN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Approximation guarantee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No false negatives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False positives have true frequency count at least (σ–ε)N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Frequency count underestimated by at most εN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Issues and Recommended Readings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Other issues on pattern discovery in data streams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Space-saving computation of frequent and top-k elements (Metwally, Agrawal, and El Abbadi, ICDT'05)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Mining approximate frequent k-itemsets in data streams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Mining sequential patterns in data streams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Recommended Readings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G. Manku and R. Motwani, “Approximate Frequency Counts over Data Streams”, VLDB’02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A. Metwally, D. Agrawal, and A. El Abbadi, “Efficient Computation of Frequent and Top-k Elements in Data Streams”, ICDT'05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pic>
        <p:nvPicPr>
          <p:cNvPr id="314" name="Google Shape;31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6" name="Google Shape;316;p31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Discovery for Software Bug Mining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Software is complex, and its runtime data is larger and more complex!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Finding bugs is challenging: Often no clear specifications or properties; need substantial human efforts in analyzing data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Software reliability analysis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Static bug detection: Check the code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Dynamic bug detection or testing: Run the code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Debugging: Given symptoms or failures, pinpoint the bug locations in the code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Why pattern mining?—Code or running sequences contain hidden patterns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Common patterns → likely specification or property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Violations (anomalies comparing to patterns) → likely bugs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Mining patterns to narrow down the scope of inspection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pic>
        <p:nvPicPr>
          <p:cNvPr id="323" name="Google Shape;32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Representation for Visual Pattern Discovery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 image can be characterized by visual primitives, e.g., interest points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Each visual primitive can be described by visual feature, e.g., a highdimensional feature vector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Each image is a collection of visual primitives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7" name="Google Shape;32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688" y="2875600"/>
            <a:ext cx="6008225" cy="21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Advanced Topics on Pattern Discovery</a:t>
            </a:r>
            <a:endParaRPr sz="3600"/>
          </a:p>
        </p:txBody>
      </p:sp>
      <p:pic>
        <p:nvPicPr>
          <p:cNvPr id="333" name="Google Shape;33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762000" y="1184875"/>
            <a:ext cx="62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Mining and Society: Privacy Issues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potential adverse side-effect of data mining—Privacy could be compromised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Privacy and accuracy are typically contradictory in nature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Improving one often incurs a cost on the other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Three categories on privacy issues arising out of data mining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 Input privacy (or data hiding)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Distort or hide data to prevent the miners from reliably extracting confidential or private information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Output privacy (or knowledge hiding)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No disclosure of sensitive patterns or knowledge from datasets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Owner privacy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Does not allow any party to reliably learn the data or sensitive information that the other owners hold (i.e., the source of the data)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342" name="Google Shape;342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Cutting-edge areas: Subgroup, contrast, emerging patterns.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Addressing complex data challenges.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Embracing evolving trends in research.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3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 Pattern Discovery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1119</Words>
  <Application>Microsoft Macintosh PowerPoint</Application>
  <PresentationFormat>On-screen Show (16:9)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Tahoma</vt:lpstr>
      <vt:lpstr>Times New Roman</vt:lpstr>
      <vt:lpstr>Noto Sans Symbols</vt:lpstr>
      <vt:lpstr>Simple Light</vt:lpstr>
      <vt:lpstr>1_Blueprint</vt:lpstr>
      <vt:lpstr>Blueprint</vt:lpstr>
      <vt:lpstr>Chapter 3:  Pattern Discovery in Data Mining</vt:lpstr>
      <vt:lpstr>Advanced Topics on Pattern Discovery</vt:lpstr>
      <vt:lpstr>Advanced Topics on Pattern Discovery</vt:lpstr>
      <vt:lpstr>Advanced Topics on Pattern Discovery</vt:lpstr>
      <vt:lpstr>Advanced Topics on Pattern Discovery</vt:lpstr>
      <vt:lpstr>Advanced Topics on Pattern Discovery</vt:lpstr>
      <vt:lpstr>Advanced Topics on Pattern Discovery</vt:lpstr>
      <vt:lpstr>Advanced Topics on Pattern Discovery</vt:lpstr>
      <vt:lpstr>Advanced Topics on Pattern Discovery</vt:lpstr>
      <vt:lpstr>Advanced Topics on Pattern Discovery</vt:lpstr>
      <vt:lpstr>Advanced Topics on Pattern Discovery</vt:lpstr>
      <vt:lpstr>Advanced Topics on Pattern Discovery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2026-02-27T03:27:40Z</dcterms:modified>
</cp:coreProperties>
</file>