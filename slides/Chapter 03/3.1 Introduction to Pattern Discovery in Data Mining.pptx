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6" r:id="rId1"/>
    <p:sldMasterId id="2147483667" r:id="rId2"/>
    <p:sldMasterId id="2147483668" r:id="rId3"/>
  </p:sldMasterIdLst>
  <p:notesMasterIdLst>
    <p:notesMasterId r:id="rId16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9144000" cy="5143500" type="screen16x9"/>
  <p:notesSz cx="6858000" cy="9144000"/>
  <p:embeddedFontLst>
    <p:embeddedFont>
      <p:font typeface="Noto Sans Symbols" pitchFamily="2" charset="0"/>
      <p:regular r:id="rId17"/>
      <p:bold r:id="rId18"/>
    </p:embeddedFont>
    <p:embeddedFont>
      <p:font typeface="Roboto" panose="02000000000000000000" pitchFamily="2" charset="0"/>
      <p:regular r:id="rId19"/>
      <p:bold r:id="rId20"/>
      <p:italic r:id="rId21"/>
      <p:boldItalic r:id="rId22"/>
    </p:embeddedFont>
    <p:embeddedFont>
      <p:font typeface="Tahoma" panose="020B0604030504040204" pitchFamily="34" charset="0"/>
      <p:regular r:id="rId23"/>
      <p:bold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452"/>
    <p:restoredTop sz="94694"/>
  </p:normalViewPr>
  <p:slideViewPr>
    <p:cSldViewPr snapToGrid="0">
      <p:cViewPr>
        <p:scale>
          <a:sx n="199" d="100"/>
          <a:sy n="199" d="100"/>
        </p:scale>
        <p:origin x="144" y="14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font" Target="fonts/font2.fntdata"/><Relationship Id="rId26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21" Type="http://schemas.openxmlformats.org/officeDocument/2006/relationships/font" Target="fonts/font5.fntdata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font" Target="fonts/font1.fntdata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font" Target="fonts/font8.fntdata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font" Target="fonts/font7.fntdata"/><Relationship Id="rId28" Type="http://schemas.openxmlformats.org/officeDocument/2006/relationships/tableStyles" Target="tableStyles.xml"/><Relationship Id="rId10" Type="http://schemas.openxmlformats.org/officeDocument/2006/relationships/slide" Target="slides/slide7.xml"/><Relationship Id="rId19" Type="http://schemas.openxmlformats.org/officeDocument/2006/relationships/font" Target="fonts/font3.fntdata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font" Target="fonts/font6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2582b55a4a5_0_4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9100" y="687314"/>
            <a:ext cx="6001500" cy="342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2" name="Google Shape;232;g2582b55a4a5_0_419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100" tIns="45550" rIns="91100" bIns="455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g2582b55a4a5_0_419:notes"/>
          <p:cNvSpPr txBox="1"/>
          <p:nvPr/>
        </p:nvSpPr>
        <p:spPr>
          <a:xfrm>
            <a:off x="3886696" y="8686800"/>
            <a:ext cx="2971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100" tIns="45550" rIns="91100" bIns="4555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lang="en-GB" sz="12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1</a:t>
            </a:fld>
            <a:endParaRPr sz="13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2582b55a4a5_0_431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g2582b55a4a5_0_4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4175" y="687388"/>
            <a:ext cx="6091238" cy="34274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2399c3edca6_0_0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g2399c3edca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4175" y="687388"/>
            <a:ext cx="6091238" cy="34274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22f073c1c99_1_2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g22f073c1c99_1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9100" y="687314"/>
            <a:ext cx="6001500" cy="342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22f073c1c99_1_12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g22f073c1c99_1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9100" y="687314"/>
            <a:ext cx="6001500" cy="342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2399c3edca6_0_21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" name="Google Shape;278;g2399c3edca6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4175" y="687388"/>
            <a:ext cx="6091238" cy="34274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25f144436ef_0_0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g25f144436e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9100" y="687314"/>
            <a:ext cx="6001500" cy="342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22f073c1c99_1_22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8" name="Google Shape;298;g22f073c1c99_1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4175" y="687388"/>
            <a:ext cx="6091238" cy="34274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2399c3edca6_0_35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2399c3edca6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9100" y="687314"/>
            <a:ext cx="6001500" cy="342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2399c3edca6_0_44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" name="Google Shape;316;g2399c3edca6_0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9100" y="687314"/>
            <a:ext cx="6001500" cy="342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2399c3edca6_1_0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5" name="Google Shape;325;g2399c3edca6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9100" y="687314"/>
            <a:ext cx="6001500" cy="342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24c7045ec0e_0_0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4" name="Google Shape;334;g24c7045ec0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9100" y="687314"/>
            <a:ext cx="6001500" cy="342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Text and Chart" type="txAndChart">
  <p:cSld name="TEXT_AND_CHAR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8382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97180" algn="l" rtl="0">
              <a:spcBef>
                <a:spcPts val="360"/>
              </a:spcBef>
              <a:spcAft>
                <a:spcPts val="0"/>
              </a:spcAft>
              <a:buSzPts val="1080"/>
              <a:buChar char="●"/>
              <a:defRPr/>
            </a:lvl1pPr>
            <a:lvl2pPr marL="914400" lvl="1" indent="-297180" algn="l" rtl="0">
              <a:spcBef>
                <a:spcPts val="360"/>
              </a:spcBef>
              <a:spcAft>
                <a:spcPts val="0"/>
              </a:spcAft>
              <a:buSzPts val="1080"/>
              <a:buChar char="○"/>
              <a:defRPr/>
            </a:lvl2pPr>
            <a:lvl3pPr marL="1371600" lvl="2" indent="-337185" algn="l" rtl="0">
              <a:spcBef>
                <a:spcPts val="360"/>
              </a:spcBef>
              <a:spcAft>
                <a:spcPts val="0"/>
              </a:spcAft>
              <a:buSzPts val="1710"/>
              <a:buChar char="■"/>
              <a:defRPr/>
            </a:lvl3pPr>
            <a:lvl4pPr marL="1828800" lvl="3" indent="-302894" algn="l" rtl="0">
              <a:spcBef>
                <a:spcPts val="360"/>
              </a:spcBef>
              <a:spcAft>
                <a:spcPts val="0"/>
              </a:spcAft>
              <a:buSzPts val="1170"/>
              <a:buChar char="●"/>
              <a:defRPr/>
            </a:lvl4pPr>
            <a:lvl5pPr marL="2286000" lvl="4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○"/>
              <a:defRPr/>
            </a:lvl5pPr>
            <a:lvl6pPr marL="2743200" lvl="5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marL="3200400" lvl="6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●"/>
              <a:defRPr/>
            </a:lvl7pPr>
            <a:lvl8pPr marL="3657600" lvl="7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○"/>
              <a:defRPr/>
            </a:lvl8pPr>
            <a:lvl9pPr marL="4114800" lvl="8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>
            <a:spLocks noGrp="1"/>
          </p:cNvSpPr>
          <p:nvPr>
            <p:ph type="chart" idx="2"/>
          </p:nvPr>
        </p:nvSpPr>
        <p:spPr>
          <a:xfrm>
            <a:off x="48006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Char char="❑"/>
              <a:defRPr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Char char="■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280"/>
              <a:buFont typeface="Noto Sans Symbols"/>
              <a:buChar char="⬥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dt" idx="10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ftr" idx="11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3"/>
          <p:cNvSpPr txBox="1">
            <a:spLocks noGrp="1"/>
          </p:cNvSpPr>
          <p:nvPr>
            <p:ph type="sldNum" idx="12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5"/>
          <p:cNvSpPr txBox="1">
            <a:spLocks noGrp="1"/>
          </p:cNvSpPr>
          <p:nvPr>
            <p:ph type="ctrTitle"/>
          </p:nvPr>
        </p:nvSpPr>
        <p:spPr>
          <a:xfrm>
            <a:off x="990600" y="131445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15" descr="Rectangle: Click to edit Master text styles&#10;Second level&#10;Third level&#10;Fourth level&#10;Fifth level"/>
          <p:cNvSpPr txBox="1">
            <a:spLocks noGrp="1"/>
          </p:cNvSpPr>
          <p:nvPr>
            <p:ph type="subTitle" idx="1"/>
          </p:nvPr>
        </p:nvSpPr>
        <p:spPr>
          <a:xfrm>
            <a:off x="990600" y="2482453"/>
            <a:ext cx="6400800" cy="13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640"/>
              </a:spcBef>
              <a:spcAft>
                <a:spcPts val="0"/>
              </a:spcAft>
              <a:buSzPts val="1920"/>
              <a:buFont typeface="Noto Sans Symbols"/>
              <a:buNone/>
              <a:defRPr/>
            </a:lvl1pPr>
            <a:lvl2pPr lvl="1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lvl="2" algn="l" rtl="0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lvl="3" algn="l" rtl="0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lvl="4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lvl="5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lvl="6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lvl="7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lvl="8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>
            <a:endParaRPr/>
          </a:p>
        </p:txBody>
      </p:sp>
      <p:sp>
        <p:nvSpPr>
          <p:cNvPr id="130" name="Google Shape;130;p15"/>
          <p:cNvSpPr txBox="1">
            <a:spLocks noGrp="1"/>
          </p:cNvSpPr>
          <p:nvPr>
            <p:ph type="sldNum" idx="12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1" name="Google Shape;131;p15"/>
          <p:cNvSpPr txBox="1">
            <a:spLocks noGrp="1"/>
          </p:cNvSpPr>
          <p:nvPr>
            <p:ph type="dt" idx="10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Text and Chart" type="txAndChart">
  <p:cSld name="TEXT_AND_CHART"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7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1" name="Google Shape;201;p17"/>
          <p:cNvSpPr txBox="1">
            <a:spLocks noGrp="1"/>
          </p:cNvSpPr>
          <p:nvPr>
            <p:ph type="body" idx="1"/>
          </p:nvPr>
        </p:nvSpPr>
        <p:spPr>
          <a:xfrm>
            <a:off x="8382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97180" algn="l" rtl="0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1pPr>
            <a:lvl2pPr marL="914400" lvl="1" indent="-297180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marL="1371600" lvl="2" indent="-337185" algn="l" rtl="0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marL="1828800" lvl="3" indent="-302894" algn="l" rtl="0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marL="2286000" lvl="4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marL="2743200" lvl="5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marL="3200400" lvl="6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marL="3657600" lvl="7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marL="4114800" lvl="8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>
            <a:endParaRPr/>
          </a:p>
        </p:txBody>
      </p:sp>
      <p:sp>
        <p:nvSpPr>
          <p:cNvPr id="202" name="Google Shape;202;p17"/>
          <p:cNvSpPr>
            <a:spLocks noGrp="1"/>
          </p:cNvSpPr>
          <p:nvPr>
            <p:ph type="chart" idx="2"/>
          </p:nvPr>
        </p:nvSpPr>
        <p:spPr>
          <a:xfrm>
            <a:off x="48006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Char char="❑"/>
              <a:defRPr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Char char="■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280"/>
              <a:buFont typeface="Noto Sans Symbols"/>
              <a:buChar char="⬥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203" name="Google Shape;203;p17"/>
          <p:cNvSpPr txBox="1">
            <a:spLocks noGrp="1"/>
          </p:cNvSpPr>
          <p:nvPr>
            <p:ph type="dt" idx="10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4" name="Google Shape;204;p17"/>
          <p:cNvSpPr txBox="1">
            <a:spLocks noGrp="1"/>
          </p:cNvSpPr>
          <p:nvPr>
            <p:ph type="ftr" idx="11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5" name="Google Shape;205;p17"/>
          <p:cNvSpPr txBox="1">
            <a:spLocks noGrp="1"/>
          </p:cNvSpPr>
          <p:nvPr>
            <p:ph type="sldNum" idx="12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Text, and Content" type="txAndObj">
  <p:cSld name="TEXT_AND_OBJECT"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8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8" name="Google Shape;208;p18"/>
          <p:cNvSpPr txBox="1">
            <a:spLocks noGrp="1"/>
          </p:cNvSpPr>
          <p:nvPr>
            <p:ph type="body" idx="1"/>
          </p:nvPr>
        </p:nvSpPr>
        <p:spPr>
          <a:xfrm>
            <a:off x="8382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97180" algn="l" rtl="0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1pPr>
            <a:lvl2pPr marL="914400" lvl="1" indent="-297180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marL="1371600" lvl="2" indent="-337185" algn="l" rtl="0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marL="1828800" lvl="3" indent="-302894" algn="l" rtl="0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marL="2286000" lvl="4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marL="2743200" lvl="5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marL="3200400" lvl="6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marL="3657600" lvl="7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marL="4114800" lvl="8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>
            <a:endParaRPr/>
          </a:p>
        </p:txBody>
      </p:sp>
      <p:sp>
        <p:nvSpPr>
          <p:cNvPr id="209" name="Google Shape;209;p18"/>
          <p:cNvSpPr txBox="1">
            <a:spLocks noGrp="1"/>
          </p:cNvSpPr>
          <p:nvPr>
            <p:ph type="body" idx="2"/>
          </p:nvPr>
        </p:nvSpPr>
        <p:spPr>
          <a:xfrm>
            <a:off x="48006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97180" algn="l" rtl="0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1pPr>
            <a:lvl2pPr marL="914400" lvl="1" indent="-297180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marL="1371600" lvl="2" indent="-337185" algn="l" rtl="0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marL="1828800" lvl="3" indent="-302894" algn="l" rtl="0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marL="2286000" lvl="4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marL="2743200" lvl="5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marL="3200400" lvl="6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marL="3657600" lvl="7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marL="4114800" lvl="8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>
            <a:endParaRPr/>
          </a:p>
        </p:txBody>
      </p:sp>
      <p:sp>
        <p:nvSpPr>
          <p:cNvPr id="210" name="Google Shape;210;p18"/>
          <p:cNvSpPr txBox="1">
            <a:spLocks noGrp="1"/>
          </p:cNvSpPr>
          <p:nvPr>
            <p:ph type="dt" idx="10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1" name="Google Shape;211;p18"/>
          <p:cNvSpPr txBox="1">
            <a:spLocks noGrp="1"/>
          </p:cNvSpPr>
          <p:nvPr>
            <p:ph type="ftr" idx="11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2" name="Google Shape;212;p18"/>
          <p:cNvSpPr txBox="1">
            <a:spLocks noGrp="1"/>
          </p:cNvSpPr>
          <p:nvPr>
            <p:ph type="sldNum" idx="12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9"/>
          <p:cNvSpPr txBox="1">
            <a:spLocks noGrp="1"/>
          </p:cNvSpPr>
          <p:nvPr>
            <p:ph type="dt" idx="10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5" name="Google Shape;215;p19"/>
          <p:cNvSpPr txBox="1">
            <a:spLocks noGrp="1"/>
          </p:cNvSpPr>
          <p:nvPr>
            <p:ph type="ftr" idx="11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6" name="Google Shape;216;p19"/>
          <p:cNvSpPr txBox="1">
            <a:spLocks noGrp="1"/>
          </p:cNvSpPr>
          <p:nvPr>
            <p:ph type="sldNum" idx="12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0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9" name="Google Shape;219;p20"/>
          <p:cNvSpPr txBox="1">
            <a:spLocks noGrp="1"/>
          </p:cNvSpPr>
          <p:nvPr>
            <p:ph type="body" idx="1"/>
          </p:nvPr>
        </p:nvSpPr>
        <p:spPr>
          <a:xfrm>
            <a:off x="8382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35280" algn="l" rtl="0">
              <a:spcBef>
                <a:spcPts val="560"/>
              </a:spcBef>
              <a:spcAft>
                <a:spcPts val="0"/>
              </a:spcAft>
              <a:buSzPts val="1680"/>
              <a:buChar char="❑"/>
              <a:defRPr sz="2800"/>
            </a:lvl1pPr>
            <a:lvl2pPr marL="914400" lvl="1" indent="-320040" algn="l" rtl="0">
              <a:spcBef>
                <a:spcPts val="480"/>
              </a:spcBef>
              <a:spcAft>
                <a:spcPts val="0"/>
              </a:spcAft>
              <a:buSzPts val="1440"/>
              <a:buChar char="■"/>
              <a:defRPr sz="2400"/>
            </a:lvl2pPr>
            <a:lvl3pPr marL="1371600" lvl="2" indent="-349250" algn="l" rtl="0">
              <a:spcBef>
                <a:spcPts val="400"/>
              </a:spcBef>
              <a:spcAft>
                <a:spcPts val="0"/>
              </a:spcAft>
              <a:buSzPts val="1900"/>
              <a:buChar char="⬥"/>
              <a:defRPr sz="2000"/>
            </a:lvl3pPr>
            <a:lvl4pPr marL="1828800" lvl="3" indent="-302894" algn="l" rtl="0">
              <a:spcBef>
                <a:spcPts val="360"/>
              </a:spcBef>
              <a:spcAft>
                <a:spcPts val="0"/>
              </a:spcAft>
              <a:buSzPts val="1170"/>
              <a:buChar char="■"/>
              <a:defRPr sz="1800"/>
            </a:lvl4pPr>
            <a:lvl5pPr marL="2286000" lvl="4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5pPr>
            <a:lvl6pPr marL="2743200" lvl="5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6pPr>
            <a:lvl7pPr marL="3200400" lvl="6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7pPr>
            <a:lvl8pPr marL="3657600" lvl="7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8pPr>
            <a:lvl9pPr marL="4114800" lvl="8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9pPr>
          </a:lstStyle>
          <a:p>
            <a:endParaRPr/>
          </a:p>
        </p:txBody>
      </p:sp>
      <p:sp>
        <p:nvSpPr>
          <p:cNvPr id="220" name="Google Shape;220;p20"/>
          <p:cNvSpPr txBox="1">
            <a:spLocks noGrp="1"/>
          </p:cNvSpPr>
          <p:nvPr>
            <p:ph type="body" idx="2"/>
          </p:nvPr>
        </p:nvSpPr>
        <p:spPr>
          <a:xfrm>
            <a:off x="48006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35280" algn="l" rtl="0">
              <a:spcBef>
                <a:spcPts val="560"/>
              </a:spcBef>
              <a:spcAft>
                <a:spcPts val="0"/>
              </a:spcAft>
              <a:buSzPts val="1680"/>
              <a:buChar char="❑"/>
              <a:defRPr sz="2800"/>
            </a:lvl1pPr>
            <a:lvl2pPr marL="914400" lvl="1" indent="-320040" algn="l" rtl="0">
              <a:spcBef>
                <a:spcPts val="480"/>
              </a:spcBef>
              <a:spcAft>
                <a:spcPts val="0"/>
              </a:spcAft>
              <a:buSzPts val="1440"/>
              <a:buChar char="■"/>
              <a:defRPr sz="2400"/>
            </a:lvl2pPr>
            <a:lvl3pPr marL="1371600" lvl="2" indent="-349250" algn="l" rtl="0">
              <a:spcBef>
                <a:spcPts val="400"/>
              </a:spcBef>
              <a:spcAft>
                <a:spcPts val="0"/>
              </a:spcAft>
              <a:buSzPts val="1900"/>
              <a:buChar char="⬥"/>
              <a:defRPr sz="2000"/>
            </a:lvl3pPr>
            <a:lvl4pPr marL="1828800" lvl="3" indent="-302894" algn="l" rtl="0">
              <a:spcBef>
                <a:spcPts val="360"/>
              </a:spcBef>
              <a:spcAft>
                <a:spcPts val="0"/>
              </a:spcAft>
              <a:buSzPts val="1170"/>
              <a:buChar char="■"/>
              <a:defRPr sz="1800"/>
            </a:lvl4pPr>
            <a:lvl5pPr marL="2286000" lvl="4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5pPr>
            <a:lvl6pPr marL="2743200" lvl="5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6pPr>
            <a:lvl7pPr marL="3200400" lvl="6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7pPr>
            <a:lvl8pPr marL="3657600" lvl="7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8pPr>
            <a:lvl9pPr marL="4114800" lvl="8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9pPr>
          </a:lstStyle>
          <a:p>
            <a:endParaRPr/>
          </a:p>
        </p:txBody>
      </p:sp>
      <p:sp>
        <p:nvSpPr>
          <p:cNvPr id="221" name="Google Shape;221;p20"/>
          <p:cNvSpPr txBox="1">
            <a:spLocks noGrp="1"/>
          </p:cNvSpPr>
          <p:nvPr>
            <p:ph type="dt" idx="10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2" name="Google Shape;222;p20"/>
          <p:cNvSpPr txBox="1">
            <a:spLocks noGrp="1"/>
          </p:cNvSpPr>
          <p:nvPr>
            <p:ph type="ftr" idx="11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3" name="Google Shape;223;p20"/>
          <p:cNvSpPr txBox="1">
            <a:spLocks noGrp="1"/>
          </p:cNvSpPr>
          <p:nvPr>
            <p:ph type="sldNum" idx="12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1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6" name="Google Shape;226;p21"/>
          <p:cNvSpPr txBox="1">
            <a:spLocks noGrp="1"/>
          </p:cNvSpPr>
          <p:nvPr>
            <p:ph type="body" idx="1"/>
          </p:nvPr>
        </p:nvSpPr>
        <p:spPr>
          <a:xfrm>
            <a:off x="838200" y="1428750"/>
            <a:ext cx="77724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97180" algn="l" rtl="0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1pPr>
            <a:lvl2pPr marL="914400" lvl="1" indent="-297180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marL="1371600" lvl="2" indent="-337185" algn="l" rtl="0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marL="1828800" lvl="3" indent="-302894" algn="l" rtl="0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marL="2286000" lvl="4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marL="2743200" lvl="5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marL="3200400" lvl="6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marL="3657600" lvl="7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marL="4114800" lvl="8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>
            <a:endParaRPr/>
          </a:p>
        </p:txBody>
      </p:sp>
      <p:sp>
        <p:nvSpPr>
          <p:cNvPr id="227" name="Google Shape;227;p21"/>
          <p:cNvSpPr txBox="1">
            <a:spLocks noGrp="1"/>
          </p:cNvSpPr>
          <p:nvPr>
            <p:ph type="dt" idx="10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8" name="Google Shape;228;p21"/>
          <p:cNvSpPr txBox="1">
            <a:spLocks noGrp="1"/>
          </p:cNvSpPr>
          <p:nvPr>
            <p:ph type="ftr" idx="11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9" name="Google Shape;229;p21"/>
          <p:cNvSpPr txBox="1">
            <a:spLocks noGrp="1"/>
          </p:cNvSpPr>
          <p:nvPr>
            <p:ph type="sldNum" idx="12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3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Google Shape;58;p14"/>
          <p:cNvGrpSpPr/>
          <p:nvPr/>
        </p:nvGrpSpPr>
        <p:grpSpPr>
          <a:xfrm>
            <a:off x="-136525" y="0"/>
            <a:ext cx="9204325" cy="5029200"/>
            <a:chOff x="-86" y="0"/>
            <a:chExt cx="5798" cy="4224"/>
          </a:xfrm>
        </p:grpSpPr>
        <p:grpSp>
          <p:nvGrpSpPr>
            <p:cNvPr id="59" name="Google Shape;59;p14"/>
            <p:cNvGrpSpPr/>
            <p:nvPr/>
          </p:nvGrpSpPr>
          <p:grpSpPr>
            <a:xfrm>
              <a:off x="0" y="0"/>
              <a:ext cx="5712" cy="4224"/>
              <a:chOff x="0" y="0"/>
              <a:chExt cx="5712" cy="4224"/>
            </a:xfrm>
          </p:grpSpPr>
          <p:sp>
            <p:nvSpPr>
              <p:cNvPr id="60" name="Google Shape;60;p14"/>
              <p:cNvSpPr txBox="1"/>
              <p:nvPr/>
            </p:nvSpPr>
            <p:spPr>
              <a:xfrm>
                <a:off x="2112" y="0"/>
                <a:ext cx="3600" cy="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grpSp>
            <p:nvGrpSpPr>
              <p:cNvPr id="61" name="Google Shape;61;p14"/>
              <p:cNvGrpSpPr/>
              <p:nvPr/>
            </p:nvGrpSpPr>
            <p:grpSpPr>
              <a:xfrm>
                <a:off x="0" y="0"/>
                <a:ext cx="5700" cy="4224"/>
                <a:chOff x="0" y="0"/>
                <a:chExt cx="5700" cy="4224"/>
              </a:xfrm>
            </p:grpSpPr>
            <p:cxnSp>
              <p:nvCxnSpPr>
                <p:cNvPr id="62" name="Google Shape;62;p14"/>
                <p:cNvCxnSpPr/>
                <p:nvPr/>
              </p:nvCxnSpPr>
              <p:spPr>
                <a:xfrm>
                  <a:off x="0" y="192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63" name="Google Shape;63;p14"/>
                <p:cNvCxnSpPr/>
                <p:nvPr/>
              </p:nvCxnSpPr>
              <p:spPr>
                <a:xfrm>
                  <a:off x="0" y="384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64" name="Google Shape;64;p14"/>
                <p:cNvCxnSpPr/>
                <p:nvPr/>
              </p:nvCxnSpPr>
              <p:spPr>
                <a:xfrm>
                  <a:off x="0" y="576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65" name="Google Shape;65;p14"/>
                <p:cNvCxnSpPr/>
                <p:nvPr/>
              </p:nvCxnSpPr>
              <p:spPr>
                <a:xfrm>
                  <a:off x="0" y="768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66" name="Google Shape;66;p14"/>
                <p:cNvCxnSpPr/>
                <p:nvPr/>
              </p:nvCxnSpPr>
              <p:spPr>
                <a:xfrm>
                  <a:off x="0" y="960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67" name="Google Shape;67;p14"/>
                <p:cNvCxnSpPr/>
                <p:nvPr/>
              </p:nvCxnSpPr>
              <p:spPr>
                <a:xfrm>
                  <a:off x="0" y="1152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68" name="Google Shape;68;p14"/>
                <p:cNvCxnSpPr/>
                <p:nvPr/>
              </p:nvCxnSpPr>
              <p:spPr>
                <a:xfrm>
                  <a:off x="0" y="1344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69" name="Google Shape;69;p14"/>
                <p:cNvCxnSpPr/>
                <p:nvPr/>
              </p:nvCxnSpPr>
              <p:spPr>
                <a:xfrm>
                  <a:off x="0" y="1536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70" name="Google Shape;70;p14"/>
                <p:cNvCxnSpPr/>
                <p:nvPr/>
              </p:nvCxnSpPr>
              <p:spPr>
                <a:xfrm>
                  <a:off x="0" y="1728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71" name="Google Shape;71;p14"/>
                <p:cNvCxnSpPr/>
                <p:nvPr/>
              </p:nvCxnSpPr>
              <p:spPr>
                <a:xfrm>
                  <a:off x="0" y="1920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72" name="Google Shape;72;p14"/>
                <p:cNvCxnSpPr/>
                <p:nvPr/>
              </p:nvCxnSpPr>
              <p:spPr>
                <a:xfrm>
                  <a:off x="0" y="2112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73" name="Google Shape;73;p14"/>
                <p:cNvCxnSpPr/>
                <p:nvPr/>
              </p:nvCxnSpPr>
              <p:spPr>
                <a:xfrm>
                  <a:off x="0" y="2304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74" name="Google Shape;74;p14"/>
                <p:cNvCxnSpPr/>
                <p:nvPr/>
              </p:nvCxnSpPr>
              <p:spPr>
                <a:xfrm>
                  <a:off x="0" y="2496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75" name="Google Shape;75;p14"/>
                <p:cNvCxnSpPr/>
                <p:nvPr/>
              </p:nvCxnSpPr>
              <p:spPr>
                <a:xfrm>
                  <a:off x="0" y="2688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76" name="Google Shape;76;p14"/>
                <p:cNvCxnSpPr/>
                <p:nvPr/>
              </p:nvCxnSpPr>
              <p:spPr>
                <a:xfrm>
                  <a:off x="0" y="2880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77" name="Google Shape;77;p14"/>
                <p:cNvCxnSpPr/>
                <p:nvPr/>
              </p:nvCxnSpPr>
              <p:spPr>
                <a:xfrm>
                  <a:off x="0" y="3072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78" name="Google Shape;78;p14"/>
                <p:cNvCxnSpPr/>
                <p:nvPr/>
              </p:nvCxnSpPr>
              <p:spPr>
                <a:xfrm>
                  <a:off x="0" y="3264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79" name="Google Shape;79;p14"/>
                <p:cNvCxnSpPr/>
                <p:nvPr/>
              </p:nvCxnSpPr>
              <p:spPr>
                <a:xfrm>
                  <a:off x="0" y="3456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80" name="Google Shape;80;p14"/>
                <p:cNvCxnSpPr/>
                <p:nvPr/>
              </p:nvCxnSpPr>
              <p:spPr>
                <a:xfrm>
                  <a:off x="0" y="3648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81" name="Google Shape;81;p14"/>
                <p:cNvCxnSpPr/>
                <p:nvPr/>
              </p:nvCxnSpPr>
              <p:spPr>
                <a:xfrm>
                  <a:off x="0" y="3840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82" name="Google Shape;82;p14"/>
                <p:cNvCxnSpPr/>
                <p:nvPr/>
              </p:nvCxnSpPr>
              <p:spPr>
                <a:xfrm>
                  <a:off x="0" y="4032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83" name="Google Shape;83;p14"/>
                <p:cNvCxnSpPr/>
                <p:nvPr/>
              </p:nvCxnSpPr>
              <p:spPr>
                <a:xfrm>
                  <a:off x="0" y="4224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84" name="Google Shape;84;p14"/>
                <p:cNvCxnSpPr/>
                <p:nvPr/>
              </p:nvCxnSpPr>
              <p:spPr>
                <a:xfrm>
                  <a:off x="192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85" name="Google Shape;85;p14"/>
                <p:cNvCxnSpPr/>
                <p:nvPr/>
              </p:nvCxnSpPr>
              <p:spPr>
                <a:xfrm>
                  <a:off x="384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86" name="Google Shape;86;p14"/>
                <p:cNvCxnSpPr/>
                <p:nvPr/>
              </p:nvCxnSpPr>
              <p:spPr>
                <a:xfrm>
                  <a:off x="576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87" name="Google Shape;87;p14"/>
                <p:cNvCxnSpPr/>
                <p:nvPr/>
              </p:nvCxnSpPr>
              <p:spPr>
                <a:xfrm>
                  <a:off x="768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88" name="Google Shape;88;p14"/>
                <p:cNvCxnSpPr/>
                <p:nvPr/>
              </p:nvCxnSpPr>
              <p:spPr>
                <a:xfrm>
                  <a:off x="960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89" name="Google Shape;89;p14"/>
                <p:cNvCxnSpPr/>
                <p:nvPr/>
              </p:nvCxnSpPr>
              <p:spPr>
                <a:xfrm>
                  <a:off x="1152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90" name="Google Shape;90;p14"/>
                <p:cNvCxnSpPr/>
                <p:nvPr/>
              </p:nvCxnSpPr>
              <p:spPr>
                <a:xfrm>
                  <a:off x="1344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91" name="Google Shape;91;p14"/>
                <p:cNvCxnSpPr/>
                <p:nvPr/>
              </p:nvCxnSpPr>
              <p:spPr>
                <a:xfrm>
                  <a:off x="1536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92" name="Google Shape;92;p14"/>
                <p:cNvCxnSpPr/>
                <p:nvPr/>
              </p:nvCxnSpPr>
              <p:spPr>
                <a:xfrm>
                  <a:off x="1728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93" name="Google Shape;93;p14"/>
                <p:cNvCxnSpPr/>
                <p:nvPr/>
              </p:nvCxnSpPr>
              <p:spPr>
                <a:xfrm>
                  <a:off x="1920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94" name="Google Shape;94;p14"/>
                <p:cNvCxnSpPr/>
                <p:nvPr/>
              </p:nvCxnSpPr>
              <p:spPr>
                <a:xfrm>
                  <a:off x="2112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95" name="Google Shape;95;p14"/>
                <p:cNvCxnSpPr/>
                <p:nvPr/>
              </p:nvCxnSpPr>
              <p:spPr>
                <a:xfrm>
                  <a:off x="2304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96" name="Google Shape;96;p14"/>
                <p:cNvCxnSpPr/>
                <p:nvPr/>
              </p:nvCxnSpPr>
              <p:spPr>
                <a:xfrm>
                  <a:off x="2496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97" name="Google Shape;97;p14"/>
                <p:cNvCxnSpPr/>
                <p:nvPr/>
              </p:nvCxnSpPr>
              <p:spPr>
                <a:xfrm>
                  <a:off x="2688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98" name="Google Shape;98;p14"/>
                <p:cNvCxnSpPr/>
                <p:nvPr/>
              </p:nvCxnSpPr>
              <p:spPr>
                <a:xfrm>
                  <a:off x="2880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99" name="Google Shape;99;p14"/>
                <p:cNvCxnSpPr/>
                <p:nvPr/>
              </p:nvCxnSpPr>
              <p:spPr>
                <a:xfrm>
                  <a:off x="3072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00" name="Google Shape;100;p14"/>
                <p:cNvCxnSpPr/>
                <p:nvPr/>
              </p:nvCxnSpPr>
              <p:spPr>
                <a:xfrm>
                  <a:off x="3264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01" name="Google Shape;101;p14"/>
                <p:cNvCxnSpPr/>
                <p:nvPr/>
              </p:nvCxnSpPr>
              <p:spPr>
                <a:xfrm>
                  <a:off x="3456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02" name="Google Shape;102;p14"/>
                <p:cNvCxnSpPr/>
                <p:nvPr/>
              </p:nvCxnSpPr>
              <p:spPr>
                <a:xfrm>
                  <a:off x="3648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03" name="Google Shape;103;p14"/>
                <p:cNvCxnSpPr/>
                <p:nvPr/>
              </p:nvCxnSpPr>
              <p:spPr>
                <a:xfrm>
                  <a:off x="3840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04" name="Google Shape;104;p14"/>
                <p:cNvCxnSpPr/>
                <p:nvPr/>
              </p:nvCxnSpPr>
              <p:spPr>
                <a:xfrm>
                  <a:off x="4032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05" name="Google Shape;105;p14"/>
                <p:cNvCxnSpPr/>
                <p:nvPr/>
              </p:nvCxnSpPr>
              <p:spPr>
                <a:xfrm>
                  <a:off x="4224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06" name="Google Shape;106;p14"/>
                <p:cNvCxnSpPr/>
                <p:nvPr/>
              </p:nvCxnSpPr>
              <p:spPr>
                <a:xfrm>
                  <a:off x="4416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07" name="Google Shape;107;p14"/>
                <p:cNvCxnSpPr/>
                <p:nvPr/>
              </p:nvCxnSpPr>
              <p:spPr>
                <a:xfrm>
                  <a:off x="4608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08" name="Google Shape;108;p14"/>
                <p:cNvCxnSpPr/>
                <p:nvPr/>
              </p:nvCxnSpPr>
              <p:spPr>
                <a:xfrm>
                  <a:off x="4800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09" name="Google Shape;109;p14"/>
                <p:cNvCxnSpPr/>
                <p:nvPr/>
              </p:nvCxnSpPr>
              <p:spPr>
                <a:xfrm>
                  <a:off x="4992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10" name="Google Shape;110;p14"/>
                <p:cNvCxnSpPr/>
                <p:nvPr/>
              </p:nvCxnSpPr>
              <p:spPr>
                <a:xfrm>
                  <a:off x="5184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11" name="Google Shape;111;p14"/>
                <p:cNvCxnSpPr/>
                <p:nvPr/>
              </p:nvCxnSpPr>
              <p:spPr>
                <a:xfrm>
                  <a:off x="5376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12" name="Google Shape;112;p14"/>
                <p:cNvCxnSpPr/>
                <p:nvPr/>
              </p:nvCxnSpPr>
              <p:spPr>
                <a:xfrm>
                  <a:off x="5568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</p:grpSp>
          <p:cxnSp>
            <p:nvCxnSpPr>
              <p:cNvPr id="113" name="Google Shape;113;p14"/>
              <p:cNvCxnSpPr/>
              <p:nvPr/>
            </p:nvCxnSpPr>
            <p:spPr>
              <a:xfrm>
                <a:off x="5568" y="0"/>
                <a:ext cx="0" cy="1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hlink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</p:grpSp>
        <p:grpSp>
          <p:nvGrpSpPr>
            <p:cNvPr id="114" name="Google Shape;114;p14"/>
            <p:cNvGrpSpPr/>
            <p:nvPr/>
          </p:nvGrpSpPr>
          <p:grpSpPr>
            <a:xfrm>
              <a:off x="-86" y="559"/>
              <a:ext cx="4281" cy="1800"/>
              <a:chOff x="-86" y="559"/>
              <a:chExt cx="4281" cy="1800"/>
            </a:xfrm>
          </p:grpSpPr>
          <p:cxnSp>
            <p:nvCxnSpPr>
              <p:cNvPr id="115" name="Google Shape;115;p14"/>
              <p:cNvCxnSpPr/>
              <p:nvPr/>
            </p:nvCxnSpPr>
            <p:spPr>
              <a:xfrm>
                <a:off x="506" y="559"/>
                <a:ext cx="0" cy="1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hlink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116" name="Google Shape;116;p14"/>
              <p:cNvCxnSpPr/>
              <p:nvPr/>
            </p:nvCxnSpPr>
            <p:spPr>
              <a:xfrm rot="10800000">
                <a:off x="-86" y="1925"/>
                <a:ext cx="3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hlink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117" name="Google Shape;117;p14"/>
              <p:cNvCxnSpPr/>
              <p:nvPr/>
            </p:nvCxnSpPr>
            <p:spPr>
              <a:xfrm rot="10800000">
                <a:off x="295" y="939"/>
                <a:ext cx="3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hlink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sp>
            <p:nvSpPr>
              <p:cNvPr id="118" name="Google Shape;118;p14"/>
              <p:cNvSpPr/>
              <p:nvPr/>
            </p:nvSpPr>
            <p:spPr>
              <a:xfrm rot="-5400000" flipH="1">
                <a:off x="425" y="860"/>
                <a:ext cx="108" cy="108"/>
              </a:xfrm>
              <a:custGeom>
                <a:avLst/>
                <a:gdLst/>
                <a:ahLst/>
                <a:cxnLst/>
                <a:rect l="l" t="t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hlink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grpSp>
          <p:nvGrpSpPr>
            <p:cNvPr id="119" name="Google Shape;119;p14"/>
            <p:cNvGrpSpPr/>
            <p:nvPr/>
          </p:nvGrpSpPr>
          <p:grpSpPr>
            <a:xfrm>
              <a:off x="1480" y="1952"/>
              <a:ext cx="3900" cy="1800"/>
              <a:chOff x="1480" y="1952"/>
              <a:chExt cx="3900" cy="1800"/>
            </a:xfrm>
          </p:grpSpPr>
          <p:cxnSp>
            <p:nvCxnSpPr>
              <p:cNvPr id="120" name="Google Shape;120;p14"/>
              <p:cNvCxnSpPr/>
              <p:nvPr/>
            </p:nvCxnSpPr>
            <p:spPr>
              <a:xfrm>
                <a:off x="1480" y="3442"/>
                <a:ext cx="3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hlink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121" name="Google Shape;121;p14"/>
              <p:cNvCxnSpPr/>
              <p:nvPr/>
            </p:nvCxnSpPr>
            <p:spPr>
              <a:xfrm>
                <a:off x="5172" y="1952"/>
                <a:ext cx="0" cy="1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hlink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sp>
            <p:nvSpPr>
              <p:cNvPr id="122" name="Google Shape;122;p14"/>
              <p:cNvSpPr/>
              <p:nvPr/>
            </p:nvSpPr>
            <p:spPr>
              <a:xfrm rot="5400000">
                <a:off x="5145" y="3347"/>
                <a:ext cx="108" cy="108"/>
              </a:xfrm>
              <a:custGeom>
                <a:avLst/>
                <a:gdLst/>
                <a:ahLst/>
                <a:cxnLst/>
                <a:rect l="l" t="t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hlink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</p:grpSp>
      <p:sp>
        <p:nvSpPr>
          <p:cNvPr id="123" name="Google Shape;123;p14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24" name="Google Shape;124;p14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838200" y="1428750"/>
            <a:ext cx="77724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5052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Char char="❑"/>
              <a:defRPr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3528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Char char="■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73380" algn="l" rtl="0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280"/>
              <a:buFont typeface="Noto Sans Symbols"/>
              <a:buChar char="⬥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111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048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048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048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048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048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25" name="Google Shape;125;p14"/>
          <p:cNvSpPr txBox="1">
            <a:spLocks noGrp="1"/>
          </p:cNvSpPr>
          <p:nvPr>
            <p:ph type="sldNum" idx="12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14"/>
          <p:cNvSpPr txBox="1">
            <a:spLocks noGrp="1"/>
          </p:cNvSpPr>
          <p:nvPr>
            <p:ph type="dt" idx="10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0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" name="Google Shape;133;p16"/>
          <p:cNvGrpSpPr/>
          <p:nvPr/>
        </p:nvGrpSpPr>
        <p:grpSpPr>
          <a:xfrm>
            <a:off x="0" y="0"/>
            <a:ext cx="9067800" cy="5029200"/>
            <a:chOff x="0" y="0"/>
            <a:chExt cx="5712" cy="4224"/>
          </a:xfrm>
        </p:grpSpPr>
        <p:grpSp>
          <p:nvGrpSpPr>
            <p:cNvPr id="134" name="Google Shape;134;p16"/>
            <p:cNvGrpSpPr/>
            <p:nvPr/>
          </p:nvGrpSpPr>
          <p:grpSpPr>
            <a:xfrm>
              <a:off x="0" y="0"/>
              <a:ext cx="5700" cy="4224"/>
              <a:chOff x="0" y="0"/>
              <a:chExt cx="5700" cy="4224"/>
            </a:xfrm>
          </p:grpSpPr>
          <p:grpSp>
            <p:nvGrpSpPr>
              <p:cNvPr id="135" name="Google Shape;135;p16"/>
              <p:cNvGrpSpPr/>
              <p:nvPr/>
            </p:nvGrpSpPr>
            <p:grpSpPr>
              <a:xfrm>
                <a:off x="0" y="192"/>
                <a:ext cx="5700" cy="4032"/>
                <a:chOff x="0" y="192"/>
                <a:chExt cx="5700" cy="4032"/>
              </a:xfrm>
            </p:grpSpPr>
            <p:cxnSp>
              <p:nvCxnSpPr>
                <p:cNvPr id="136" name="Google Shape;136;p16"/>
                <p:cNvCxnSpPr/>
                <p:nvPr/>
              </p:nvCxnSpPr>
              <p:spPr>
                <a:xfrm>
                  <a:off x="0" y="192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37" name="Google Shape;137;p16"/>
                <p:cNvCxnSpPr/>
                <p:nvPr/>
              </p:nvCxnSpPr>
              <p:spPr>
                <a:xfrm>
                  <a:off x="0" y="384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38" name="Google Shape;138;p16"/>
                <p:cNvCxnSpPr/>
                <p:nvPr/>
              </p:nvCxnSpPr>
              <p:spPr>
                <a:xfrm>
                  <a:off x="0" y="576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39" name="Google Shape;139;p16"/>
                <p:cNvCxnSpPr/>
                <p:nvPr/>
              </p:nvCxnSpPr>
              <p:spPr>
                <a:xfrm>
                  <a:off x="0" y="768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40" name="Google Shape;140;p16"/>
                <p:cNvCxnSpPr/>
                <p:nvPr/>
              </p:nvCxnSpPr>
              <p:spPr>
                <a:xfrm>
                  <a:off x="0" y="960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41" name="Google Shape;141;p16"/>
                <p:cNvCxnSpPr/>
                <p:nvPr/>
              </p:nvCxnSpPr>
              <p:spPr>
                <a:xfrm>
                  <a:off x="0" y="1152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42" name="Google Shape;142;p16"/>
                <p:cNvCxnSpPr/>
                <p:nvPr/>
              </p:nvCxnSpPr>
              <p:spPr>
                <a:xfrm>
                  <a:off x="0" y="1344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43" name="Google Shape;143;p16"/>
                <p:cNvCxnSpPr/>
                <p:nvPr/>
              </p:nvCxnSpPr>
              <p:spPr>
                <a:xfrm>
                  <a:off x="0" y="1536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44" name="Google Shape;144;p16"/>
                <p:cNvCxnSpPr/>
                <p:nvPr/>
              </p:nvCxnSpPr>
              <p:spPr>
                <a:xfrm>
                  <a:off x="0" y="1728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45" name="Google Shape;145;p16"/>
                <p:cNvCxnSpPr/>
                <p:nvPr/>
              </p:nvCxnSpPr>
              <p:spPr>
                <a:xfrm>
                  <a:off x="0" y="1920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46" name="Google Shape;146;p16"/>
                <p:cNvCxnSpPr/>
                <p:nvPr/>
              </p:nvCxnSpPr>
              <p:spPr>
                <a:xfrm>
                  <a:off x="0" y="2112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47" name="Google Shape;147;p16"/>
                <p:cNvCxnSpPr/>
                <p:nvPr/>
              </p:nvCxnSpPr>
              <p:spPr>
                <a:xfrm>
                  <a:off x="0" y="2304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48" name="Google Shape;148;p16"/>
                <p:cNvCxnSpPr/>
                <p:nvPr/>
              </p:nvCxnSpPr>
              <p:spPr>
                <a:xfrm>
                  <a:off x="0" y="2496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49" name="Google Shape;149;p16"/>
                <p:cNvCxnSpPr/>
                <p:nvPr/>
              </p:nvCxnSpPr>
              <p:spPr>
                <a:xfrm>
                  <a:off x="0" y="2688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50" name="Google Shape;150;p16"/>
                <p:cNvCxnSpPr/>
                <p:nvPr/>
              </p:nvCxnSpPr>
              <p:spPr>
                <a:xfrm>
                  <a:off x="0" y="2880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51" name="Google Shape;151;p16"/>
                <p:cNvCxnSpPr/>
                <p:nvPr/>
              </p:nvCxnSpPr>
              <p:spPr>
                <a:xfrm>
                  <a:off x="0" y="3072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52" name="Google Shape;152;p16"/>
                <p:cNvCxnSpPr/>
                <p:nvPr/>
              </p:nvCxnSpPr>
              <p:spPr>
                <a:xfrm>
                  <a:off x="0" y="3264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53" name="Google Shape;153;p16"/>
                <p:cNvCxnSpPr/>
                <p:nvPr/>
              </p:nvCxnSpPr>
              <p:spPr>
                <a:xfrm>
                  <a:off x="0" y="3456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54" name="Google Shape;154;p16"/>
                <p:cNvCxnSpPr/>
                <p:nvPr/>
              </p:nvCxnSpPr>
              <p:spPr>
                <a:xfrm>
                  <a:off x="0" y="3648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55" name="Google Shape;155;p16"/>
                <p:cNvCxnSpPr/>
                <p:nvPr/>
              </p:nvCxnSpPr>
              <p:spPr>
                <a:xfrm>
                  <a:off x="0" y="3840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56" name="Google Shape;156;p16"/>
                <p:cNvCxnSpPr/>
                <p:nvPr/>
              </p:nvCxnSpPr>
              <p:spPr>
                <a:xfrm>
                  <a:off x="0" y="4032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57" name="Google Shape;157;p16"/>
                <p:cNvCxnSpPr/>
                <p:nvPr/>
              </p:nvCxnSpPr>
              <p:spPr>
                <a:xfrm>
                  <a:off x="0" y="4224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58" name="Google Shape;158;p16"/>
              <p:cNvGrpSpPr/>
              <p:nvPr/>
            </p:nvGrpSpPr>
            <p:grpSpPr>
              <a:xfrm>
                <a:off x="192" y="0"/>
                <a:ext cx="5376" cy="4200"/>
                <a:chOff x="192" y="0"/>
                <a:chExt cx="5376" cy="4200"/>
              </a:xfrm>
            </p:grpSpPr>
            <p:cxnSp>
              <p:nvCxnSpPr>
                <p:cNvPr id="159" name="Google Shape;159;p16"/>
                <p:cNvCxnSpPr/>
                <p:nvPr/>
              </p:nvCxnSpPr>
              <p:spPr>
                <a:xfrm>
                  <a:off x="192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60" name="Google Shape;160;p16"/>
                <p:cNvCxnSpPr/>
                <p:nvPr/>
              </p:nvCxnSpPr>
              <p:spPr>
                <a:xfrm>
                  <a:off x="384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61" name="Google Shape;161;p16"/>
                <p:cNvCxnSpPr/>
                <p:nvPr/>
              </p:nvCxnSpPr>
              <p:spPr>
                <a:xfrm>
                  <a:off x="576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62" name="Google Shape;162;p16"/>
                <p:cNvCxnSpPr/>
                <p:nvPr/>
              </p:nvCxnSpPr>
              <p:spPr>
                <a:xfrm>
                  <a:off x="768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63" name="Google Shape;163;p16"/>
                <p:cNvCxnSpPr/>
                <p:nvPr/>
              </p:nvCxnSpPr>
              <p:spPr>
                <a:xfrm>
                  <a:off x="960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64" name="Google Shape;164;p16"/>
                <p:cNvCxnSpPr/>
                <p:nvPr/>
              </p:nvCxnSpPr>
              <p:spPr>
                <a:xfrm>
                  <a:off x="1152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65" name="Google Shape;165;p16"/>
                <p:cNvCxnSpPr/>
                <p:nvPr/>
              </p:nvCxnSpPr>
              <p:spPr>
                <a:xfrm>
                  <a:off x="1344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66" name="Google Shape;166;p16"/>
                <p:cNvCxnSpPr/>
                <p:nvPr/>
              </p:nvCxnSpPr>
              <p:spPr>
                <a:xfrm>
                  <a:off x="1536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67" name="Google Shape;167;p16"/>
                <p:cNvCxnSpPr/>
                <p:nvPr/>
              </p:nvCxnSpPr>
              <p:spPr>
                <a:xfrm>
                  <a:off x="1728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68" name="Google Shape;168;p16"/>
                <p:cNvCxnSpPr/>
                <p:nvPr/>
              </p:nvCxnSpPr>
              <p:spPr>
                <a:xfrm>
                  <a:off x="1920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69" name="Google Shape;169;p16"/>
                <p:cNvCxnSpPr/>
                <p:nvPr/>
              </p:nvCxnSpPr>
              <p:spPr>
                <a:xfrm>
                  <a:off x="2112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70" name="Google Shape;170;p16"/>
                <p:cNvCxnSpPr/>
                <p:nvPr/>
              </p:nvCxnSpPr>
              <p:spPr>
                <a:xfrm>
                  <a:off x="2304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71" name="Google Shape;171;p16"/>
                <p:cNvCxnSpPr/>
                <p:nvPr/>
              </p:nvCxnSpPr>
              <p:spPr>
                <a:xfrm>
                  <a:off x="2496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72" name="Google Shape;172;p16"/>
                <p:cNvCxnSpPr/>
                <p:nvPr/>
              </p:nvCxnSpPr>
              <p:spPr>
                <a:xfrm>
                  <a:off x="2688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73" name="Google Shape;173;p16"/>
                <p:cNvCxnSpPr/>
                <p:nvPr/>
              </p:nvCxnSpPr>
              <p:spPr>
                <a:xfrm>
                  <a:off x="2880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74" name="Google Shape;174;p16"/>
                <p:cNvCxnSpPr/>
                <p:nvPr/>
              </p:nvCxnSpPr>
              <p:spPr>
                <a:xfrm>
                  <a:off x="3072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75" name="Google Shape;175;p16"/>
                <p:cNvCxnSpPr/>
                <p:nvPr/>
              </p:nvCxnSpPr>
              <p:spPr>
                <a:xfrm>
                  <a:off x="3264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76" name="Google Shape;176;p16"/>
                <p:cNvCxnSpPr/>
                <p:nvPr/>
              </p:nvCxnSpPr>
              <p:spPr>
                <a:xfrm>
                  <a:off x="3456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77" name="Google Shape;177;p16"/>
                <p:cNvCxnSpPr/>
                <p:nvPr/>
              </p:nvCxnSpPr>
              <p:spPr>
                <a:xfrm>
                  <a:off x="3648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78" name="Google Shape;178;p16"/>
                <p:cNvCxnSpPr/>
                <p:nvPr/>
              </p:nvCxnSpPr>
              <p:spPr>
                <a:xfrm>
                  <a:off x="3840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79" name="Google Shape;179;p16"/>
                <p:cNvCxnSpPr/>
                <p:nvPr/>
              </p:nvCxnSpPr>
              <p:spPr>
                <a:xfrm>
                  <a:off x="4032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80" name="Google Shape;180;p16"/>
                <p:cNvCxnSpPr/>
                <p:nvPr/>
              </p:nvCxnSpPr>
              <p:spPr>
                <a:xfrm>
                  <a:off x="4224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81" name="Google Shape;181;p16"/>
                <p:cNvCxnSpPr/>
                <p:nvPr/>
              </p:nvCxnSpPr>
              <p:spPr>
                <a:xfrm>
                  <a:off x="4416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82" name="Google Shape;182;p16"/>
                <p:cNvCxnSpPr/>
                <p:nvPr/>
              </p:nvCxnSpPr>
              <p:spPr>
                <a:xfrm>
                  <a:off x="4608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83" name="Google Shape;183;p16"/>
                <p:cNvCxnSpPr/>
                <p:nvPr/>
              </p:nvCxnSpPr>
              <p:spPr>
                <a:xfrm>
                  <a:off x="4800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84" name="Google Shape;184;p16"/>
                <p:cNvCxnSpPr/>
                <p:nvPr/>
              </p:nvCxnSpPr>
              <p:spPr>
                <a:xfrm>
                  <a:off x="4992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85" name="Google Shape;185;p16"/>
                <p:cNvCxnSpPr/>
                <p:nvPr/>
              </p:nvCxnSpPr>
              <p:spPr>
                <a:xfrm>
                  <a:off x="5184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86" name="Google Shape;186;p16"/>
                <p:cNvCxnSpPr/>
                <p:nvPr/>
              </p:nvCxnSpPr>
              <p:spPr>
                <a:xfrm>
                  <a:off x="5376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87" name="Google Shape;187;p16"/>
                <p:cNvCxnSpPr/>
                <p:nvPr/>
              </p:nvCxnSpPr>
              <p:spPr>
                <a:xfrm>
                  <a:off x="5568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</p:grpSp>
        </p:grpSp>
        <p:sp>
          <p:nvSpPr>
            <p:cNvPr id="188" name="Google Shape;188;p16" descr="60%"/>
            <p:cNvSpPr txBox="1"/>
            <p:nvPr/>
          </p:nvSpPr>
          <p:spPr>
            <a:xfrm>
              <a:off x="2112" y="0"/>
              <a:ext cx="3600" cy="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cxnSp>
          <p:nvCxnSpPr>
            <p:cNvPr id="189" name="Google Shape;189;p16"/>
            <p:cNvCxnSpPr/>
            <p:nvPr/>
          </p:nvCxnSpPr>
          <p:spPr>
            <a:xfrm>
              <a:off x="5568" y="0"/>
              <a:ext cx="0" cy="1500"/>
            </a:xfrm>
            <a:prstGeom prst="straightConnector1">
              <a:avLst/>
            </a:prstGeom>
            <a:noFill/>
            <a:ln w="9525" cap="flat" cmpd="sng">
              <a:solidFill>
                <a:schemeClr val="hlink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grpSp>
          <p:nvGrpSpPr>
            <p:cNvPr id="190" name="Google Shape;190;p16"/>
            <p:cNvGrpSpPr/>
            <p:nvPr/>
          </p:nvGrpSpPr>
          <p:grpSpPr>
            <a:xfrm>
              <a:off x="316" y="892"/>
              <a:ext cx="1069" cy="1529"/>
              <a:chOff x="204" y="916"/>
              <a:chExt cx="2100" cy="3004"/>
            </a:xfrm>
          </p:grpSpPr>
          <p:cxnSp>
            <p:nvCxnSpPr>
              <p:cNvPr id="191" name="Google Shape;191;p16"/>
              <p:cNvCxnSpPr/>
              <p:nvPr/>
            </p:nvCxnSpPr>
            <p:spPr>
              <a:xfrm rot="10800000">
                <a:off x="204" y="1038"/>
                <a:ext cx="2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hlink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192" name="Google Shape;192;p16"/>
              <p:cNvCxnSpPr/>
              <p:nvPr/>
            </p:nvCxnSpPr>
            <p:spPr>
              <a:xfrm>
                <a:off x="336" y="920"/>
                <a:ext cx="0" cy="3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hlink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sp>
            <p:nvSpPr>
              <p:cNvPr id="193" name="Google Shape;193;p16"/>
              <p:cNvSpPr/>
              <p:nvPr/>
            </p:nvSpPr>
            <p:spPr>
              <a:xfrm flipH="1">
                <a:off x="240" y="916"/>
                <a:ext cx="216" cy="216"/>
              </a:xfrm>
              <a:custGeom>
                <a:avLst/>
                <a:gdLst/>
                <a:ahLst/>
                <a:cxnLst/>
                <a:rect l="l" t="t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hlink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</p:grpSp>
      <p:sp>
        <p:nvSpPr>
          <p:cNvPr id="194" name="Google Shape;194;p16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95" name="Google Shape;195;p16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838200" y="1428750"/>
            <a:ext cx="77724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5052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Char char="❑"/>
              <a:defRPr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3528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Char char="■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73380" algn="l" rtl="0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280"/>
              <a:buFont typeface="Noto Sans Symbols"/>
              <a:buChar char="⬥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111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048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048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048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048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048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96" name="Google Shape;196;p16"/>
          <p:cNvSpPr txBox="1">
            <a:spLocks noGrp="1"/>
          </p:cNvSpPr>
          <p:nvPr>
            <p:ph type="dt" idx="10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97" name="Google Shape;197;p16"/>
          <p:cNvSpPr txBox="1">
            <a:spLocks noGrp="1"/>
          </p:cNvSpPr>
          <p:nvPr>
            <p:ph type="ftr" idx="11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98" name="Google Shape;198;p16"/>
          <p:cNvSpPr txBox="1">
            <a:spLocks noGrp="1"/>
          </p:cNvSpPr>
          <p:nvPr>
            <p:ph type="sldNum" idx="12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2"/>
          <p:cNvSpPr txBox="1">
            <a:spLocks noGrp="1"/>
          </p:cNvSpPr>
          <p:nvPr>
            <p:ph type="ctrTitle"/>
          </p:nvPr>
        </p:nvSpPr>
        <p:spPr>
          <a:xfrm>
            <a:off x="1193275" y="143105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</a:t>
            </a:r>
            <a:r>
              <a:rPr lang="en-GB" sz="3600"/>
              <a:t>3</a:t>
            </a:r>
            <a:r>
              <a:rPr lang="en-GB" sz="36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br>
              <a:rPr lang="en-GB" sz="36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GB" sz="3600"/>
              <a:t>Pattern Discovery in Data Mining</a:t>
            </a:r>
            <a:endParaRPr sz="3600"/>
          </a:p>
        </p:txBody>
      </p:sp>
      <p:pic>
        <p:nvPicPr>
          <p:cNvPr id="236" name="Google Shape;236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3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</a:t>
            </a:r>
            <a:endParaRPr sz="3600"/>
          </a:p>
        </p:txBody>
      </p:sp>
      <p:sp>
        <p:nvSpPr>
          <p:cNvPr id="242" name="Google Shape;242;p23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762000" y="1288256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7338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 dirty="0">
                <a:solidFill>
                  <a:srgbClr val="1F1F1F"/>
                </a:solidFill>
              </a:rPr>
              <a:t>Definition and importance of pattern discovery in data mining</a:t>
            </a:r>
            <a:endParaRPr sz="1800" dirty="0">
              <a:solidFill>
                <a:srgbClr val="1F1F1F"/>
              </a:solidFill>
            </a:endParaRPr>
          </a:p>
          <a:p>
            <a:pPr marL="342900" marR="0" lvl="0" indent="-37338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 b="1" dirty="0">
                <a:solidFill>
                  <a:srgbClr val="1F1F1F"/>
                </a:solidFill>
              </a:rPr>
              <a:t>Applications and real-world </a:t>
            </a:r>
            <a:r>
              <a:rPr lang="en-GB" sz="1800" dirty="0">
                <a:solidFill>
                  <a:srgbClr val="1F1F1F"/>
                </a:solidFill>
              </a:rPr>
              <a:t>examples of pattern discovery</a:t>
            </a:r>
            <a:endParaRPr sz="1800" dirty="0">
              <a:solidFill>
                <a:srgbClr val="1F1F1F"/>
              </a:solidFill>
            </a:endParaRPr>
          </a:p>
          <a:p>
            <a:pPr marL="342900" marR="0" lvl="0" indent="-37338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 dirty="0">
                <a:solidFill>
                  <a:srgbClr val="1F1F1F"/>
                </a:solidFill>
              </a:rPr>
              <a:t>Challenges and considerations in pattern discovery</a:t>
            </a:r>
            <a:endParaRPr sz="1800" dirty="0">
              <a:solidFill>
                <a:srgbClr val="1F1F1F"/>
              </a:solidFill>
            </a:endParaRPr>
          </a:p>
        </p:txBody>
      </p:sp>
      <p:pic>
        <p:nvPicPr>
          <p:cNvPr id="243" name="Google Shape;243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3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4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Introduction to Pattern Discovery</a:t>
            </a:r>
            <a:endParaRPr sz="3600"/>
          </a:p>
        </p:txBody>
      </p:sp>
      <p:sp>
        <p:nvSpPr>
          <p:cNvPr id="250" name="Google Shape;250;p24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762000" y="1646579"/>
            <a:ext cx="7953300" cy="10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7338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 dirty="0">
                <a:solidFill>
                  <a:srgbClr val="1F1F1F"/>
                </a:solidFill>
              </a:rPr>
              <a:t>Patterns: A set of items, </a:t>
            </a:r>
            <a:r>
              <a:rPr lang="en-GB" sz="1800" dirty="0" err="1">
                <a:solidFill>
                  <a:srgbClr val="1F1F1F"/>
                </a:solidFill>
              </a:rPr>
              <a:t>subsequences</a:t>
            </a:r>
            <a:r>
              <a:rPr lang="en-GB" sz="1800" dirty="0">
                <a:solidFill>
                  <a:srgbClr val="1F1F1F"/>
                </a:solidFill>
              </a:rPr>
              <a:t>, or substructures that occur frequently together (</a:t>
            </a:r>
            <a:r>
              <a:rPr lang="en-GB" sz="1800" b="1" dirty="0">
                <a:solidFill>
                  <a:srgbClr val="1F1F1F"/>
                </a:solidFill>
              </a:rPr>
              <a:t>or strongly correlated</a:t>
            </a:r>
            <a:r>
              <a:rPr lang="en-GB" sz="1800" dirty="0">
                <a:solidFill>
                  <a:srgbClr val="1F1F1F"/>
                </a:solidFill>
              </a:rPr>
              <a:t>) in a data set.  </a:t>
            </a:r>
            <a:endParaRPr sz="1800" dirty="0">
              <a:solidFill>
                <a:srgbClr val="1F1F1F"/>
              </a:solidFill>
            </a:endParaRPr>
          </a:p>
          <a:p>
            <a:pPr marL="342900" marR="0" lvl="0" indent="-37338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 dirty="0">
                <a:solidFill>
                  <a:srgbClr val="1F1F1F"/>
                </a:solidFill>
              </a:rPr>
              <a:t>Patterns represent intrinsic and important properties of datasets</a:t>
            </a:r>
            <a:endParaRPr sz="1800" dirty="0">
              <a:solidFill>
                <a:srgbClr val="1F1F1F"/>
              </a:solidFill>
            </a:endParaRPr>
          </a:p>
        </p:txBody>
      </p:sp>
      <p:pic>
        <p:nvPicPr>
          <p:cNvPr id="251" name="Google Shape;251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4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3</a:t>
            </a:fld>
            <a:endParaRPr/>
          </a:p>
        </p:txBody>
      </p:sp>
      <p:sp>
        <p:nvSpPr>
          <p:cNvPr id="253" name="Google Shape;253;p24"/>
          <p:cNvSpPr txBox="1"/>
          <p:nvPr/>
        </p:nvSpPr>
        <p:spPr>
          <a:xfrm>
            <a:off x="762000" y="1184875"/>
            <a:ext cx="4197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Is Pattern?</a:t>
            </a:r>
            <a:endParaRPr sz="1800"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4" name="Google Shape;254;p24"/>
          <p:cNvSpPr txBox="1"/>
          <p:nvPr/>
        </p:nvSpPr>
        <p:spPr>
          <a:xfrm>
            <a:off x="609600" y="2694075"/>
            <a:ext cx="4197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Is Pattern Discovery?</a:t>
            </a:r>
            <a:endParaRPr sz="1800"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5" name="Google Shape;255;p24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762000" y="3129603"/>
            <a:ext cx="7953300" cy="15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7338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Pattern discovery: Uncovering patterns from massive data sets</a:t>
            </a:r>
            <a:endParaRPr sz="1800">
              <a:solidFill>
                <a:srgbClr val="1F1F1F"/>
              </a:solidFill>
            </a:endParaRPr>
          </a:p>
          <a:p>
            <a:pPr marL="342900" marR="0" lvl="0" indent="-37338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Motivation examples:  What products were often purchased together?  What are the subsequent purchases after buying an iPad?  What code segments likely contain copy-and-paste bugs?  What word sequences likely form phrases in this corpus?</a:t>
            </a:r>
            <a:endParaRPr sz="1800">
              <a:solidFill>
                <a:srgbClr val="1F1F1F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A120DE0-B8F2-F7D8-8D45-40E356F501D2}"/>
              </a:ext>
            </a:extLst>
          </p:cNvPr>
          <p:cNvSpPr txBox="1"/>
          <p:nvPr/>
        </p:nvSpPr>
        <p:spPr>
          <a:xfrm>
            <a:off x="3932559" y="2847998"/>
            <a:ext cx="14478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</a:t>
            </a:r>
            <a:r>
              <a:rPr lang="en-VN" dirty="0"/>
              <a:t>ser behavior, 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5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Introduction to Pattern Discovery</a:t>
            </a:r>
            <a:endParaRPr sz="3600"/>
          </a:p>
        </p:txBody>
      </p:sp>
      <p:sp>
        <p:nvSpPr>
          <p:cNvPr id="261" name="Google Shape;261;p25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7338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Finding inherent regularities in a data set </a:t>
            </a:r>
            <a:endParaRPr sz="1800">
              <a:solidFill>
                <a:srgbClr val="1F1F1F"/>
              </a:solidFill>
            </a:endParaRPr>
          </a:p>
          <a:p>
            <a:pPr marL="342900" marR="0" lvl="0" indent="-37338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Foundation for many essential data mining tasks  </a:t>
            </a:r>
            <a:endParaRPr sz="1800">
              <a:solidFill>
                <a:srgbClr val="1F1F1F"/>
              </a:solidFill>
            </a:endParaRPr>
          </a:p>
          <a:p>
            <a:pPr marL="742950" marR="0" lvl="1" indent="-331469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Association, correlation, and causality analysis  </a:t>
            </a:r>
            <a:endParaRPr sz="1800">
              <a:solidFill>
                <a:srgbClr val="1F1F1F"/>
              </a:solidFill>
            </a:endParaRPr>
          </a:p>
          <a:p>
            <a:pPr marL="742950" marR="0" lvl="1" indent="-331469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Mining sequential, structural (e.g., sub-graph) patterns  </a:t>
            </a:r>
            <a:endParaRPr sz="1800">
              <a:solidFill>
                <a:srgbClr val="1F1F1F"/>
              </a:solidFill>
            </a:endParaRPr>
          </a:p>
          <a:p>
            <a:pPr marL="742950" marR="0" lvl="1" indent="-331469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Pattern analysis in spatiotemporal, multimedia, time-series, and stream data  </a:t>
            </a:r>
            <a:endParaRPr sz="1800">
              <a:solidFill>
                <a:srgbClr val="1F1F1F"/>
              </a:solidFill>
            </a:endParaRPr>
          </a:p>
          <a:p>
            <a:pPr marL="742950" marR="0" lvl="1" indent="-331469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Classification: Discriminative pattern-based analysis  </a:t>
            </a:r>
            <a:endParaRPr sz="1800">
              <a:solidFill>
                <a:srgbClr val="1F1F1F"/>
              </a:solidFill>
            </a:endParaRPr>
          </a:p>
          <a:p>
            <a:pPr marL="742950" marR="0" lvl="1" indent="-331469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Cluster analysis: Pattern-based subspace clustering </a:t>
            </a:r>
            <a:endParaRPr sz="1800">
              <a:solidFill>
                <a:srgbClr val="1F1F1F"/>
              </a:solidFill>
            </a:endParaRPr>
          </a:p>
          <a:p>
            <a:pPr marL="342900" marR="0" lvl="0" indent="-38862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Broad applications  </a:t>
            </a:r>
            <a:endParaRPr sz="1800">
              <a:solidFill>
                <a:srgbClr val="1F1F1F"/>
              </a:solidFill>
            </a:endParaRPr>
          </a:p>
          <a:p>
            <a:pPr marL="742950" marR="0" lvl="1" indent="-331469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Market basket analysis, cross-marketing, catalog design, sale campaign analysis, Web log analysis, biological sequence analysis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262" name="Google Shape;262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25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4</a:t>
            </a:fld>
            <a:endParaRPr/>
          </a:p>
        </p:txBody>
      </p:sp>
      <p:sp>
        <p:nvSpPr>
          <p:cNvPr id="264" name="Google Shape;264;p25"/>
          <p:cNvSpPr txBox="1"/>
          <p:nvPr/>
        </p:nvSpPr>
        <p:spPr>
          <a:xfrm>
            <a:off x="762000" y="1184875"/>
            <a:ext cx="4197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Why Is Pattern Discovery Important?</a:t>
            </a:r>
            <a:endParaRPr sz="1800"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6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Introduction to Pattern Discovery</a:t>
            </a:r>
            <a:endParaRPr sz="3600"/>
          </a:p>
        </p:txBody>
      </p:sp>
      <p:pic>
        <p:nvPicPr>
          <p:cNvPr id="270" name="Google Shape;270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26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5</a:t>
            </a:fld>
            <a:endParaRPr/>
          </a:p>
        </p:txBody>
      </p:sp>
      <p:sp>
        <p:nvSpPr>
          <p:cNvPr id="272" name="Google Shape;272;p26"/>
          <p:cNvSpPr txBox="1"/>
          <p:nvPr/>
        </p:nvSpPr>
        <p:spPr>
          <a:xfrm>
            <a:off x="762000" y="1184875"/>
            <a:ext cx="5613000" cy="7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Basic Concepts: Frequent Itemsets (Patterns)</a:t>
            </a:r>
            <a:endParaRPr sz="1200">
              <a:solidFill>
                <a:srgbClr val="374151"/>
              </a:solidFill>
              <a:highlight>
                <a:srgbClr val="F7F7F8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endParaRPr sz="1800"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3" name="Google Shape;273;p26"/>
          <p:cNvSpPr txBox="1"/>
          <p:nvPr/>
        </p:nvSpPr>
        <p:spPr>
          <a:xfrm>
            <a:off x="882300" y="1604625"/>
            <a:ext cx="4467900" cy="33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Font typeface="Noto Sans Symbols"/>
              <a:buChar char="●"/>
            </a:pPr>
            <a:r>
              <a:rPr lang="en-GB" sz="18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Itemset: A set of one or more items</a:t>
            </a:r>
            <a:endParaRPr sz="1800">
              <a:solidFill>
                <a:srgbClr val="1F1F1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Font typeface="Noto Sans Symbols"/>
              <a:buChar char="●"/>
            </a:pPr>
            <a:r>
              <a:rPr lang="en-GB" sz="18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k-itemset: X = {x1, …, xk}</a:t>
            </a:r>
            <a:endParaRPr sz="1800">
              <a:solidFill>
                <a:srgbClr val="1F1F1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Font typeface="Times New Roman"/>
              <a:buChar char="●"/>
            </a:pPr>
            <a:r>
              <a:rPr lang="en-GB" sz="18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(absolute) support (count) of X: Frequency or the number of occurrences of an itemset X</a:t>
            </a:r>
            <a:endParaRPr sz="1800">
              <a:solidFill>
                <a:srgbClr val="1F1F1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Font typeface="Times New Roman"/>
              <a:buChar char="●"/>
            </a:pPr>
            <a:r>
              <a:rPr lang="en-GB" sz="18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(relative) support, s: The fraction of transactions that contains X (i.e., the probability that a transaction contains X) </a:t>
            </a:r>
            <a:endParaRPr sz="1800">
              <a:solidFill>
                <a:srgbClr val="1F1F1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Font typeface="Times New Roman"/>
              <a:buChar char="●"/>
            </a:pPr>
            <a:r>
              <a:rPr lang="en-GB" sz="18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itemset X is frequent if the support of X is no less than a minsup threshold (denoted as σ) 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74" name="Google Shape;274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63550" y="1673425"/>
            <a:ext cx="3461349" cy="1484550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6"/>
          <p:cNvSpPr txBox="1"/>
          <p:nvPr/>
        </p:nvSpPr>
        <p:spPr>
          <a:xfrm>
            <a:off x="5337475" y="3157975"/>
            <a:ext cx="3313500" cy="16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●"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Let minsup = 50%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●"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Freq. 1-itemsets: 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○"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Beer: 3 (60%); Nuts: 3 (60%)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○"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Diaper: 4 (80%); Eggs: 3 (60%) 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●"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Freq. 2-itemsets: 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○"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{Beer, Diaper}: 3 (60%)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7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Introduction to Pattern Discovery</a:t>
            </a:r>
            <a:endParaRPr sz="3600"/>
          </a:p>
        </p:txBody>
      </p:sp>
      <p:pic>
        <p:nvPicPr>
          <p:cNvPr id="281" name="Google Shape;281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27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6</a:t>
            </a:fld>
            <a:endParaRPr/>
          </a:p>
        </p:txBody>
      </p:sp>
      <p:sp>
        <p:nvSpPr>
          <p:cNvPr id="283" name="Google Shape;283;p27"/>
          <p:cNvSpPr txBox="1"/>
          <p:nvPr/>
        </p:nvSpPr>
        <p:spPr>
          <a:xfrm>
            <a:off x="762000" y="1184875"/>
            <a:ext cx="5613000" cy="7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From Frequent Itemsets to Association Rules</a:t>
            </a:r>
            <a:endParaRPr sz="1200">
              <a:solidFill>
                <a:srgbClr val="374151"/>
              </a:solidFill>
              <a:highlight>
                <a:srgbClr val="F7F7F8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endParaRPr sz="1800"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4" name="Google Shape;284;p27"/>
          <p:cNvSpPr txBox="1"/>
          <p:nvPr/>
        </p:nvSpPr>
        <p:spPr>
          <a:xfrm>
            <a:off x="777925" y="1604625"/>
            <a:ext cx="4604400" cy="32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Font typeface="Times New Roman"/>
              <a:buChar char="●"/>
            </a:pPr>
            <a:r>
              <a:rPr lang="en-GB" sz="1800" dirty="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Association rules: X→Y (s, c)  </a:t>
            </a:r>
            <a:endParaRPr sz="1800" dirty="0">
              <a:solidFill>
                <a:srgbClr val="1F1F1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Font typeface="Times New Roman"/>
              <a:buChar char="○"/>
            </a:pPr>
            <a:r>
              <a:rPr lang="en-GB" sz="1800" dirty="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Support, s: The probability that a transaction contains X ∪ Y</a:t>
            </a:r>
            <a:endParaRPr sz="1800" dirty="0">
              <a:solidFill>
                <a:srgbClr val="1F1F1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Font typeface="Times New Roman"/>
              <a:buChar char="○"/>
            </a:pPr>
            <a:r>
              <a:rPr lang="en-GB" sz="1800" dirty="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Confidence, c: The conditional probability that a transaction containing X also contains Y  </a:t>
            </a:r>
            <a:endParaRPr sz="1800" dirty="0">
              <a:solidFill>
                <a:srgbClr val="1F1F1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Font typeface="Times New Roman"/>
              <a:buChar char="○"/>
            </a:pPr>
            <a:r>
              <a:rPr lang="en-GB" sz="1800" b="1" dirty="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 = sup(X ∪ Y) / sup(X)  </a:t>
            </a:r>
            <a:endParaRPr sz="1800" b="1" dirty="0">
              <a:solidFill>
                <a:srgbClr val="1F1F1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Font typeface="Times New Roman"/>
              <a:buChar char="●"/>
            </a:pPr>
            <a:r>
              <a:rPr lang="en-GB" sz="1800" dirty="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Association rule mining: Find all of the rules, X→Y, with minimum support and confidence  </a:t>
            </a:r>
          </a:p>
          <a:p>
            <a:pPr marL="457200" lvl="0" indent="-342900">
              <a:buClr>
                <a:srgbClr val="1F1F1F"/>
              </a:buClr>
              <a:buSzPts val="1800"/>
              <a:buFont typeface="Times New Roman"/>
              <a:buChar char="●"/>
            </a:pPr>
            <a:r>
              <a:rPr lang="en-GB" sz="1800" dirty="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</a:t>
            </a:r>
            <a:r>
              <a:rPr lang="en-GB" b="1" dirty="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(X ∪ Y) : </a:t>
            </a:r>
            <a:r>
              <a:rPr lang="en-GB" b="1" dirty="0" err="1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Hiểu</a:t>
            </a:r>
            <a:r>
              <a:rPr lang="en-GB" b="1" dirty="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b="1" dirty="0" err="1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đơn</a:t>
            </a:r>
            <a:r>
              <a:rPr lang="en-GB" b="1" dirty="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b="1" dirty="0" err="1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giản</a:t>
            </a:r>
            <a:r>
              <a:rPr lang="en-GB" b="1" dirty="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b="1" dirty="0" err="1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thk</a:t>
            </a:r>
            <a:r>
              <a:rPr lang="en-GB" b="1" dirty="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b="1" dirty="0" err="1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này</a:t>
            </a:r>
            <a:r>
              <a:rPr lang="en-GB" b="1" dirty="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b="1" dirty="0" err="1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là</a:t>
            </a:r>
            <a:r>
              <a:rPr lang="en-GB" b="1" dirty="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1 </a:t>
            </a:r>
            <a:r>
              <a:rPr lang="en-GB" b="1" dirty="0" err="1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giao</a:t>
            </a:r>
            <a:r>
              <a:rPr lang="en-GB" b="1" dirty="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b="1" dirty="0" err="1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dịch</a:t>
            </a:r>
            <a:r>
              <a:rPr lang="en-GB" b="1" dirty="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r>
              <a:rPr lang="en-GB" b="1" dirty="0" err="1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Tid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85" name="Google Shape;285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82325" y="989888"/>
            <a:ext cx="3352800" cy="3629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8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Introduction to Pattern Discovery</a:t>
            </a:r>
            <a:endParaRPr sz="3600"/>
          </a:p>
        </p:txBody>
      </p:sp>
      <p:pic>
        <p:nvPicPr>
          <p:cNvPr id="291" name="Google Shape;291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28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7</a:t>
            </a:fld>
            <a:endParaRPr/>
          </a:p>
        </p:txBody>
      </p:sp>
      <p:sp>
        <p:nvSpPr>
          <p:cNvPr id="293" name="Google Shape;293;p28"/>
          <p:cNvSpPr txBox="1"/>
          <p:nvPr/>
        </p:nvSpPr>
        <p:spPr>
          <a:xfrm>
            <a:off x="762000" y="1184875"/>
            <a:ext cx="5613000" cy="7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From Frequent Itemsets to Association Rules</a:t>
            </a:r>
            <a:endParaRPr sz="1200">
              <a:solidFill>
                <a:srgbClr val="374151"/>
              </a:solidFill>
              <a:highlight>
                <a:srgbClr val="F7F7F8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endParaRPr sz="1800"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94" name="Google Shape;294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82325" y="989888"/>
            <a:ext cx="3352800" cy="3629025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28"/>
          <p:cNvSpPr txBox="1"/>
          <p:nvPr/>
        </p:nvSpPr>
        <p:spPr>
          <a:xfrm>
            <a:off x="777925" y="1604625"/>
            <a:ext cx="4604400" cy="32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1F1F1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Font typeface="Times New Roman"/>
              <a:buChar char="●"/>
            </a:pPr>
            <a:r>
              <a:rPr lang="en-GB" sz="1800" dirty="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Frequent </a:t>
            </a:r>
            <a:r>
              <a:rPr lang="en-GB" sz="1800" dirty="0" err="1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itemsets</a:t>
            </a:r>
            <a:r>
              <a:rPr lang="en-GB" sz="1800" dirty="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Let </a:t>
            </a:r>
            <a:r>
              <a:rPr lang="en-GB" sz="1800" dirty="0" err="1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minsup</a:t>
            </a:r>
            <a:r>
              <a:rPr lang="en-GB" sz="1800" dirty="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50%  </a:t>
            </a:r>
            <a:endParaRPr sz="1800" dirty="0">
              <a:solidFill>
                <a:srgbClr val="1F1F1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Font typeface="Times New Roman"/>
              <a:buChar char="○"/>
            </a:pPr>
            <a:r>
              <a:rPr lang="en-GB" sz="1800" dirty="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Freq. 1-itemsets: Beer: 3, Nuts: 3, Diaper: 4, Eggs: 3  </a:t>
            </a:r>
            <a:endParaRPr sz="1800" dirty="0">
              <a:solidFill>
                <a:srgbClr val="1F1F1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Font typeface="Times New Roman"/>
              <a:buChar char="○"/>
            </a:pPr>
            <a:r>
              <a:rPr lang="en-GB" sz="1800" dirty="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Freq. 2-itemsets: {Beer, Diaper}: 3  </a:t>
            </a:r>
            <a:endParaRPr sz="1800" dirty="0">
              <a:solidFill>
                <a:srgbClr val="1F1F1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Font typeface="Times New Roman"/>
              <a:buChar char="●"/>
            </a:pPr>
            <a:r>
              <a:rPr lang="en-GB" sz="1800" dirty="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Association rules: Let </a:t>
            </a:r>
            <a:r>
              <a:rPr lang="en-GB" sz="1800" dirty="0" err="1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minconf</a:t>
            </a:r>
            <a:r>
              <a:rPr lang="en-GB" sz="1800" dirty="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50%  </a:t>
            </a:r>
            <a:endParaRPr sz="1800" dirty="0">
              <a:solidFill>
                <a:srgbClr val="1F1F1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Font typeface="Times New Roman"/>
              <a:buChar char="○"/>
            </a:pPr>
            <a:r>
              <a:rPr lang="en-GB" sz="1800" dirty="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Beer  Diaper (60%, 100%)  </a:t>
            </a:r>
            <a:endParaRPr sz="1800" dirty="0">
              <a:solidFill>
                <a:srgbClr val="1F1F1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Font typeface="Times New Roman"/>
              <a:buChar char="○"/>
            </a:pPr>
            <a:r>
              <a:rPr lang="en-GB" sz="1800" dirty="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Diaper  Beer (60%, 75%)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29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Introduction to Pattern Discovery</a:t>
            </a:r>
            <a:endParaRPr sz="3600"/>
          </a:p>
        </p:txBody>
      </p:sp>
      <p:sp>
        <p:nvSpPr>
          <p:cNvPr id="301" name="Google Shape;301;p29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7338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 dirty="0">
                <a:solidFill>
                  <a:srgbClr val="1F1F1F"/>
                </a:solidFill>
              </a:rPr>
              <a:t>Challenge: There Are Too Many Frequent Patterns!</a:t>
            </a:r>
            <a:endParaRPr sz="1800" dirty="0">
              <a:solidFill>
                <a:srgbClr val="1F1F1F"/>
              </a:solidFill>
            </a:endParaRPr>
          </a:p>
          <a:p>
            <a:pPr marL="742950" lvl="1" indent="-293369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Roboto"/>
              <a:buChar char="○"/>
            </a:pPr>
            <a:r>
              <a:rPr lang="en-GB" sz="1800" dirty="0">
                <a:solidFill>
                  <a:srgbClr val="1F1F1F"/>
                </a:solidFill>
              </a:rPr>
              <a:t>A long pattern contains a combinatorial number of sub-patterns  </a:t>
            </a:r>
            <a:endParaRPr sz="1800" dirty="0">
              <a:solidFill>
                <a:srgbClr val="1F1F1F"/>
              </a:solidFill>
            </a:endParaRPr>
          </a:p>
          <a:p>
            <a:pPr marL="742950" lvl="1" indent="-293369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Roboto"/>
              <a:buChar char="○"/>
            </a:pPr>
            <a:r>
              <a:rPr lang="en-GB" sz="1800" dirty="0">
                <a:solidFill>
                  <a:srgbClr val="1F1F1F"/>
                </a:solidFill>
              </a:rPr>
              <a:t>How many frequent </a:t>
            </a:r>
            <a:r>
              <a:rPr lang="en-GB" sz="1800" dirty="0" err="1">
                <a:solidFill>
                  <a:srgbClr val="1F1F1F"/>
                </a:solidFill>
              </a:rPr>
              <a:t>itemsets</a:t>
            </a:r>
            <a:r>
              <a:rPr lang="en-GB" sz="1800" dirty="0">
                <a:solidFill>
                  <a:srgbClr val="1F1F1F"/>
                </a:solidFill>
              </a:rPr>
              <a:t> does the following TDB1 contain?  </a:t>
            </a:r>
            <a:endParaRPr sz="1800" dirty="0">
              <a:solidFill>
                <a:srgbClr val="1F1F1F"/>
              </a:solidFill>
            </a:endParaRPr>
          </a:p>
          <a:p>
            <a:pPr marL="1143000" lvl="2" indent="-196214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Roboto"/>
              <a:buChar char="■"/>
            </a:pPr>
            <a:r>
              <a:rPr lang="en-GB" sz="1800" dirty="0">
                <a:solidFill>
                  <a:srgbClr val="1F1F1F"/>
                </a:solidFill>
              </a:rPr>
              <a:t>TDB1: T1: {a1, …, a50}; T2: {a1, …, a100}  </a:t>
            </a:r>
            <a:endParaRPr sz="1800" dirty="0">
              <a:solidFill>
                <a:srgbClr val="1F1F1F"/>
              </a:solidFill>
            </a:endParaRPr>
          </a:p>
          <a:p>
            <a:pPr marL="1143000" lvl="2" indent="-196214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Roboto"/>
              <a:buChar char="■"/>
            </a:pPr>
            <a:r>
              <a:rPr lang="en-GB" sz="1800" dirty="0">
                <a:solidFill>
                  <a:srgbClr val="1F1F1F"/>
                </a:solidFill>
              </a:rPr>
              <a:t>Assuming (absolute) </a:t>
            </a:r>
            <a:r>
              <a:rPr lang="en-GB" sz="1800" dirty="0" err="1">
                <a:solidFill>
                  <a:srgbClr val="1F1F1F"/>
                </a:solidFill>
              </a:rPr>
              <a:t>minsup</a:t>
            </a:r>
            <a:r>
              <a:rPr lang="en-GB" sz="1800" dirty="0">
                <a:solidFill>
                  <a:srgbClr val="1F1F1F"/>
                </a:solidFill>
              </a:rPr>
              <a:t> = 1  </a:t>
            </a:r>
            <a:endParaRPr sz="1800" dirty="0">
              <a:solidFill>
                <a:srgbClr val="1F1F1F"/>
              </a:solidFill>
            </a:endParaRPr>
          </a:p>
          <a:p>
            <a:pPr marL="1143000" lvl="2" indent="-196214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Roboto"/>
              <a:buChar char="■"/>
            </a:pPr>
            <a:r>
              <a:rPr lang="en-GB" sz="1800" dirty="0">
                <a:solidFill>
                  <a:srgbClr val="1F1F1F"/>
                </a:solidFill>
              </a:rPr>
              <a:t>Let’s have a try </a:t>
            </a:r>
            <a:endParaRPr sz="1800" dirty="0">
              <a:solidFill>
                <a:srgbClr val="1F1F1F"/>
              </a:solidFill>
            </a:endParaRPr>
          </a:p>
          <a:p>
            <a:pPr marL="1600200" lvl="3" indent="-23050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Roboto"/>
              <a:buChar char="●"/>
            </a:pPr>
            <a:r>
              <a:rPr lang="en-GB" sz="1800" dirty="0">
                <a:solidFill>
                  <a:srgbClr val="1F1F1F"/>
                </a:solidFill>
              </a:rPr>
              <a:t>1-itemsets: {a1}: 2, {a2}: 2, …, {a50}: 2, {a51}: 1, …, {a100}: 1,  …, …, …, … </a:t>
            </a:r>
            <a:endParaRPr sz="1800" dirty="0">
              <a:solidFill>
                <a:srgbClr val="1F1F1F"/>
              </a:solidFill>
            </a:endParaRPr>
          </a:p>
          <a:p>
            <a:pPr marL="1600200" lvl="3" indent="-23050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Roboto"/>
              <a:buChar char="●"/>
            </a:pPr>
            <a:r>
              <a:rPr lang="en-GB" sz="1800" dirty="0">
                <a:solidFill>
                  <a:srgbClr val="1F1F1F"/>
                </a:solidFill>
              </a:rPr>
              <a:t>100-itemset: {a1, a2, …, a100}: 1  </a:t>
            </a:r>
            <a:endParaRPr sz="1800" dirty="0">
              <a:solidFill>
                <a:srgbClr val="1F1F1F"/>
              </a:solidFill>
            </a:endParaRPr>
          </a:p>
          <a:p>
            <a:pPr marL="1143000" lvl="2" indent="-196214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Roboto"/>
              <a:buChar char="■"/>
            </a:pPr>
            <a:r>
              <a:rPr lang="en-GB" sz="1800" dirty="0">
                <a:solidFill>
                  <a:srgbClr val="1F1F1F"/>
                </a:solidFill>
              </a:rPr>
              <a:t>In total: (100 1) + (100 2) + … + (1 1 0 0 0 0) = 2100 – 1 sub-patterns!</a:t>
            </a:r>
            <a:endParaRPr sz="1800" dirty="0">
              <a:solidFill>
                <a:srgbClr val="1F1F1F"/>
              </a:solidFill>
            </a:endParaRPr>
          </a:p>
        </p:txBody>
      </p:sp>
      <p:pic>
        <p:nvPicPr>
          <p:cNvPr id="302" name="Google Shape;302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29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8</a:t>
            </a:fld>
            <a:endParaRPr/>
          </a:p>
        </p:txBody>
      </p:sp>
      <p:sp>
        <p:nvSpPr>
          <p:cNvPr id="304" name="Google Shape;304;p29"/>
          <p:cNvSpPr txBox="1"/>
          <p:nvPr/>
        </p:nvSpPr>
        <p:spPr>
          <a:xfrm>
            <a:off x="762000" y="1184875"/>
            <a:ext cx="6986100" cy="7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Compressed Representation: Closed Patterns and Max-Pattern</a:t>
            </a:r>
            <a:r>
              <a:rPr lang="en-GB" sz="1200">
                <a:solidFill>
                  <a:srgbClr val="374151"/>
                </a:solidFill>
                <a:highlight>
                  <a:srgbClr val="F7F7F8"/>
                </a:highlight>
                <a:latin typeface="Roboto"/>
                <a:ea typeface="Roboto"/>
                <a:cs typeface="Roboto"/>
                <a:sym typeface="Roboto"/>
              </a:rPr>
              <a:t>s</a:t>
            </a:r>
            <a:endParaRPr sz="1200">
              <a:solidFill>
                <a:srgbClr val="374151"/>
              </a:solidFill>
              <a:highlight>
                <a:srgbClr val="F7F7F8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endParaRPr sz="1800"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DB8F9DB-93E0-E18E-00F6-A8C8E658C3FD}"/>
              </a:ext>
            </a:extLst>
          </p:cNvPr>
          <p:cNvSpPr txBox="1"/>
          <p:nvPr/>
        </p:nvSpPr>
        <p:spPr>
          <a:xfrm>
            <a:off x="6567054" y="2717623"/>
            <a:ext cx="1905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dirty="0">
                <a:solidFill>
                  <a:srgbClr val="FF0000"/>
                </a:solidFill>
              </a:rPr>
              <a:t>TDB: Transaction Database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0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Introduction to Pattern Discovery</a:t>
            </a:r>
            <a:endParaRPr sz="3600"/>
          </a:p>
        </p:txBody>
      </p:sp>
      <p:sp>
        <p:nvSpPr>
          <p:cNvPr id="310" name="Google Shape;310;p30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762000" y="1646575"/>
            <a:ext cx="81594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7338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How to handle such a challenge?  </a:t>
            </a:r>
            <a:endParaRPr sz="1800">
              <a:solidFill>
                <a:srgbClr val="1F1F1F"/>
              </a:solidFill>
            </a:endParaRPr>
          </a:p>
          <a:p>
            <a:pPr marL="742950" marR="0" lvl="1" indent="-331469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Solution 1: </a:t>
            </a:r>
            <a:r>
              <a:rPr lang="en-GB" sz="1800" b="1">
                <a:solidFill>
                  <a:srgbClr val="1F1F1F"/>
                </a:solidFill>
              </a:rPr>
              <a:t>Closed patterns:</a:t>
            </a:r>
            <a:r>
              <a:rPr lang="en-GB" sz="1800">
                <a:solidFill>
                  <a:srgbClr val="1F1F1F"/>
                </a:solidFill>
              </a:rPr>
              <a:t> A pattern (itemset) X is closed if X is frequent, and there exists no super-pattern Y כ X, with the same support as X</a:t>
            </a:r>
            <a:endParaRPr sz="1800">
              <a:solidFill>
                <a:srgbClr val="1F1F1F"/>
              </a:solidFill>
            </a:endParaRPr>
          </a:p>
          <a:p>
            <a:pPr marL="1143000" marR="0" lvl="2" indent="-234314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■"/>
            </a:pPr>
            <a:r>
              <a:rPr lang="en-GB" sz="1800">
                <a:solidFill>
                  <a:srgbClr val="1F1F1F"/>
                </a:solidFill>
              </a:rPr>
              <a:t>Let Transaction DB TDB1: T1: {a1, …, a50}; T2: {a1, …, a100}  </a:t>
            </a:r>
            <a:endParaRPr sz="1800">
              <a:solidFill>
                <a:srgbClr val="1F1F1F"/>
              </a:solidFill>
            </a:endParaRPr>
          </a:p>
          <a:p>
            <a:pPr marL="1143000" marR="0" lvl="2" indent="-234314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■"/>
            </a:pPr>
            <a:r>
              <a:rPr lang="en-GB" sz="1800">
                <a:solidFill>
                  <a:srgbClr val="1F1F1F"/>
                </a:solidFill>
              </a:rPr>
              <a:t>Suppose minsup = 1. How many closed patterns does TDB1 contain?  </a:t>
            </a:r>
            <a:endParaRPr sz="1800">
              <a:solidFill>
                <a:srgbClr val="1F1F1F"/>
              </a:solidFill>
            </a:endParaRPr>
          </a:p>
          <a:p>
            <a:pPr marL="1600200" marR="0" lvl="3" indent="-268605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Two: P1: “{a1, …, a50}: 2”; P2: “{a1, …, a100}: 1”  </a:t>
            </a:r>
            <a:endParaRPr sz="1800">
              <a:solidFill>
                <a:srgbClr val="1F1F1F"/>
              </a:solidFill>
            </a:endParaRPr>
          </a:p>
          <a:p>
            <a:pPr marL="742950" marR="0" lvl="1" indent="-331469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Closed pattern is a lossless compression of frequent patterns  </a:t>
            </a:r>
            <a:endParaRPr sz="1800">
              <a:solidFill>
                <a:srgbClr val="1F1F1F"/>
              </a:solidFill>
            </a:endParaRPr>
          </a:p>
          <a:p>
            <a:pPr marL="1143000" marR="0" lvl="2" indent="-234314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■"/>
            </a:pPr>
            <a:r>
              <a:rPr lang="en-GB" sz="1800">
                <a:solidFill>
                  <a:srgbClr val="1F1F1F"/>
                </a:solidFill>
              </a:rPr>
              <a:t>Reduces the # of patterns but does not lose the support information!  </a:t>
            </a:r>
            <a:endParaRPr sz="1800">
              <a:solidFill>
                <a:srgbClr val="1F1F1F"/>
              </a:solidFill>
            </a:endParaRPr>
          </a:p>
          <a:p>
            <a:pPr marL="1143000" marR="0" lvl="2" indent="-234314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■"/>
            </a:pPr>
            <a:r>
              <a:rPr lang="en-GB" sz="1800">
                <a:solidFill>
                  <a:srgbClr val="1F1F1F"/>
                </a:solidFill>
              </a:rPr>
              <a:t>You will still be able to say: “{a2, …, a40}: 2”, “{a5, a51}: 1”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311" name="Google Shape;311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30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9</a:t>
            </a:fld>
            <a:endParaRPr/>
          </a:p>
        </p:txBody>
      </p:sp>
      <p:sp>
        <p:nvSpPr>
          <p:cNvPr id="313" name="Google Shape;313;p30"/>
          <p:cNvSpPr txBox="1"/>
          <p:nvPr/>
        </p:nvSpPr>
        <p:spPr>
          <a:xfrm>
            <a:off x="762000" y="1184875"/>
            <a:ext cx="6986100" cy="7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Compressed Representation: Closed Patterns and Max-Pattern</a:t>
            </a:r>
            <a:r>
              <a:rPr lang="en-GB" sz="1200">
                <a:solidFill>
                  <a:srgbClr val="374151"/>
                </a:solidFill>
                <a:highlight>
                  <a:srgbClr val="F7F7F8"/>
                </a:highlight>
                <a:latin typeface="Roboto"/>
                <a:ea typeface="Roboto"/>
                <a:cs typeface="Roboto"/>
                <a:sym typeface="Roboto"/>
              </a:rPr>
              <a:t>s</a:t>
            </a:r>
            <a:endParaRPr sz="1200">
              <a:solidFill>
                <a:srgbClr val="374151"/>
              </a:solidFill>
              <a:highlight>
                <a:srgbClr val="F7F7F8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endParaRPr sz="1800"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31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Introduction to Pattern Discovery</a:t>
            </a:r>
            <a:endParaRPr sz="3600"/>
          </a:p>
        </p:txBody>
      </p:sp>
      <p:sp>
        <p:nvSpPr>
          <p:cNvPr id="319" name="Google Shape;319;p31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762000" y="1646575"/>
            <a:ext cx="81594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7338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How to handle such a challenge?  </a:t>
            </a:r>
            <a:endParaRPr sz="1800">
              <a:solidFill>
                <a:srgbClr val="1F1F1F"/>
              </a:solidFill>
            </a:endParaRPr>
          </a:p>
          <a:p>
            <a:pPr marL="742950" marR="0" lvl="1" indent="-331469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Solution 2: </a:t>
            </a:r>
            <a:r>
              <a:rPr lang="en-GB" sz="1800" b="1">
                <a:solidFill>
                  <a:srgbClr val="1F1F1F"/>
                </a:solidFill>
              </a:rPr>
              <a:t>Max-patterns</a:t>
            </a:r>
            <a:r>
              <a:rPr lang="en-GB" sz="1800">
                <a:solidFill>
                  <a:srgbClr val="1F1F1F"/>
                </a:solidFill>
              </a:rPr>
              <a:t>: A pattern X is a max-pattern if X is frequent and there exists no frequent super-pattern Y כ X  </a:t>
            </a:r>
            <a:endParaRPr sz="1800">
              <a:solidFill>
                <a:srgbClr val="1F1F1F"/>
              </a:solidFill>
            </a:endParaRPr>
          </a:p>
          <a:p>
            <a:pPr marL="742950" marR="0" lvl="1" indent="-331469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Difference from close-patterns?  </a:t>
            </a:r>
            <a:endParaRPr sz="1800">
              <a:solidFill>
                <a:srgbClr val="1F1F1F"/>
              </a:solidFill>
            </a:endParaRPr>
          </a:p>
          <a:p>
            <a:pPr marL="1143000" marR="0" lvl="2" indent="-234314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■"/>
            </a:pPr>
            <a:r>
              <a:rPr lang="en-GB" sz="1800">
                <a:solidFill>
                  <a:srgbClr val="1F1F1F"/>
                </a:solidFill>
              </a:rPr>
              <a:t>Do not care the real support of the sub-patterns of a max-pattern  </a:t>
            </a:r>
            <a:endParaRPr sz="1800">
              <a:solidFill>
                <a:srgbClr val="1F1F1F"/>
              </a:solidFill>
            </a:endParaRPr>
          </a:p>
          <a:p>
            <a:pPr marL="1143000" marR="0" lvl="2" indent="-234314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■"/>
            </a:pPr>
            <a:r>
              <a:rPr lang="en-GB" sz="1800">
                <a:solidFill>
                  <a:srgbClr val="1F1F1F"/>
                </a:solidFill>
              </a:rPr>
              <a:t>Let Transaction DB TDB1: T1: {a1, …, a50}; T2: {a1, …, a100}  </a:t>
            </a:r>
            <a:endParaRPr sz="1800">
              <a:solidFill>
                <a:srgbClr val="1F1F1F"/>
              </a:solidFill>
            </a:endParaRPr>
          </a:p>
          <a:p>
            <a:pPr marL="1143000" marR="0" lvl="2" indent="-234314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■"/>
            </a:pPr>
            <a:r>
              <a:rPr lang="en-GB" sz="1800">
                <a:solidFill>
                  <a:srgbClr val="1F1F1F"/>
                </a:solidFill>
              </a:rPr>
              <a:t>Suppose minsup = 1. How many max-patterns does TDB1 contain?  One: P: “{a1, …, a100}: 1”  </a:t>
            </a:r>
            <a:endParaRPr sz="1800">
              <a:solidFill>
                <a:srgbClr val="1F1F1F"/>
              </a:solidFill>
            </a:endParaRPr>
          </a:p>
          <a:p>
            <a:pPr marL="742950" marR="0" lvl="1" indent="-331469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Max-pattern is a lossy compression!  </a:t>
            </a:r>
            <a:endParaRPr sz="1800">
              <a:solidFill>
                <a:srgbClr val="1F1F1F"/>
              </a:solidFill>
            </a:endParaRPr>
          </a:p>
          <a:p>
            <a:pPr marL="742950" marR="0" lvl="1" indent="-331469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Thus in many applications, mining close-patterns is more desirable than mining max-patterns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320" name="Google Shape;320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31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10</a:t>
            </a:fld>
            <a:endParaRPr/>
          </a:p>
        </p:txBody>
      </p:sp>
      <p:sp>
        <p:nvSpPr>
          <p:cNvPr id="322" name="Google Shape;322;p31"/>
          <p:cNvSpPr txBox="1"/>
          <p:nvPr/>
        </p:nvSpPr>
        <p:spPr>
          <a:xfrm>
            <a:off x="762000" y="1184875"/>
            <a:ext cx="6986100" cy="7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Compressed Representation: Closed Patterns and Max-Pattern</a:t>
            </a:r>
            <a:r>
              <a:rPr lang="en-GB" sz="1200">
                <a:solidFill>
                  <a:srgbClr val="374151"/>
                </a:solidFill>
                <a:highlight>
                  <a:srgbClr val="F7F7F8"/>
                </a:highlight>
                <a:latin typeface="Roboto"/>
                <a:ea typeface="Roboto"/>
                <a:cs typeface="Roboto"/>
                <a:sym typeface="Roboto"/>
              </a:rPr>
              <a:t>s</a:t>
            </a:r>
            <a:endParaRPr sz="1200">
              <a:solidFill>
                <a:srgbClr val="374151"/>
              </a:solidFill>
              <a:highlight>
                <a:srgbClr val="F7F7F8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endParaRPr sz="1800"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32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Introduction to Pattern Discovery</a:t>
            </a:r>
            <a:endParaRPr sz="3600"/>
          </a:p>
        </p:txBody>
      </p:sp>
      <p:sp>
        <p:nvSpPr>
          <p:cNvPr id="328" name="Google Shape;328;p32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763025" y="1646575"/>
            <a:ext cx="82311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7338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Observation: From TDB1: T1: {a1, …, a50}; T2: {a1, …, a100}  </a:t>
            </a:r>
            <a:endParaRPr sz="1800">
              <a:solidFill>
                <a:srgbClr val="1F1F1F"/>
              </a:solidFill>
            </a:endParaRPr>
          </a:p>
          <a:p>
            <a:pPr marL="742950" marR="0" lvl="1" indent="-331469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We get a frequent itemset: {a1, …, a50}  </a:t>
            </a:r>
            <a:endParaRPr sz="1800">
              <a:solidFill>
                <a:srgbClr val="1F1F1F"/>
              </a:solidFill>
            </a:endParaRPr>
          </a:p>
          <a:p>
            <a:pPr marL="742950" marR="0" lvl="1" indent="-331469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Also, its subsets: {a1}, {a2}, …, {a50}, {a1, a2}, …, {a1, …, a49}, …  </a:t>
            </a:r>
            <a:endParaRPr sz="1800">
              <a:solidFill>
                <a:srgbClr val="1F1F1F"/>
              </a:solidFill>
            </a:endParaRPr>
          </a:p>
          <a:p>
            <a:pPr marL="742950" marR="0" lvl="1" indent="-331469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There must be some hidden relationships among frequent patterns!  </a:t>
            </a:r>
            <a:endParaRPr sz="1800">
              <a:solidFill>
                <a:srgbClr val="1F1F1F"/>
              </a:solidFill>
            </a:endParaRPr>
          </a:p>
          <a:p>
            <a:pPr marL="342900" marR="0" lvl="0" indent="-38862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The downward closure (also called “Apriori”) property of frequent patterns  </a:t>
            </a:r>
            <a:endParaRPr sz="1800">
              <a:solidFill>
                <a:srgbClr val="1F1F1F"/>
              </a:solidFill>
            </a:endParaRPr>
          </a:p>
          <a:p>
            <a:pPr marL="742950" marR="0" lvl="1" indent="-331469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If {beer, diaper, nuts} is frequent, so is {beer, diaper}  </a:t>
            </a:r>
            <a:endParaRPr sz="1800">
              <a:solidFill>
                <a:srgbClr val="1F1F1F"/>
              </a:solidFill>
            </a:endParaRPr>
          </a:p>
          <a:p>
            <a:pPr marL="742950" marR="0" lvl="1" indent="-331469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Every transaction containing {beer, diaper, nuts} also contains {beer, diaper}  </a:t>
            </a:r>
            <a:endParaRPr sz="1800">
              <a:solidFill>
                <a:srgbClr val="1F1F1F"/>
              </a:solidFill>
            </a:endParaRPr>
          </a:p>
          <a:p>
            <a:pPr marL="742950" marR="0" lvl="1" indent="-331469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Apriori: Any subset of a frequent itemset must be frequent  </a:t>
            </a:r>
            <a:endParaRPr sz="1800">
              <a:solidFill>
                <a:srgbClr val="1F1F1F"/>
              </a:solidFill>
            </a:endParaRPr>
          </a:p>
          <a:p>
            <a:pPr marL="342900" marR="0" lvl="0" indent="-38862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Efficient mining methodology  ?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329" name="Google Shape;329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32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11</a:t>
            </a:fld>
            <a:endParaRPr/>
          </a:p>
        </p:txBody>
      </p:sp>
      <p:sp>
        <p:nvSpPr>
          <p:cNvPr id="331" name="Google Shape;331;p32"/>
          <p:cNvSpPr txBox="1"/>
          <p:nvPr/>
        </p:nvSpPr>
        <p:spPr>
          <a:xfrm>
            <a:off x="762000" y="1184875"/>
            <a:ext cx="6986100" cy="7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Downward Closure Property of Frequent Patterns</a:t>
            </a:r>
            <a:endParaRPr sz="1200">
              <a:solidFill>
                <a:srgbClr val="374151"/>
              </a:solidFill>
              <a:highlight>
                <a:srgbClr val="F7F7F8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endParaRPr sz="1800"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33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Summary</a:t>
            </a:r>
            <a:endParaRPr sz="3600"/>
          </a:p>
        </p:txBody>
      </p:sp>
      <p:sp>
        <p:nvSpPr>
          <p:cNvPr id="337" name="Google Shape;337;p33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88620" algn="just" rtl="0">
              <a:spcBef>
                <a:spcPts val="44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-GB" sz="1800">
                <a:solidFill>
                  <a:srgbClr val="000000"/>
                </a:solidFill>
              </a:rPr>
              <a:t>Pattern discovery: Identifying valuable patterns in data.</a:t>
            </a:r>
            <a:endParaRPr sz="1800">
              <a:solidFill>
                <a:srgbClr val="000000"/>
              </a:solidFill>
            </a:endParaRPr>
          </a:p>
          <a:p>
            <a:pPr marL="342900" lvl="0" indent="-388620" algn="just" rtl="0">
              <a:spcBef>
                <a:spcPts val="44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-GB" sz="1800">
                <a:solidFill>
                  <a:srgbClr val="000000"/>
                </a:solidFill>
              </a:rPr>
              <a:t>Importance: Informing decisions, diverse applications.</a:t>
            </a:r>
            <a:endParaRPr sz="1800">
              <a:solidFill>
                <a:srgbClr val="000000"/>
              </a:solidFill>
            </a:endParaRPr>
          </a:p>
          <a:p>
            <a:pPr marL="342900" lvl="0" indent="-388620" algn="just" rtl="0">
              <a:spcBef>
                <a:spcPts val="44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-GB" sz="1800">
                <a:solidFill>
                  <a:srgbClr val="000000"/>
                </a:solidFill>
              </a:rPr>
              <a:t>Challenges: Data quality, scalability, interpretability.</a:t>
            </a:r>
            <a:endParaRPr sz="1800">
              <a:solidFill>
                <a:srgbClr val="000000"/>
              </a:solidFill>
            </a:endParaRPr>
          </a:p>
        </p:txBody>
      </p:sp>
      <p:pic>
        <p:nvPicPr>
          <p:cNvPr id="338" name="Google Shape;338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33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12</a:t>
            </a:fld>
            <a:endParaRPr/>
          </a:p>
        </p:txBody>
      </p:sp>
      <p:sp>
        <p:nvSpPr>
          <p:cNvPr id="340" name="Google Shape;340;p33"/>
          <p:cNvSpPr txBox="1"/>
          <p:nvPr/>
        </p:nvSpPr>
        <p:spPr>
          <a:xfrm>
            <a:off x="762000" y="1184875"/>
            <a:ext cx="7953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endParaRPr sz="1800"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1" name="Google Shape;341;p33"/>
          <p:cNvSpPr txBox="1"/>
          <p:nvPr/>
        </p:nvSpPr>
        <p:spPr>
          <a:xfrm>
            <a:off x="762000" y="1184875"/>
            <a:ext cx="8239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 to Pattern Discovery</a:t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Blueprint">
  <a:themeElements>
    <a:clrScheme name="">
      <a:dk1>
        <a:srgbClr val="40458C"/>
      </a:dk1>
      <a:lt1>
        <a:srgbClr val="FFFFFF"/>
      </a:lt1>
      <a:dk2>
        <a:srgbClr val="BE2D00"/>
      </a:dk2>
      <a:lt2>
        <a:srgbClr val="B7C1EB"/>
      </a:lt2>
      <a:accent1>
        <a:srgbClr val="ECD882"/>
      </a:accent1>
      <a:accent2>
        <a:srgbClr val="577052"/>
      </a:accent2>
      <a:accent3>
        <a:srgbClr val="FFFFFF"/>
      </a:accent3>
      <a:accent4>
        <a:srgbClr val="353A77"/>
      </a:accent4>
      <a:accent5>
        <a:srgbClr val="F4E9C1"/>
      </a:accent5>
      <a:accent6>
        <a:srgbClr val="4E6549"/>
      </a:accent6>
      <a:hlink>
        <a:srgbClr val="6F89F7"/>
      </a:hlink>
      <a:folHlink>
        <a:srgbClr val="CFDBF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Blueprint">
  <a:themeElements>
    <a:clrScheme name="">
      <a:dk1>
        <a:srgbClr val="40458C"/>
      </a:dk1>
      <a:lt1>
        <a:srgbClr val="FFFFFF"/>
      </a:lt1>
      <a:dk2>
        <a:srgbClr val="BE2D00"/>
      </a:dk2>
      <a:lt2>
        <a:srgbClr val="B7C1EB"/>
      </a:lt2>
      <a:accent1>
        <a:srgbClr val="ECD882"/>
      </a:accent1>
      <a:accent2>
        <a:srgbClr val="577052"/>
      </a:accent2>
      <a:accent3>
        <a:srgbClr val="FFFFFF"/>
      </a:accent3>
      <a:accent4>
        <a:srgbClr val="353A77"/>
      </a:accent4>
      <a:accent5>
        <a:srgbClr val="F4E9C1"/>
      </a:accent5>
      <a:accent6>
        <a:srgbClr val="4E6549"/>
      </a:accent6>
      <a:hlink>
        <a:srgbClr val="6F89F7"/>
      </a:hlink>
      <a:folHlink>
        <a:srgbClr val="CFDBF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1139</Words>
  <Application>Microsoft Macintosh PowerPoint</Application>
  <PresentationFormat>On-screen Show (16:9)</PresentationFormat>
  <Paragraphs>114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Arial</vt:lpstr>
      <vt:lpstr>Tahoma</vt:lpstr>
      <vt:lpstr>Noto Sans Symbols</vt:lpstr>
      <vt:lpstr>Times New Roman</vt:lpstr>
      <vt:lpstr>Roboto</vt:lpstr>
      <vt:lpstr>Simple Light</vt:lpstr>
      <vt:lpstr>1_Blueprint</vt:lpstr>
      <vt:lpstr>Blueprint</vt:lpstr>
      <vt:lpstr>Chapter 3:  Pattern Discovery in Data Mining</vt:lpstr>
      <vt:lpstr>Objective</vt:lpstr>
      <vt:lpstr>Introduction to Pattern Discovery</vt:lpstr>
      <vt:lpstr>Introduction to Pattern Discovery</vt:lpstr>
      <vt:lpstr>Introduction to Pattern Discovery</vt:lpstr>
      <vt:lpstr>Introduction to Pattern Discovery</vt:lpstr>
      <vt:lpstr>Introduction to Pattern Discovery</vt:lpstr>
      <vt:lpstr>Introduction to Pattern Discovery</vt:lpstr>
      <vt:lpstr>Introduction to Pattern Discovery</vt:lpstr>
      <vt:lpstr>Introduction to Pattern Discovery</vt:lpstr>
      <vt:lpstr>Introduction to Pattern Discovery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. Daziel.vad</cp:lastModifiedBy>
  <cp:revision>1</cp:revision>
  <dcterms:modified xsi:type="dcterms:W3CDTF">2026-01-16T04:00:56Z</dcterms:modified>
</cp:coreProperties>
</file>