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67" r:id="rId2"/>
    <p:sldMasterId id="2147483668" r:id="rId3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 type="screen16x9"/>
  <p:notesSz cx="6858000" cy="9144000"/>
  <p:embeddedFontLst>
    <p:embeddedFont>
      <p:font typeface="Noto Sans Symbols" pitchFamily="2" charset="0"/>
      <p:regular r:id="rId26"/>
      <p:bold r:id="rId27"/>
    </p:embeddedFont>
    <p:embeddedFont>
      <p:font typeface="Tahoma" panose="020B0604030504040204" pitchFamily="34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94"/>
  </p:normalViewPr>
  <p:slideViewPr>
    <p:cSldViewPr snapToGrid="0">
      <p:cViewPr>
        <p:scale>
          <a:sx n="147" d="100"/>
          <a:sy n="147" d="100"/>
        </p:scale>
        <p:origin x="1184" y="4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1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font" Target="fonts/font3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GB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62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2582b55a4a5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58332fb90c_0_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g258332fb90c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58332fb90c_0_1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258332fb90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58332fb90c_0_2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258332fb90c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58332fb90c_0_3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258332fb90c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5f17a0926a_0_6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g25f17a0926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58332fb90c_0_46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g258332fb90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58332fb90c_0_56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258332fb90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58332fb90c_0_66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g258332fb90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58332fb90c_0_74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258332fb90c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3ba70fc503_2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g23ba70fc503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3ba70fc503_2_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3ba70fc503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3ba70fc503_2_16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23ba70fc503_2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3ba70fc503_2_24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g23ba70fc503_2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3ba70fc503_2_32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g23ba70fc503_2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3ba70fc503_2_4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g23ba70fc503_2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3ba70fc503_2_4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g23ba70fc503_2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3ba70fc503_2_56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g23ba70fc503_2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3ba70fc503_2_64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g23ba70fc503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4c71afe5a3_0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g24c71afe5a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>
            <a:spLocks noGrp="1"/>
          </p:cNvSpPr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5" descr="Rectangle: Click to edit Master text styles&#10;Second level&#10;Third level&#10;Fourth level&#10;Fifth level"/>
          <p:cNvSpPr txBox="1">
            <a:spLocks noGrp="1"/>
          </p:cNvSpPr>
          <p:nvPr>
            <p:ph type="subTitle" idx="1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15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17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7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7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8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8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9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9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1" name="Google Shape;221;p20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0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0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1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27" name="Google Shape;227;p21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1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1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rot="-5400000" flipH="1">
                <a:off x="425" y="860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4" name="Google Shape;124;p1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188" name="Google Shape;188;p16" descr="60%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w="9525" cap="flat" cmpd="sng">
              <a:solidFill>
                <a:schemeClr val="hlink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5" name="Google Shape;195;p1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6" name="Google Shape;196;p16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7" name="Google Shape;197;p16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8" name="Google Shape;198;p16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>
            <a:spLocks noGrp="1"/>
          </p:cNvSpPr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3</a:t>
            </a: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Pattern Discovery in Data Mining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</a:t>
            </a:r>
            <a:endParaRPr sz="3600"/>
          </a:p>
        </p:txBody>
      </p:sp>
      <p:sp>
        <p:nvSpPr>
          <p:cNvPr id="242" name="Google Shape;242;p2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Overview of other pattern mining methods beyond frequent itemset mining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Association rule mining, sequential pattern mining, graph pattern mining, etc.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Brief explanation of their respective algorithms and applications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</a:t>
            </a:r>
            <a:endParaRPr sz="3600"/>
          </a:p>
        </p:txBody>
      </p:sp>
      <p:sp>
        <p:nvSpPr>
          <p:cNvPr id="251" name="Google Shape;251;p2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Mining multi-level associations involves discovering associations at different levels of granularity.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focuses on capturing associations not only between individual items but also between itemsets or item hierarchies.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Mining Multi-level Associations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id="260" name="Google Shape;260;p2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Multi-level associations provide a more </a:t>
            </a:r>
            <a:r>
              <a:rPr lang="en-GB" sz="1800" b="1" dirty="0">
                <a:solidFill>
                  <a:srgbClr val="1F1F1F"/>
                </a:solidFill>
              </a:rPr>
              <a:t>comprehensive</a:t>
            </a:r>
            <a:r>
              <a:rPr lang="en-GB" sz="1800" dirty="0">
                <a:solidFill>
                  <a:srgbClr val="1F1F1F"/>
                </a:solidFill>
              </a:rPr>
              <a:t> understanding of item relationships.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They enable the analysis of associations at different levels of detail, from individual items to higher-level </a:t>
            </a:r>
            <a:r>
              <a:rPr lang="en-GB" sz="1800" dirty="0" err="1">
                <a:solidFill>
                  <a:srgbClr val="1F1F1F"/>
                </a:solidFill>
              </a:rPr>
              <a:t>itemsets</a:t>
            </a:r>
            <a:r>
              <a:rPr lang="en-GB" sz="1800" dirty="0">
                <a:solidFill>
                  <a:srgbClr val="1F1F1F"/>
                </a:solidFill>
              </a:rPr>
              <a:t> or item hierarchies.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Multi-level associations can </a:t>
            </a:r>
            <a:r>
              <a:rPr lang="en-GB" sz="1800" b="1" dirty="0">
                <a:solidFill>
                  <a:srgbClr val="1F1F1F"/>
                </a:solidFill>
              </a:rPr>
              <a:t>reveal hidden patterns</a:t>
            </a:r>
            <a:r>
              <a:rPr lang="en-GB" sz="1800" dirty="0">
                <a:solidFill>
                  <a:srgbClr val="1F1F1F"/>
                </a:solidFill>
              </a:rPr>
              <a:t> and dependencies that are not apparent at a single level.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61" name="Google Shape;26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 for Mining Multi-level Associations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id="269" name="Google Shape;269;p2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Items often form hierarchies  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Ex.: Dairyland 2% milk; Wonder wheat bread  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How to set min-support thresholds? 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Uniform support across multiple levels (reasonable?)  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Level-reduced min-support: Items at the lower level are expected to have lower support  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Efficient mining: Shared multi-level mining  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Use the lowest min-support to pass down the set of candidates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Mining Multiple-Level Frequent Patterns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3" name="Google Shape;27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1775" y="621738"/>
            <a:ext cx="4005601" cy="129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id="279" name="Google Shape;279;p2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Multi-level association mining may generate many redundant rules  </a:t>
            </a:r>
            <a:endParaRPr sz="1800" dirty="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Redundancy filtering: Some rules may be redundant due to “ancestor” relationships between items (Suppose the 2% milk sold is about ¼ of milk sold in gallons)  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milk ⇒ wheat bread [support = 8%, confidence = 70%] (1)  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2% milk ⇒ wheat bread [support = 2%, confidence = 72%] (2)  </a:t>
            </a:r>
            <a:endParaRPr sz="1800" dirty="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A rule is </a:t>
            </a:r>
            <a:r>
              <a:rPr lang="en-GB" sz="1800" b="1" i="1" dirty="0">
                <a:solidFill>
                  <a:srgbClr val="1F1F1F"/>
                </a:solidFill>
              </a:rPr>
              <a:t>redundant</a:t>
            </a:r>
            <a:r>
              <a:rPr lang="en-GB" sz="1800" dirty="0">
                <a:solidFill>
                  <a:srgbClr val="1F1F1F"/>
                </a:solidFill>
              </a:rPr>
              <a:t> if its support is close to the “expected” value, according to its “ancestor” rule, and it has a similar confidence as its “ancestor”  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Rule (1) is an ancestor of rule (2), which one to prune?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80" name="Google Shape;280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/>
          </a:p>
        </p:txBody>
      </p:sp>
      <p:sp>
        <p:nvSpPr>
          <p:cNvPr id="282" name="Google Shape;282;p27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Redundancy Filtering at Mining Multi-Level Associations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id="288" name="Google Shape;288;p2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We have used the same min-support threshold for all the items or item sets to be mined in each association mining  </a:t>
            </a:r>
            <a:endParaRPr sz="1800" dirty="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In reality, some items (e.g., diamond, watch, …) are valuable but less frequent  </a:t>
            </a:r>
            <a:endParaRPr sz="1800" dirty="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It is necessary to have customized min-support settings for different kinds of items  </a:t>
            </a:r>
            <a:endParaRPr sz="1800" dirty="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One Method: Use group-based “individualized” min-support  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E.g., {diamond, watch}: 0.05%; {bread, milk}: 5%; …  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How to mine such rules efficiently?  Existing scalable mining algorithms can be easily extended to cover such cases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89" name="Google Shape;28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/>
          </a:p>
        </p:txBody>
      </p:sp>
      <p:sp>
        <p:nvSpPr>
          <p:cNvPr id="291" name="Google Shape;291;p28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Customized Min-Supports for Different Kinds of Items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id="297" name="Google Shape;297;p2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Consider a retail scenario where items are organized in a hierarchy, such as categories, subcategories, and specific products.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Mining multi-level associations can reveal interesting patterns, such as: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Associations between specific products within the same subcategory.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Associations between different subcategories within the same category.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Associations between products from different categories.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98" name="Google Shape;298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/>
          </a:p>
        </p:txBody>
      </p:sp>
      <p:sp>
        <p:nvSpPr>
          <p:cNvPr id="300" name="Google Shape;300;p29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Mining Multi-level Associations in Retail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id="306" name="Google Shape;306;p3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Enhanced Insights: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Multi-level associations provide a more comprehensive view of item relationships, leading to deeper insights.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They reveal hidden dependencies and patterns that may not be evident at a single level.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Personalized Recommendations: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Multi-level associations enable personalized recommendations based on item hierarchies or higher-level associations.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This helps in suggesting relevant items based on user preferences and behavior.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/>
          </a:p>
        </p:txBody>
      </p:sp>
      <p:sp>
        <p:nvSpPr>
          <p:cNvPr id="309" name="Google Shape;309;p30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 and Applications 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</a:t>
            </a:r>
            <a:endParaRPr sz="3600"/>
          </a:p>
        </p:txBody>
      </p:sp>
      <p:sp>
        <p:nvSpPr>
          <p:cNvPr id="315" name="Google Shape;315;p31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Market Basket Analysis: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Multi-level associations facilitate more detailed market basket analysis by capturing associations at different levels of granularity.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This leads to better understanding of customer preferences and purchasing patterns.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16" name="Google Shape;31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/>
          </a:p>
        </p:txBody>
      </p:sp>
      <p:sp>
        <p:nvSpPr>
          <p:cNvPr id="318" name="Google Shape;318;p31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 and Applications 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</a:t>
            </a:r>
            <a:endParaRPr sz="3600"/>
          </a:p>
        </p:txBody>
      </p:sp>
      <p:sp>
        <p:nvSpPr>
          <p:cNvPr id="324" name="Google Shape;324;p3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0" y="1132081"/>
            <a:ext cx="9168435" cy="364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Complexity: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Mining multi-level associations can be computationally intensive due to the increased number of possible associations.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Efficient algorithms and data structures are required to handle the combinatorial explosion of </a:t>
            </a:r>
            <a:r>
              <a:rPr lang="en-GB" sz="1800" dirty="0" err="1">
                <a:solidFill>
                  <a:srgbClr val="1F1F1F"/>
                </a:solidFill>
              </a:rPr>
              <a:t>itemsets</a:t>
            </a:r>
            <a:r>
              <a:rPr lang="en-GB" sz="1800" dirty="0">
                <a:solidFill>
                  <a:srgbClr val="1F1F1F"/>
                </a:solidFill>
              </a:rPr>
              <a:t>.</a:t>
            </a:r>
            <a:endParaRPr sz="1800" dirty="0">
              <a:solidFill>
                <a:srgbClr val="1F1F1F"/>
              </a:solidFill>
            </a:endParaRPr>
          </a:p>
          <a:p>
            <a:pPr lvl="0" indent="-342900">
              <a:lnSpc>
                <a:spcPct val="115000"/>
              </a:lnSpc>
              <a:spcBef>
                <a:spcPts val="0"/>
              </a:spcBef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Granularity Determination: (</a:t>
            </a:r>
            <a:r>
              <a:rPr lang="en-US" b="1" dirty="0"/>
              <a:t>Fine-grained, Coarse-grained</a:t>
            </a:r>
            <a:r>
              <a:rPr lang="en-GB" sz="1800" dirty="0">
                <a:solidFill>
                  <a:srgbClr val="1F1F1F"/>
                </a:solidFill>
              </a:rPr>
              <a:t>)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Determining the appropriate levels of granularity for mining multi-level associations is crucial.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Choosing too fine-grained or too coarse-grained levels may lead to information loss or irrelevant patterns.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325" name="Google Shape;32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/>
          </a:p>
        </p:txBody>
      </p:sp>
      <p:sp>
        <p:nvSpPr>
          <p:cNvPr id="327" name="Google Shape;327;p32"/>
          <p:cNvSpPr txBox="1"/>
          <p:nvPr/>
        </p:nvSpPr>
        <p:spPr>
          <a:xfrm>
            <a:off x="535385" y="960631"/>
            <a:ext cx="5687400" cy="512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</a:t>
            </a: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Mining Multi-level Associations</a:t>
            </a:r>
            <a:endParaRPr sz="1800" b="1" i="1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id="333" name="Google Shape;333;p3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Overview of other pattern mining methods beyond frequent itemset mining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Association rule mining, sequential pattern mining, graph pattern mining, etc.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Brief explanation of their respective algorithms and applications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34" name="Google Shape;334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/>
          </a:p>
        </p:txBody>
      </p:sp>
      <p:sp>
        <p:nvSpPr>
          <p:cNvPr id="336" name="Google Shape;336;p3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 dirty="0"/>
              <a:t>Mining Methods </a:t>
            </a:r>
            <a:endParaRPr sz="3600" dirty="0"/>
          </a:p>
        </p:txBody>
      </p:sp>
      <p:sp>
        <p:nvSpPr>
          <p:cNvPr id="342" name="Google Shape;342;p3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Mining multi-dimensional associations involves discovering associations among multiple dimensions or attributes.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focuses on capturing relationships and dependencies between different dimensions of data.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43" name="Google Shape;343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/>
          </a:p>
        </p:txBody>
      </p:sp>
      <p:sp>
        <p:nvSpPr>
          <p:cNvPr id="345" name="Google Shape;345;p34"/>
          <p:cNvSpPr txBox="1"/>
          <p:nvPr/>
        </p:nvSpPr>
        <p:spPr>
          <a:xfrm>
            <a:off x="762000" y="1184875"/>
            <a:ext cx="5687400" cy="512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Mining </a:t>
            </a:r>
            <a:r>
              <a:rPr lang="en-GB" sz="1800" b="1" i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Multi-dimensional</a:t>
            </a: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Associations</a:t>
            </a:r>
            <a:endParaRPr sz="1800" b="1" i="1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id="351" name="Google Shape;351;p3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Multi-dimensional associations provide a </a:t>
            </a:r>
            <a:r>
              <a:rPr lang="en-GB" sz="1800" dirty="0">
                <a:solidFill>
                  <a:srgbClr val="FF0000"/>
                </a:solidFill>
              </a:rPr>
              <a:t>holistic view </a:t>
            </a:r>
            <a:r>
              <a:rPr lang="en-GB" sz="1800" dirty="0">
                <a:solidFill>
                  <a:srgbClr val="1F1F1F"/>
                </a:solidFill>
              </a:rPr>
              <a:t>of data relationships.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They enable the analysis of associations across multiple dimensions, revealing complex patterns and dependencies.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Multi-dimensional associations are valuable for decision-making, pattern discovery, and understanding complex systems.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352" name="Google Shape;352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14</a:t>
            </a:fld>
            <a:endParaRPr/>
          </a:p>
        </p:txBody>
      </p:sp>
      <p:sp>
        <p:nvSpPr>
          <p:cNvPr id="354" name="Google Shape;354;p35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 for Mining Multi-dimensional Associations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id="360" name="Google Shape;360;p3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8479500" cy="33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Single-dimensional rules (e.g., items are all in “product” dimension)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buys(X, “milk”) ⇒ buys(X, “bread”)  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Multi-dimensional rules (i.e., items in ≥ 2 dimensions or predicates)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Inter-dimension association rules (no repeated predicates) </a:t>
            </a:r>
            <a:endParaRPr sz="1800">
              <a:solidFill>
                <a:srgbClr val="1F1F1F"/>
              </a:solidFill>
            </a:endParaRPr>
          </a:p>
          <a:p>
            <a:pPr marL="137160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age(X, “18-25”) ∧ occupation(X, “student”) ⇒ buys(X, “coke”)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Hybrid-dimension association rules (repeated predicates) </a:t>
            </a:r>
            <a:endParaRPr sz="1800">
              <a:solidFill>
                <a:srgbClr val="1F1F1F"/>
              </a:solidFill>
            </a:endParaRPr>
          </a:p>
          <a:p>
            <a:pPr marL="137160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age(X, “18-25”) ∧ buys(X, “popcorn”) ⇒ buys(X, “coke”)  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Attributes can be categorical or numerical </a:t>
            </a:r>
            <a:endParaRPr sz="1800">
              <a:solidFill>
                <a:srgbClr val="1F1F1F"/>
              </a:solidFill>
            </a:endParaRPr>
          </a:p>
          <a:p>
            <a:pPr marL="137160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Categorical Attributes (e.g., profession, product: no ordering among values)</a:t>
            </a:r>
            <a:endParaRPr sz="1800">
              <a:solidFill>
                <a:srgbClr val="1F1F1F"/>
              </a:solidFill>
            </a:endParaRPr>
          </a:p>
          <a:p>
            <a:pPr marL="137160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Quantitative Attributes: Numeric, implicit ordering among values)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61" name="Google Shape;361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15</a:t>
            </a:fld>
            <a:endParaRPr/>
          </a:p>
        </p:txBody>
      </p:sp>
      <p:sp>
        <p:nvSpPr>
          <p:cNvPr id="363" name="Google Shape;363;p36"/>
          <p:cNvSpPr txBox="1"/>
          <p:nvPr/>
        </p:nvSpPr>
        <p:spPr>
          <a:xfrm>
            <a:off x="762000" y="1184875"/>
            <a:ext cx="629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Mining Multi-Dimensional Associations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id="369" name="Google Shape;369;p3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Cube Mining: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Data cubes provide a multi-dimensional representation of data, allowing for the discovery of associations among dimensions.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Techniques like frequent pattern mining or rule mining can be applied on data cubes.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70" name="Google Shape;370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16</a:t>
            </a:fld>
            <a:endParaRPr/>
          </a:p>
        </p:txBody>
      </p:sp>
      <p:sp>
        <p:nvSpPr>
          <p:cNvPr id="372" name="Google Shape;372;p37"/>
          <p:cNvSpPr txBox="1"/>
          <p:nvPr/>
        </p:nvSpPr>
        <p:spPr>
          <a:xfrm>
            <a:off x="762000" y="1184875"/>
            <a:ext cx="6429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Techniques for Mining Multi-dimensional Associations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id="378" name="Google Shape;378;p3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Consider a scenario where customer </a:t>
            </a:r>
            <a:r>
              <a:rPr lang="en-GB" sz="1800" dirty="0" err="1">
                <a:solidFill>
                  <a:srgbClr val="1F1F1F"/>
                </a:solidFill>
              </a:rPr>
              <a:t>behavior</a:t>
            </a:r>
            <a:r>
              <a:rPr lang="en-GB" sz="1800" dirty="0">
                <a:solidFill>
                  <a:srgbClr val="1F1F1F"/>
                </a:solidFill>
              </a:rPr>
              <a:t> is captured across multiple dimensions, such as time, location, and product category.</a:t>
            </a:r>
            <a:endParaRPr sz="1800" dirty="0">
              <a:solidFill>
                <a:srgbClr val="1F1F1F"/>
              </a:solidFill>
            </a:endParaRPr>
          </a:p>
          <a:p>
            <a:pPr marL="342900" lvl="0" indent="-38862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Mining multi-dimensional associations can reveal valuable insights, such as:</a:t>
            </a:r>
            <a:endParaRPr sz="1800" dirty="0">
              <a:solidFill>
                <a:srgbClr val="1F1F1F"/>
              </a:solidFill>
            </a:endParaRPr>
          </a:p>
          <a:p>
            <a:pPr marL="742950" lvl="1" indent="-3314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b="1" dirty="0">
                <a:solidFill>
                  <a:srgbClr val="1F1F1F"/>
                </a:solidFill>
              </a:rPr>
              <a:t>Associations between specific product categories and customer </a:t>
            </a:r>
            <a:r>
              <a:rPr lang="en-GB" sz="1800" b="1" u="sng" dirty="0">
                <a:solidFill>
                  <a:srgbClr val="1F1F1F"/>
                </a:solidFill>
              </a:rPr>
              <a:t>demographics (</a:t>
            </a:r>
            <a:r>
              <a:rPr lang="en-GB" sz="1800" b="1" u="sng" dirty="0" err="1">
                <a:solidFill>
                  <a:srgbClr val="1F1F1F"/>
                </a:solidFill>
              </a:rPr>
              <a:t>Nhân</a:t>
            </a:r>
            <a:r>
              <a:rPr lang="en-GB" sz="1800" b="1" u="sng" dirty="0">
                <a:solidFill>
                  <a:srgbClr val="1F1F1F"/>
                </a:solidFill>
              </a:rPr>
              <a:t> </a:t>
            </a:r>
            <a:r>
              <a:rPr lang="en-GB" sz="1800" b="1" u="sng" dirty="0" err="1">
                <a:solidFill>
                  <a:srgbClr val="1F1F1F"/>
                </a:solidFill>
              </a:rPr>
              <a:t>khẩu</a:t>
            </a:r>
            <a:r>
              <a:rPr lang="en-GB" sz="1800" b="1" u="sng" dirty="0">
                <a:solidFill>
                  <a:srgbClr val="1F1F1F"/>
                </a:solidFill>
              </a:rPr>
              <a:t> </a:t>
            </a:r>
            <a:r>
              <a:rPr lang="en-GB" sz="1800" b="1" u="sng" dirty="0" err="1">
                <a:solidFill>
                  <a:srgbClr val="1F1F1F"/>
                </a:solidFill>
              </a:rPr>
              <a:t>học</a:t>
            </a:r>
            <a:r>
              <a:rPr lang="en-GB" sz="1800" b="1" u="sng" dirty="0">
                <a:solidFill>
                  <a:srgbClr val="1F1F1F"/>
                </a:solidFill>
              </a:rPr>
              <a:t>)</a:t>
            </a:r>
            <a:r>
              <a:rPr lang="en-GB" sz="1800" b="1" dirty="0">
                <a:solidFill>
                  <a:srgbClr val="1F1F1F"/>
                </a:solidFill>
              </a:rPr>
              <a:t>.</a:t>
            </a:r>
            <a:endParaRPr sz="1800" b="1" dirty="0">
              <a:solidFill>
                <a:srgbClr val="1F1F1F"/>
              </a:solidFill>
            </a:endParaRPr>
          </a:p>
          <a:p>
            <a:pPr marL="742950" lvl="1" indent="-3314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Associations between customer </a:t>
            </a:r>
            <a:r>
              <a:rPr lang="en-GB" sz="1800" dirty="0" err="1">
                <a:solidFill>
                  <a:srgbClr val="1F1F1F"/>
                </a:solidFill>
              </a:rPr>
              <a:t>behavior</a:t>
            </a:r>
            <a:r>
              <a:rPr lang="en-GB" sz="1800" dirty="0">
                <a:solidFill>
                  <a:srgbClr val="1F1F1F"/>
                </a:solidFill>
              </a:rPr>
              <a:t> patterns and time of day or location.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379" name="Google Shape;379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17</a:t>
            </a:fld>
            <a:endParaRPr/>
          </a:p>
        </p:txBody>
      </p:sp>
      <p:sp>
        <p:nvSpPr>
          <p:cNvPr id="381" name="Google Shape;381;p38"/>
          <p:cNvSpPr txBox="1"/>
          <p:nvPr/>
        </p:nvSpPr>
        <p:spPr>
          <a:xfrm>
            <a:off x="762000" y="1184875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Mining Multi-dimensional Associations in Customer Behavior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9"/>
          <p:cNvSpPr txBox="1">
            <a:spLocks noGrp="1"/>
          </p:cNvSpPr>
          <p:nvPr>
            <p:ph type="title"/>
          </p:nvPr>
        </p:nvSpPr>
        <p:spPr>
          <a:xfrm>
            <a:off x="609600" y="246018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id="387" name="Google Shape;387;p3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657300" y="1281263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Comprehensive Insights: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Multi-dimensional associations offer a comprehensive understanding of relationships among different dimensions, enabling deeper insights.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They reveal complex patterns and dependencies that may not be apparent in individual dimensions.</a:t>
            </a:r>
            <a:endParaRPr sz="1800" dirty="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Decision Support: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Multi-dimensional associations assist in decision-making by providing a broader context and considering multiple dimensions simultaneously.</a:t>
            </a:r>
            <a:endParaRPr sz="1800" dirty="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They help in identifying key factors and relationships that impact decision outcomes.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388" name="Google Shape;388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18</a:t>
            </a:fld>
            <a:endParaRPr/>
          </a:p>
        </p:txBody>
      </p:sp>
      <p:sp>
        <p:nvSpPr>
          <p:cNvPr id="390" name="Google Shape;390;p39"/>
          <p:cNvSpPr txBox="1"/>
          <p:nvPr/>
        </p:nvSpPr>
        <p:spPr>
          <a:xfrm>
            <a:off x="609600" y="1050413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 and Applications </a:t>
            </a:r>
            <a:endParaRPr sz="1800" b="1" i="1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id="396" name="Google Shape;396;p4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Business Intelligence and Data Analytics: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Multi-dimensional associations enhance business intelligence and data analytics efforts by uncovering meaningful patterns and trends.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They support strategic planning, targeted marketing, and customer segmentation.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97" name="Google Shape;397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4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19</a:t>
            </a:fld>
            <a:endParaRPr/>
          </a:p>
        </p:txBody>
      </p:sp>
      <p:sp>
        <p:nvSpPr>
          <p:cNvPr id="399" name="Google Shape;399;p40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 and Applications 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id="405" name="Google Shape;405;p41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Complexity: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Multi-dimensional data can be large, complex, and high-dimensional, which poses challenges for efficient mining.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Advanced algorithms and techniques are required to handle the complexity and scalability of multi-dimensional associations.</a:t>
            </a:r>
            <a:endParaRPr sz="1800">
              <a:solidFill>
                <a:srgbClr val="1F1F1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Dimensionality Reduction: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Dimensionality reduction techniques may be necessary to eliminate irrelevant or redundant dimensions, focusing on the most relevant ones.</a:t>
            </a:r>
            <a:endParaRPr sz="1800">
              <a:solidFill>
                <a:srgbClr val="1F1F1F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This helps reduce computational complexity and improve the interpretability of results.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06" name="Google Shape;406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4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20</a:t>
            </a:fld>
            <a:endParaRPr/>
          </a:p>
        </p:txBody>
      </p:sp>
      <p:sp>
        <p:nvSpPr>
          <p:cNvPr id="408" name="Google Shape;408;p41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in Mining Multi-dimensional Associations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2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Summary</a:t>
            </a:r>
            <a:endParaRPr sz="3600"/>
          </a:p>
        </p:txBody>
      </p:sp>
      <p:sp>
        <p:nvSpPr>
          <p:cNvPr id="414" name="Google Shape;414;p4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Beyond frequent itemset mining.</a:t>
            </a:r>
            <a:endParaRPr sz="180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Methods: Association rules, sequential patterns, graph patterns.</a:t>
            </a:r>
            <a:endParaRPr sz="180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Algorithms and applications vary by method.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415" name="Google Shape;415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4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21</a:t>
            </a:fld>
            <a:endParaRPr/>
          </a:p>
        </p:txBody>
      </p:sp>
      <p:sp>
        <p:nvSpPr>
          <p:cNvPr id="417" name="Google Shape;417;p42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8" name="Google Shape;418;p42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Mining Methods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1305</Words>
  <Application>Microsoft Macintosh PowerPoint</Application>
  <PresentationFormat>On-screen Show (16:9)</PresentationFormat>
  <Paragraphs>152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Tahoma</vt:lpstr>
      <vt:lpstr>Times New Roman</vt:lpstr>
      <vt:lpstr>Noto Sans Symbols</vt:lpstr>
      <vt:lpstr>Simple Light</vt:lpstr>
      <vt:lpstr>1_Blueprint</vt:lpstr>
      <vt:lpstr>Blueprint</vt:lpstr>
      <vt:lpstr>Chapter 3:  Pattern Discovery in Data Mining</vt:lpstr>
      <vt:lpstr>Mining Methods</vt:lpstr>
      <vt:lpstr>Mining Methods</vt:lpstr>
      <vt:lpstr>Mining Methods </vt:lpstr>
      <vt:lpstr>Mining Methods </vt:lpstr>
      <vt:lpstr>Mining Methods </vt:lpstr>
      <vt:lpstr>Mining Methods </vt:lpstr>
      <vt:lpstr>Mining Methods </vt:lpstr>
      <vt:lpstr>Mining Methods </vt:lpstr>
      <vt:lpstr>Mining Methods</vt:lpstr>
      <vt:lpstr>Mining Methods</vt:lpstr>
      <vt:lpstr>Mining Methods </vt:lpstr>
      <vt:lpstr>Mining Methods </vt:lpstr>
      <vt:lpstr>Mining Methods </vt:lpstr>
      <vt:lpstr>Mining Methods </vt:lpstr>
      <vt:lpstr>Mining Methods </vt:lpstr>
      <vt:lpstr>Mining Methods </vt:lpstr>
      <vt:lpstr>Mining Methods </vt:lpstr>
      <vt:lpstr>Mining Methods </vt:lpstr>
      <vt:lpstr>Mining Methods 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. Daziel.vad</cp:lastModifiedBy>
  <cp:revision>1</cp:revision>
  <dcterms:modified xsi:type="dcterms:W3CDTF">2026-01-27T03:34:14Z</dcterms:modified>
</cp:coreProperties>
</file>