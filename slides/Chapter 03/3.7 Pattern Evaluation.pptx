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  <p:sldMasterId id="2147483668" r:id="rId3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 type="screen16x9"/>
  <p:notesSz cx="6858000" cy="9144000"/>
  <p:embeddedFontLst>
    <p:embeddedFont>
      <p:font typeface="Noto Sans Symbols" pitchFamily="2" charset="0"/>
      <p:regular r:id="rId25"/>
      <p:bold r:id="rId26"/>
    </p:embeddedFont>
    <p:embeddedFont>
      <p:font typeface="Tahoma" panose="020B0604030504040204" pitchFamily="3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76"/>
  </p:normalViewPr>
  <p:slideViewPr>
    <p:cSldViewPr snapToGrid="0">
      <p:cViewPr>
        <p:scale>
          <a:sx n="103" d="100"/>
          <a:sy n="103" d="100"/>
        </p:scale>
        <p:origin x="2936" y="17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4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" name="Google Shape;239;g2582b55a4a5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5802569102_1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2580256910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39c6b03c85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239c6b03c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5802569102_1_1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5802569102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5802569102_1_2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25802569102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5802569102_1_3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25802569102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5802569102_1_4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25802569102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5802569102_1_5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25802569102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5802569102_1_6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25802569102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3ba531951f_1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3ba531951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3ba531951f_1_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23ba531951f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3ba531951f_1_1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3ba531951f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3ba531951f_1_2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23ba531951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3ba531951f_1_3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23ba531951f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3ba531951f_1_4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23ba531951f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3ba531951f_1_4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g23ba531951f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3ba531951f_1_5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23ba531951f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3ba531951f_1_65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3ba531951f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8a123063f0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28a123063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242" name="Google Shape;242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Importance of evaluating and measuring the quality of discovered patterns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Metrics and measures for pattern evaluation, such as support, confidence, and lift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Considerations for assessing pattern significance and usefulness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251" name="Google Shape;251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Pattern evaluation plays a critical role in determining the significance and value of discovered patterns.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helps in identifying patterns that are relevant, interesting, and actionable.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Pattern Evaluation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260" name="Google Shape;260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535385" y="1174860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Pattern-mining will generate a large set of patterns/rules  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Not all the generated patterns/rules are interesting  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Interestingness measures: Objective vs. subjective  </a:t>
            </a:r>
            <a:endParaRPr sz="1800" dirty="0">
              <a:solidFill>
                <a:srgbClr val="1F1F1F"/>
              </a:solidFill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 dirty="0">
                <a:solidFill>
                  <a:srgbClr val="1F1F1F"/>
                </a:solidFill>
              </a:rPr>
              <a:t>Objective interestingness measures  </a:t>
            </a:r>
            <a:endParaRPr sz="1800" dirty="0">
              <a:solidFill>
                <a:srgbClr val="1F1F1F"/>
              </a:solidFill>
            </a:endParaRPr>
          </a:p>
          <a:p>
            <a:pPr marL="182880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Support, confidence, correlation, …  </a:t>
            </a:r>
            <a:endParaRPr sz="1800" dirty="0">
              <a:solidFill>
                <a:srgbClr val="1F1F1F"/>
              </a:solidFill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 dirty="0">
                <a:solidFill>
                  <a:srgbClr val="1F1F1F"/>
                </a:solidFill>
              </a:rPr>
              <a:t>Subjective interestingness measures: One man’s trash could be another man’s treasure  </a:t>
            </a:r>
            <a:endParaRPr sz="1800" dirty="0">
              <a:solidFill>
                <a:srgbClr val="1F1F1F"/>
              </a:solidFill>
            </a:endParaRPr>
          </a:p>
          <a:p>
            <a:pPr marL="182880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Query-based: Relevant to a user’s particular request  </a:t>
            </a:r>
          </a:p>
          <a:p>
            <a:pPr lvl="4" indent="-342900">
              <a:lnSpc>
                <a:spcPct val="115000"/>
              </a:lnSpc>
              <a:spcBef>
                <a:spcPts val="0"/>
              </a:spcBef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- Against one’s knowledge-base: unexpected, freshness, timeliness  </a:t>
            </a:r>
          </a:p>
          <a:p>
            <a:pPr lvl="4" indent="-342900">
              <a:lnSpc>
                <a:spcPct val="115000"/>
              </a:lnSpc>
              <a:spcBef>
                <a:spcPts val="0"/>
              </a:spcBef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- Visualization tools: Multi-dimensional, interactive examination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609600" y="1003410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Pattern Evaluation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269" name="Google Shape;269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Support and confidence are commonly used measures for pattern evaluation.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However, they have limitations that can impact pattern assessment: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Lack of specificity: Support and confidence measures do not capture the uniqueness or distinctiveness of patterns.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Ignoring context: They do not consider the background knowledge or domain-specific context.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Example: Suppose one school may have the following statistics on # of students who may play basketball and/or eat cereal: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616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of Support and Confidence Framework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3" name="Google Shape;2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00" y="4076700"/>
            <a:ext cx="81534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279" name="Google Shape;279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Interestingness measures provide additional insights into the quality and interestingness of patterns.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Some interestingness measures that address the limitations of support and confidence include: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Lift: Measures the degree of association between items and evaluates the pattern's interestingness.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χ² (Chi-Square): Assesses the statistical significance and dependence between items in a pattern.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80" name="Google Shape;28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762000" y="1184875"/>
            <a:ext cx="616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Interestingness Measures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288" name="Google Shape;288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Lift quantifies the strength of association between items and evaluates the pattern's interestingness.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Formula: Lift(A-&gt;B) = (support(A ∪ B) / (support(A) * support(B)))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Interpretation: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Lift &gt; 1 indicates a positive association, suggesting a meaningful relationship between A and B.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Lift = 1 suggests independence, indicating that the items occur together by chance.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Lift &lt; 1 implies a negative association, indicating that the items occur together less often than expected.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62000" y="1184875"/>
            <a:ext cx="616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Lift Measure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297" name="Google Shape;297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028700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 err="1">
                <a:solidFill>
                  <a:srgbClr val="1F1F1F"/>
                </a:solidFill>
              </a:rPr>
              <a:t>χ</a:t>
            </a:r>
            <a:r>
              <a:rPr lang="en-GB" sz="1800" dirty="0">
                <a:solidFill>
                  <a:srgbClr val="1F1F1F"/>
                </a:solidFill>
              </a:rPr>
              <a:t> (Chi-Square) evaluates the statistical significance and dependence between items in a pattern.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Formula: χ² = N * (ad - </a:t>
            </a:r>
            <a:r>
              <a:rPr lang="en-GB" sz="1800" dirty="0" err="1">
                <a:solidFill>
                  <a:srgbClr val="1F1F1F"/>
                </a:solidFill>
              </a:rPr>
              <a:t>bc</a:t>
            </a:r>
            <a:r>
              <a:rPr lang="en-GB" sz="1800" dirty="0">
                <a:solidFill>
                  <a:srgbClr val="1F1F1F"/>
                </a:solidFill>
              </a:rPr>
              <a:t>)² / ((a + c) * (b + d) * (a + b) * (c + d))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a: Support of A and B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b: Support of B without A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c: Support of A without B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d: Remaining transactions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N: Total number of transactions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Interpretation: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Higher χ² values indicate stronger dependence between items.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Lower χ² values suggest weaker or independent relationships.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616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χ (Chi-Square) Measure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306" name="Google Shape;306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Capture Uniqueness: Interestingness measures consider the distinctiveness and significance of patterns beyond support and confidence.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Contextual Understanding: They incorporate domain-specific context and background knowledge, providing a better understanding of patterns.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Prioritization: Interestingness measures help prioritize patterns that are most informative and actionable.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762000" y="1184875"/>
            <a:ext cx="616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Interestingness Measures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315" name="Google Shape;315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Subjectivity(</a:t>
            </a:r>
            <a:r>
              <a:rPr lang="en-GB" sz="1800" dirty="0" err="1">
                <a:solidFill>
                  <a:srgbClr val="1F1F1F"/>
                </a:solidFill>
              </a:rPr>
              <a:t>Tính</a:t>
            </a:r>
            <a:r>
              <a:rPr lang="en-GB" sz="1800" dirty="0">
                <a:solidFill>
                  <a:srgbClr val="1F1F1F"/>
                </a:solidFill>
              </a:rPr>
              <a:t> </a:t>
            </a:r>
            <a:r>
              <a:rPr lang="en-GB" sz="1800" dirty="0" err="1">
                <a:solidFill>
                  <a:srgbClr val="1F1F1F"/>
                </a:solidFill>
              </a:rPr>
              <a:t>chủ</a:t>
            </a:r>
            <a:r>
              <a:rPr lang="en-GB" sz="1800" dirty="0">
                <a:solidFill>
                  <a:srgbClr val="1F1F1F"/>
                </a:solidFill>
              </a:rPr>
              <a:t> </a:t>
            </a:r>
            <a:r>
              <a:rPr lang="en-GB" sz="1800" dirty="0" err="1">
                <a:solidFill>
                  <a:srgbClr val="1F1F1F"/>
                </a:solidFill>
              </a:rPr>
              <a:t>quan</a:t>
            </a:r>
            <a:r>
              <a:rPr lang="en-GB" sz="1800" dirty="0">
                <a:solidFill>
                  <a:srgbClr val="1F1F1F"/>
                </a:solidFill>
              </a:rPr>
              <a:t>): Setting appropriate thresholds for interestingness measures can be subjective and dependent on the specific context.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Domain Expertise: Incorporating domain knowledge and expert judgment is crucial for meaningful pattern evaluation.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Complementary Measures: Considering multiple interestingness measures can provide a more comprehensive evaluation of pattern quality.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762000" y="1184875"/>
            <a:ext cx="6164400" cy="512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and Considerations   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324" name="Google Shape;324;p3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Null invariance measures evaluate the interestingness of patterns while considering the null hypothesis of independence.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These measures provide a comparison against the expected occurrence of patterns by chance.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327" name="Google Shape;327;p32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 Invariance Measures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pic>
        <p:nvPicPr>
          <p:cNvPr id="333" name="Google Shape;33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35" name="Google Shape;335;p33"/>
          <p:cNvSpPr txBox="1"/>
          <p:nvPr/>
        </p:nvSpPr>
        <p:spPr>
          <a:xfrm>
            <a:off x="762000" y="1184875"/>
            <a:ext cx="594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Interestingness Measures &amp; Null-Invariance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6" name="Google Shape;33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538" y="1745450"/>
            <a:ext cx="8086725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342" name="Google Shape;342;p3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Some widely used null invariant measures include: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Expected Confidence (EC): Measures the ratio of observed confidence to expected confidence under independence.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Jaccard Index: Calculates the intersection over the union of itemsets, considering both presence and absence of items.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Kulczynski Measure: Computes the average of the conditional probabilities of items in the pattern.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Null Invariant Measures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351" name="Google Shape;351;p3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EC measures the ratio of observed confidence to expected confidence under independence.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Formula: EC(A-&gt;B) = confidence(A-&gt;B) / support(B)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Interpretation: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EC &gt; 1 indicates a positive association between A and B, exceeding what is expected under independence.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EC = 1 suggests no association or independence between A and B.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EC &lt; 1 implies a negative association or an association weaker than expected under independence.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52" name="Google Shape;35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Confidence (EC) Measure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360" name="Google Shape;360;p3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Jaccard Index measures the similarity between two sets by calculating the intersection over the union.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Formula: J(A, B) = |A ∩ B| / |A ∪ B|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Interpretation: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Jaccard Index values closer to 1 indicate a higher similarity or association between A and B.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Values closer to 0 indicate dissimilarity or independence between A and B.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1" name="Google Shape;36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sp>
        <p:nvSpPr>
          <p:cNvPr id="363" name="Google Shape;363;p3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Jaccard Index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369" name="Google Shape;369;p3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Kulczynski Measure calculates the average of the conditional probabilities of items in the pattern.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Formula: Kulczynski(A-&gt;B) = (P(A|B) + P(B|A)) / 2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Interpretation: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Higher Kulczynski Measure values indicate a higher association or dependency between A and B.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Lower values suggest weaker or independent relationships.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0" name="Google Shape;37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/>
          </a:p>
        </p:txBody>
      </p:sp>
      <p:sp>
        <p:nvSpPr>
          <p:cNvPr id="372" name="Google Shape;372;p3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Kulczynski Measure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378" name="Google Shape;378;p3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2445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The choice of null invariant measure </a:t>
            </a:r>
            <a:r>
              <a:rPr lang="en-GB" sz="1800" b="1" dirty="0">
                <a:solidFill>
                  <a:srgbClr val="1F1F1F"/>
                </a:solidFill>
              </a:rPr>
              <a:t>depends on the specific context and requirements.</a:t>
            </a:r>
            <a:endParaRPr sz="1800" b="1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Lift and χ² focus on </a:t>
            </a:r>
            <a:r>
              <a:rPr lang="en-GB" sz="1800" b="1" dirty="0">
                <a:solidFill>
                  <a:srgbClr val="1F1F1F"/>
                </a:solidFill>
              </a:rPr>
              <a:t>association strength </a:t>
            </a:r>
            <a:r>
              <a:rPr lang="en-GB" sz="1800" dirty="0">
                <a:solidFill>
                  <a:srgbClr val="1F1F1F"/>
                </a:solidFill>
              </a:rPr>
              <a:t>and </a:t>
            </a:r>
            <a:r>
              <a:rPr lang="en-GB" sz="1800" b="1" dirty="0">
                <a:solidFill>
                  <a:srgbClr val="1F1F1F"/>
                </a:solidFill>
              </a:rPr>
              <a:t>statistical significance.</a:t>
            </a:r>
            <a:endParaRPr sz="1800" b="1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EC, Jaccard Index, and </a:t>
            </a:r>
            <a:r>
              <a:rPr lang="en-GB" sz="1800" dirty="0" err="1">
                <a:solidFill>
                  <a:srgbClr val="1F1F1F"/>
                </a:solidFill>
              </a:rPr>
              <a:t>Kulczynski</a:t>
            </a:r>
            <a:r>
              <a:rPr lang="en-GB" sz="1800" dirty="0">
                <a:solidFill>
                  <a:srgbClr val="1F1F1F"/>
                </a:solidFill>
              </a:rPr>
              <a:t> Measure provide different perspectives on the association and dependence between items.</a:t>
            </a:r>
            <a:endParaRPr sz="18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It is recommended to </a:t>
            </a:r>
            <a:r>
              <a:rPr lang="en-GB" sz="1800" b="1" dirty="0">
                <a:solidFill>
                  <a:srgbClr val="1F1F1F"/>
                </a:solidFill>
              </a:rPr>
              <a:t>consider multiple measures</a:t>
            </a:r>
            <a:r>
              <a:rPr lang="en-GB" sz="1800" dirty="0">
                <a:solidFill>
                  <a:srgbClr val="1F1F1F"/>
                </a:solidFill>
              </a:rPr>
              <a:t> to gain a comprehensive evaluation of pattern interestingness. 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79" name="Google Shape;37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17</a:t>
            </a:fld>
            <a:endParaRPr/>
          </a:p>
        </p:txBody>
      </p:sp>
      <p:sp>
        <p:nvSpPr>
          <p:cNvPr id="381" name="Google Shape;381;p38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of Null Invariant Measures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387" name="Google Shape;387;p3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Which pairs of authors are strongly related?  Use Kulc to find Advisor-advisee, close collaborators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8" name="Google Shape;38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18</a:t>
            </a:fld>
            <a:endParaRPr/>
          </a:p>
        </p:txBody>
      </p:sp>
      <p:sp>
        <p:nvSpPr>
          <p:cNvPr id="390" name="Google Shape;390;p39"/>
          <p:cNvSpPr txBox="1"/>
          <p:nvPr/>
        </p:nvSpPr>
        <p:spPr>
          <a:xfrm>
            <a:off x="762000" y="1184875"/>
            <a:ext cx="609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Analysis of DBLP Coauthor Relationships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1" name="Google Shape;39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3525" y="2411625"/>
            <a:ext cx="7361442" cy="25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id="397" name="Google Shape;397;p4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Contextual Relevance: Understand the domain context and relevance of patterns for effective evaluation.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Subjectivity: Pattern evaluation involves setting thresholds and interpreting measures, which can be subjective.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Iterative Process: Pattern evaluation is an iterative process that may involve refining thresholds, incorporating feedback, and adjusting measures.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98" name="Google Shape;398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</a:t>
            </a:fld>
            <a:endParaRPr/>
          </a:p>
        </p:txBody>
      </p:sp>
      <p:sp>
        <p:nvSpPr>
          <p:cNvPr id="400" name="Google Shape;400;p40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Considerations for Pattern Evaluation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id="406" name="Google Shape;406;p4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Pattern evaluation: Assessing quality and significance.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Metrics: Support, confidence, lift, etc.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Significance: Distinguishing meaningful patterns.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Consideration: Measure selection and domain knowledge.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407" name="Google Shape;40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20</a:t>
            </a:fld>
            <a:endParaRPr/>
          </a:p>
        </p:txBody>
      </p:sp>
      <p:sp>
        <p:nvSpPr>
          <p:cNvPr id="409" name="Google Shape;409;p41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41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Evaluation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1178</Words>
  <Application>Microsoft Macintosh PowerPoint</Application>
  <PresentationFormat>On-screen Show (16:9)</PresentationFormat>
  <Paragraphs>138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Tahoma</vt:lpstr>
      <vt:lpstr>Times New Roman</vt:lpstr>
      <vt:lpstr>Noto Sans Symbols</vt:lpstr>
      <vt:lpstr>Arial</vt:lpstr>
      <vt:lpstr>Simple Light</vt:lpstr>
      <vt:lpstr>1_Blueprint</vt:lpstr>
      <vt:lpstr>Blueprint</vt:lpstr>
      <vt:lpstr>Chapter 3:  Pattern Discovery in Data Mining</vt:lpstr>
      <vt:lpstr>Pattern Evaluation</vt:lpstr>
      <vt:lpstr>Pattern Evaluation</vt:lpstr>
      <vt:lpstr>Pattern Evaluation</vt:lpstr>
      <vt:lpstr>Pattern Evaluation</vt:lpstr>
      <vt:lpstr>Pattern Evaluation</vt:lpstr>
      <vt:lpstr>Pattern Evaluation</vt:lpstr>
      <vt:lpstr>Pattern Evaluation</vt:lpstr>
      <vt:lpstr>Pattern Evaluation</vt:lpstr>
      <vt:lpstr>Pattern Evaluation</vt:lpstr>
      <vt:lpstr>Pattern Evaluation</vt:lpstr>
      <vt:lpstr>Pattern Evaluation</vt:lpstr>
      <vt:lpstr>Pattern Evaluation</vt:lpstr>
      <vt:lpstr>Pattern Evaluation</vt:lpstr>
      <vt:lpstr>Pattern Evaluation</vt:lpstr>
      <vt:lpstr>Pattern Evaluation</vt:lpstr>
      <vt:lpstr>Pattern Evaluation</vt:lpstr>
      <vt:lpstr>Pattern Evaluation</vt:lpstr>
      <vt:lpstr>Pattern Evaluation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Daziel.vad</cp:lastModifiedBy>
  <cp:revision>1</cp:revision>
  <dcterms:modified xsi:type="dcterms:W3CDTF">2026-01-23T09:39:24Z</dcterms:modified>
</cp:coreProperties>
</file>