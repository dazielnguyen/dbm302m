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67" r:id="rId2"/>
    <p:sldMasterId id="2147483668" r:id="rId3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 type="screen16x9"/>
  <p:notesSz cx="6858000" cy="9144000"/>
  <p:embeddedFontLst>
    <p:embeddedFont>
      <p:font typeface="Tahoma" panose="020B0604030504040204" pitchFamily="3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140" d="100"/>
          <a:sy n="140" d="100"/>
        </p:scale>
        <p:origin x="1384" y="5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GB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582b55a4a5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3a0becab7d_0_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23a0becab7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3a0becab7d_0_1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23a0becab7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3a0becab7d_0_24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g23a0becab7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3a069dcfde_0_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g23a069dcfd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3a0becab7d_0_35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23a0becab7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3a0becab7d_0_44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23a0becab7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3a069dcfde_0_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3a069dcfd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3a0becab7d_0_8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23a0becab7d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3a0becab7d_0_10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23a0becab7d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3a0becab7d_0_115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g23a0becab7d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3a0becab7d_0_12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3a0becab7d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3a0becab7d_0_137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g23a0becab7d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3a0becab7d_0_15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23a0becab7d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3a0becab7d_0_16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g23a0becab7d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3a0becab7d_0_174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23a0becab7d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3a0becab7d_0_18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23a0becab7d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4c8172f60b_2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g24c8172f60b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4c8172f60b_2_10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g24c8172f60b_2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4c712faaa2_1_10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g24c712faaa2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17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rot="-5400000" flipH="1">
                <a:off x="425" y="860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" name="Google Shape;124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88" name="Google Shape;188;p16" descr="60%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5" name="Google Shape;195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>
            <a:spLocks noGrp="1"/>
          </p:cNvSpPr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1</a:t>
            </a: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Introduction to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id="242" name="Google Shape;242;p2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Identify different views of data mining; understand the key issues in data mining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Introduction to Data Mining: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Definition and significance of data mining.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Extracting valuable insights from large datasets.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Mining Pipeline:		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 systematic process for discovering knowledge from data.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Four key views and stages: Data, Patterns, Knowledge, Utility.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id="251" name="Google Shape;251;p2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4540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Identify different views of data mining; understand the key issues in data mining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People’s daily lives</a:t>
            </a:r>
            <a:endParaRPr sz="1800">
              <a:solidFill>
                <a:srgbClr val="000000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000000"/>
                </a:solidFill>
              </a:rPr>
              <a:t>&gt; 4 billion internet users</a:t>
            </a:r>
            <a:endParaRPr sz="1800">
              <a:solidFill>
                <a:srgbClr val="000000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000000"/>
                </a:solidFill>
              </a:rPr>
              <a:t>Social media, smart devices, …</a:t>
            </a:r>
            <a:endParaRPr sz="1800">
              <a:solidFill>
                <a:srgbClr val="000000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Scientific discovery </a:t>
            </a:r>
            <a:endParaRPr sz="1800">
              <a:solidFill>
                <a:srgbClr val="000000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000000"/>
                </a:solidFill>
              </a:rPr>
              <a:t>Rubin Observatory: 20TB/night</a:t>
            </a:r>
            <a:endParaRPr sz="1800">
              <a:solidFill>
                <a:srgbClr val="000000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Many application domains…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Into the Digital Era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5" name="Google Shape;25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9198" y="1154488"/>
            <a:ext cx="2867569" cy="346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id="261" name="Google Shape;261;p2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4540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Explosive data growth</a:t>
            </a:r>
            <a:endParaRPr sz="1800">
              <a:solidFill>
                <a:srgbClr val="000000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000000"/>
                </a:solidFill>
              </a:rPr>
              <a:t>KB, MB, GB, TB, PB, EB, ZB</a:t>
            </a:r>
            <a:endParaRPr sz="1800">
              <a:solidFill>
                <a:srgbClr val="000000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000000"/>
                </a:solidFill>
              </a:rPr>
              <a:t>Data creation, transmission, storage, sharing, processing</a:t>
            </a:r>
            <a:endParaRPr sz="1800">
              <a:solidFill>
                <a:srgbClr val="000000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Drowning in data &amp; starving for knowledge</a:t>
            </a:r>
            <a:endParaRPr sz="1800">
              <a:solidFill>
                <a:srgbClr val="000000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Need automated analysis of massive data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2" name="Google Shape;26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Data Mining? 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5" name="Google Shape;26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4600" y="1238400"/>
            <a:ext cx="3467100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id="271" name="Google Shape;271;p2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4540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Knowledge discovery from data</a:t>
            </a:r>
            <a:endParaRPr sz="1800">
              <a:solidFill>
                <a:srgbClr val="000000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000000"/>
                </a:solidFill>
              </a:rPr>
              <a:t>Extraction of interesting patterns or knowledge from huge amounts of data</a:t>
            </a:r>
            <a:endParaRPr sz="1800">
              <a:solidFill>
                <a:srgbClr val="000000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000000"/>
                </a:solidFill>
              </a:rPr>
              <a:t>Interesting: valid, previously unknown, potentially useful, ultimately understandable by human</a:t>
            </a:r>
            <a:endParaRPr sz="1800">
              <a:solidFill>
                <a:srgbClr val="000000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000000"/>
                </a:solidFill>
              </a:rPr>
              <a:t>Huge amounts of data: scalability, efficiency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272" name="Google Shape;27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Data Mining? 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5" name="Google Shape;27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4600" y="1238400"/>
            <a:ext cx="3467100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id="281" name="Google Shape;281;p2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1915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data mining process encompasses four key views: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View: Understanding the dataset and its attributes.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Technique View: Techniques of Discovering patterns and relationships.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Knowledge View: Interpreting and evaluating discovered knowledge.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Application View: Applying the mined knowledge to achieve business goals.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These views collectively guide us through the data mining pipeline.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2" name="Google Shape;28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Four Views of Data Mining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pic>
        <p:nvPicPr>
          <p:cNvPr id="290" name="Google Shape;290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292" name="Google Shape;292;p28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Four Views of Data Mining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3" name="Google Shape;29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1225" y="1646575"/>
            <a:ext cx="6400799" cy="3023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pic>
        <p:nvPicPr>
          <p:cNvPr id="299" name="Google Shape;299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301" name="Google Shape;301;p29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View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29"/>
          <p:cNvSpPr/>
          <p:nvPr/>
        </p:nvSpPr>
        <p:spPr>
          <a:xfrm>
            <a:off x="1005675" y="2805675"/>
            <a:ext cx="1494000" cy="928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Volume</a:t>
            </a:r>
            <a:endParaRPr b="1"/>
          </a:p>
        </p:txBody>
      </p:sp>
      <p:sp>
        <p:nvSpPr>
          <p:cNvPr id="303" name="Google Shape;303;p29"/>
          <p:cNvSpPr/>
          <p:nvPr/>
        </p:nvSpPr>
        <p:spPr>
          <a:xfrm>
            <a:off x="3143825" y="2805675"/>
            <a:ext cx="1494000" cy="928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VAriety</a:t>
            </a:r>
            <a:endParaRPr b="1"/>
          </a:p>
        </p:txBody>
      </p:sp>
      <p:sp>
        <p:nvSpPr>
          <p:cNvPr id="304" name="Google Shape;304;p29"/>
          <p:cNvSpPr/>
          <p:nvPr/>
        </p:nvSpPr>
        <p:spPr>
          <a:xfrm>
            <a:off x="5129575" y="2805675"/>
            <a:ext cx="1494000" cy="928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Velocity</a:t>
            </a:r>
            <a:endParaRPr b="1"/>
          </a:p>
        </p:txBody>
      </p:sp>
      <p:sp>
        <p:nvSpPr>
          <p:cNvPr id="305" name="Google Shape;305;p29"/>
          <p:cNvSpPr/>
          <p:nvPr/>
        </p:nvSpPr>
        <p:spPr>
          <a:xfrm>
            <a:off x="7115325" y="2805675"/>
            <a:ext cx="1494000" cy="928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Veracity</a:t>
            </a:r>
            <a:endParaRPr b="1"/>
          </a:p>
        </p:txBody>
      </p:sp>
      <p:sp>
        <p:nvSpPr>
          <p:cNvPr id="306" name="Google Shape;306;p29"/>
          <p:cNvSpPr/>
          <p:nvPr/>
        </p:nvSpPr>
        <p:spPr>
          <a:xfrm>
            <a:off x="7115325" y="1481438"/>
            <a:ext cx="1494000" cy="9288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Value</a:t>
            </a:r>
            <a:endParaRPr b="1"/>
          </a:p>
        </p:txBody>
      </p:sp>
      <p:sp>
        <p:nvSpPr>
          <p:cNvPr id="307" name="Google Shape;307;p2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3Vs, 4Vs, 5Vs</a:t>
            </a:r>
            <a:endParaRPr sz="18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id="313" name="Google Shape;313;p3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9051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Relational, transactional data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student records, bank accounts, store purchases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Sequential, temporal, streaming data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gene sequences, stock prices, sensor reading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Spatial, spatial-temporal data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land use, bird migration, traffic condition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Text, multimedia, Web data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news articles, audio/video/image, hypertext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Graph, network data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social network, power grid, co-authorship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4" name="Google Shape;31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View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30"/>
          <p:cNvSpPr txBox="1"/>
          <p:nvPr/>
        </p:nvSpPr>
        <p:spPr>
          <a:xfrm>
            <a:off x="7207850" y="1812825"/>
            <a:ext cx="1174200" cy="18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or mixture of multiple data types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id="323" name="Google Shape;323;p3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9051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Market analysis, target advertisement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customer profiling, product recommendation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Healthcare, medical research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disease diagnosis, patient care, drug discovery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Science and engineering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air pollution, marine life, electric vehicles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Security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surveillance, intrusion/crime, fraud, cyberattack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Government, nonprofit 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urban planning, traffic control, education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4" name="Google Shape;32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326" name="Google Shape;326;p31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View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31"/>
          <p:cNvSpPr txBox="1"/>
          <p:nvPr/>
        </p:nvSpPr>
        <p:spPr>
          <a:xfrm>
            <a:off x="7207850" y="1812825"/>
            <a:ext cx="1174200" cy="18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many many more…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id="333" name="Google Shape;333;p3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905100" y="1646573"/>
            <a:ext cx="7953300" cy="42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Frequent pattern, </a:t>
            </a:r>
            <a:r>
              <a:rPr lang="en-GB" sz="1800" b="1" dirty="0">
                <a:solidFill>
                  <a:srgbClr val="1F1F1F"/>
                </a:solidFill>
              </a:rPr>
              <a:t>association</a:t>
            </a:r>
            <a:r>
              <a:rPr lang="en-GB" sz="1800" dirty="0">
                <a:solidFill>
                  <a:srgbClr val="1F1F1F"/>
                </a:solidFill>
              </a:rPr>
              <a:t>, correlation</a:t>
            </a:r>
            <a:endParaRPr sz="1800" dirty="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E.g., songs listened together or in certain sequence</a:t>
            </a:r>
            <a:endParaRPr sz="1800" dirty="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E.g., A is (more/less) likely to happen given B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Categorization</a:t>
            </a:r>
            <a:endParaRPr sz="1800" dirty="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E.g., similarity among users with certain purchases</a:t>
            </a:r>
            <a:endParaRPr sz="1800" dirty="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E.g., differences between two patient groups 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Anomaly, outliers</a:t>
            </a:r>
            <a:endParaRPr sz="1800" dirty="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E.g., sensor errors, fraud activities, extreme events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Changes over time</a:t>
            </a:r>
            <a:endParaRPr sz="1800" dirty="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E.g., emerging new patterns, shift of user interest 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34" name="Google Shape;33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336" name="Google Shape;336;p32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View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32"/>
          <p:cNvSpPr txBox="1"/>
          <p:nvPr/>
        </p:nvSpPr>
        <p:spPr>
          <a:xfrm>
            <a:off x="7207850" y="1812825"/>
            <a:ext cx="1174200" cy="18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Descriptive, predictive, prescriptive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id="343" name="Google Shape;343;p3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905100" y="1646573"/>
            <a:ext cx="7953300" cy="42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Frequent pattern analysis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Classification, prediction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Clustering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Anomaly detection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Trend and evolution analysis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4" name="Google Shape;34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  <p:sp>
        <p:nvSpPr>
          <p:cNvPr id="346" name="Google Shape;346;p33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Technique View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id="352" name="Google Shape;352;p3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905100" y="1646573"/>
            <a:ext cx="7953300" cy="42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Frequent itemset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Frequent sequence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Frequent structure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Association rules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Correlation analysis 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53" name="Google Shape;35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  <p:sp>
        <p:nvSpPr>
          <p:cNvPr id="355" name="Google Shape;355;p34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Frequent Pattern Analysis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6" name="Google Shape;35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3173" y="1085998"/>
            <a:ext cx="3407300" cy="386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id="362" name="Google Shape;362;p3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905100" y="1646575"/>
            <a:ext cx="3067800" cy="42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Pre-defined classes 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Need training data 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Build model to distinguish classes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3" name="Google Shape;363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/>
          </a:p>
        </p:txBody>
      </p:sp>
      <p:sp>
        <p:nvSpPr>
          <p:cNvPr id="365" name="Google Shape;365;p35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6" name="Google Shape;36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7275" y="1286525"/>
            <a:ext cx="4097874" cy="273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id="372" name="Google Shape;372;p3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905100" y="1646575"/>
            <a:ext cx="3067800" cy="42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Numerical prediction (continuous value)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weather 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stock price 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traffic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3" name="Google Shape;373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/>
          </a:p>
        </p:txBody>
      </p:sp>
      <p:sp>
        <p:nvSpPr>
          <p:cNvPr id="375" name="Google Shape;375;p36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  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6" name="Google Shape;37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7325" y="1430650"/>
            <a:ext cx="4043400" cy="342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id="382" name="Google Shape;382;p3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905100" y="1646575"/>
            <a:ext cx="3067800" cy="42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No predefined classes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Intra-cluster similarity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Inter-cluster dissimilarity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83" name="Google Shape;38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/>
          </a:p>
        </p:txBody>
      </p:sp>
      <p:sp>
        <p:nvSpPr>
          <p:cNvPr id="385" name="Google Shape;385;p37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Clustering  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6" name="Google Shape;38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5300" y="1086000"/>
            <a:ext cx="3783465" cy="34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id="392" name="Google Shape;392;p3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905100" y="1646575"/>
            <a:ext cx="3067800" cy="42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Anomaly/outlier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Differ from the “norm”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error, noise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fraud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extreme events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93" name="Google Shape;393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17</a:t>
            </a:fld>
            <a:endParaRPr/>
          </a:p>
        </p:txBody>
      </p:sp>
      <p:sp>
        <p:nvSpPr>
          <p:cNvPr id="395" name="Google Shape;395;p38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Anomaly Detection   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6" name="Google Shape;39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5300" y="1086000"/>
            <a:ext cx="4420146" cy="34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</a:t>
            </a:r>
            <a:endParaRPr sz="3600"/>
          </a:p>
        </p:txBody>
      </p:sp>
      <p:sp>
        <p:nvSpPr>
          <p:cNvPr id="402" name="Google Shape;402;p3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905100" y="1646575"/>
            <a:ext cx="3067800" cy="42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Changes over time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Overall trend 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Periodical patterns 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Anomalies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…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03" name="Google Shape;403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18</a:t>
            </a:fld>
            <a:endParaRPr/>
          </a:p>
        </p:txBody>
      </p:sp>
      <p:sp>
        <p:nvSpPr>
          <p:cNvPr id="405" name="Google Shape;405;p39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Trend and Evolution Analysis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6" name="Google Shape;40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1900" y="1511713"/>
            <a:ext cx="5018700" cy="3038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 Pipeline</a:t>
            </a:r>
            <a:endParaRPr sz="3600"/>
          </a:p>
        </p:txBody>
      </p:sp>
      <p:sp>
        <p:nvSpPr>
          <p:cNvPr id="412" name="Google Shape;412;p4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data mining pipeline consists of essential components: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Collection: Gathering relevant data from various sources.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Preprocessing: Cleaning, integrating, transforming, and reducing data.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Mining: Applying algorithms to discover patterns and knowledge.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Pattern Evaluation: Assessing the quality and relevance of discovered patterns.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Knowledge Presentation: Communicating insights and findings to stakeholders.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well-structured pipeline ensures effective data analysis and decision-making.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13" name="Google Shape;413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</a:t>
            </a:fld>
            <a:endParaRPr/>
          </a:p>
        </p:txBody>
      </p:sp>
      <p:sp>
        <p:nvSpPr>
          <p:cNvPr id="415" name="Google Shape;415;p40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Components of the Data Mining Pipeline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 Pipeline</a:t>
            </a:r>
            <a:endParaRPr sz="3600"/>
          </a:p>
        </p:txBody>
      </p:sp>
      <p:pic>
        <p:nvPicPr>
          <p:cNvPr id="421" name="Google Shape;421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20</a:t>
            </a:fld>
            <a:endParaRPr/>
          </a:p>
        </p:txBody>
      </p:sp>
      <p:sp>
        <p:nvSpPr>
          <p:cNvPr id="423" name="Google Shape;423;p41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Mining Pipeline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4" name="Google Shape;42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3925" y="1646575"/>
            <a:ext cx="5833849" cy="3296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Mining Pipeline</a:t>
            </a:r>
            <a:endParaRPr sz="3600"/>
          </a:p>
        </p:txBody>
      </p:sp>
      <p:sp>
        <p:nvSpPr>
          <p:cNvPr id="430" name="Google Shape;430;p4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mining: Discovering insights from large datasets.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Significance: Informed decision-making, problem-solving.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Key Views: Data, Patterns, Knowledge, Utility.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Understand the stages for effective data mining.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31" name="Google Shape;431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21</a:t>
            </a:fld>
            <a:endParaRPr/>
          </a:p>
        </p:txBody>
      </p:sp>
      <p:sp>
        <p:nvSpPr>
          <p:cNvPr id="433" name="Google Shape;433;p42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42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888</Words>
  <Application>Microsoft Macintosh PowerPoint</Application>
  <PresentationFormat>On-screen Show (16:9)</PresentationFormat>
  <Paragraphs>171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Tahoma</vt:lpstr>
      <vt:lpstr>Times New Roman</vt:lpstr>
      <vt:lpstr>Arial</vt:lpstr>
      <vt:lpstr>Noto Sans Symbols</vt:lpstr>
      <vt:lpstr>Simple Light</vt:lpstr>
      <vt:lpstr>1_Blueprint</vt:lpstr>
      <vt:lpstr>Blueprint</vt:lpstr>
      <vt:lpstr>Chapter 1:  Introduction to Data Mining</vt:lpstr>
      <vt:lpstr>Introduction to Data Mining</vt:lpstr>
      <vt:lpstr>Introduction to Data Mining</vt:lpstr>
      <vt:lpstr>Introduction to Data Mining</vt:lpstr>
      <vt:lpstr>Introduction to Data Mining</vt:lpstr>
      <vt:lpstr>Introduction to Data Mining</vt:lpstr>
      <vt:lpstr>Introduction to Data Mining</vt:lpstr>
      <vt:lpstr>Introduction to Data Mining</vt:lpstr>
      <vt:lpstr>Introduction to Data Mining</vt:lpstr>
      <vt:lpstr>Introduction to Data Mining</vt:lpstr>
      <vt:lpstr>Introduction to Data Mining</vt:lpstr>
      <vt:lpstr>Introduction to Data Mining</vt:lpstr>
      <vt:lpstr>Introduction to Data Mining</vt:lpstr>
      <vt:lpstr>Introduction to Data Mining</vt:lpstr>
      <vt:lpstr>Introduction to Data Mining</vt:lpstr>
      <vt:lpstr>Introduction to Data Mining</vt:lpstr>
      <vt:lpstr>Introduction to Data Mining</vt:lpstr>
      <vt:lpstr>Introduction to Data Mining</vt:lpstr>
      <vt:lpstr>Introduction to Data Mining Pipeline</vt:lpstr>
      <vt:lpstr>Introduction to Data Mining Pipeline</vt:lpstr>
      <vt:lpstr>Introduction to Data Mining Pipeline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Daziel.vad</cp:lastModifiedBy>
  <cp:revision>1</cp:revision>
  <dcterms:modified xsi:type="dcterms:W3CDTF">2026-01-06T03:16:16Z</dcterms:modified>
</cp:coreProperties>
</file>