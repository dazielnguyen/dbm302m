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Tahoma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Tahoma-regular.fntdata"/><Relationship Id="rId25" Type="http://schemas.openxmlformats.org/officeDocument/2006/relationships/slide" Target="slides/slide18.xml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c69ff17c_2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9c69ff17c_2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c69ff17c_2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9c69ff17c_2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9c69ff17c_2_1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39c69ff17c_2_1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c69ff17c_2_2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39c69ff17c_2_2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9c69ff17c_2_3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9c69ff17c_2_3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39c69ff17c_2_4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39c69ff17c_2_4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39c69ff17c_2_6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39c69ff17c_2_6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39c69ff17c_2_7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39c69ff17c_2_7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39c69ff17c_2_8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39c69ff17c_2_8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39c69ff17c_2_9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239c69ff17c_2_9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39c69ff17c_2_10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239c69ff17c_2_10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39c69ff17c_2_1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239c69ff17c_2_1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39c69ff17c_2_13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239c69ff17c_2_13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9c69ff17c_2_1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39c69ff17c_2_1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39c69ff17c_2_15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239c69ff17c_2_15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8a11d8b521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28a11d8b521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Explanation of spatiotemporal and trajectory patterns and their relevance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and algorithms for mining spatiotemporal and trajectory patterns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 cases and applications of these patterns in various domains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Explanation of spatiotemporal and trajectory patterns and their relevance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and algorithms for mining spatiotemporal and trajectory patterns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 cases and applications of these patterns in various domains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Spatial frequent patterns and association rule: A ⇒ B [s%, c%]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and B are sets of spatial or non-spatial predicates, e.g.,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Topological relations: intersects, overlaps, disjoint, etc.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Spatial orientations: left_of, west_of, under, etc.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Distance information: close_to, within_distance, etc.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Measures: s%: support, and c%: confidence of the rule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Example: Rules likely to be found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is_a(x, large_town) ^ intersect(x, highway) → adjacent_to(x, water) [7%, 85%]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Explore spatial autocorrelation: Spatial data tends to be highly self-correlated (nearby things are more related than distant ones)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E.g., neighborhood, temperature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Frequent Patterns and Associations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Hierarchy of spatial relationship: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close_to is a generation of near_by, touch, intersect, contain, ...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Progressive refinement: First search for rough relationship and then refine it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Two-step mining of spatial association: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Step 1: Rough spatial computation (as a filter)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Using MBR (Minimum Bounding Rectangle) or R-tree for rough estimation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Step2: Detailed spatial algorithm (as refinement)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Apply only to those objects which have passed the rough spatial association test (no less than min_support)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Spatial Associations: Progressive Refinement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75"/>
            <a:ext cx="4572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Colocation pattern: A group of spatial features or events that are frequently co-located in the same region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 West Nile Virus often occur in regions with poor mosquito control and the presence of birds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Figure: Neighborhood instances are connected by edges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 {3, 6, 17}, {4, 7, 10, 16}, {2, 8, 11, 14, 15}, {2, 9}, …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Colocation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700" y="1798975"/>
            <a:ext cx="3460018" cy="28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75"/>
            <a:ext cx="8479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Rowset(C) if every feature in patter C appears as a feature of an instance in the neighbor-set L, e.g.,  rowset({A, B, C, D}) = {{4, 7, 10, 16}, {2, 11, 14, 15}, {8, 11, 14, 15}}  rowset({A, B}) = {{5, 13}, {7, 10}, {2, 14}, {8, 14}}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colocation rule R: A→ B, conditional probability cp(R)  is defined as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cp({A, B} → {C, D}) = |rowset({A, B, C, D})|/|rowset({A,B})| = ¾ = 75%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Colocation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450" y="2933063"/>
            <a:ext cx="4791075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8" name="Google Shape;298;p29"/>
          <p:cNvSpPr txBox="1"/>
          <p:nvPr>
            <p:ph idx="1" type="body"/>
          </p:nvPr>
        </p:nvSpPr>
        <p:spPr>
          <a:xfrm>
            <a:off x="762000" y="1646575"/>
            <a:ext cx="4636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Participation ratio pr(C, f ): probability that C is observed in a neighbor-set wherever feature f is observed  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 pr({A,B,C,D}, A) = 2/5, ..., pr({A,B,C,D}, D) = 2/2 = 1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Monotonicity of participation ratio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Let C, C’ be two co-location patterns such that C’ ⊂ C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Then, for each feature f ∈ C’, pr(C’, f ) ≥ pr(C, f 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Spatial Colocation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0600" y="1798975"/>
            <a:ext cx="3265850" cy="25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8" y="2706750"/>
            <a:ext cx="421957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9" name="Google Shape;309;p30"/>
          <p:cNvSpPr txBox="1"/>
          <p:nvPr>
            <p:ph idx="1" type="body"/>
          </p:nvPr>
        </p:nvSpPr>
        <p:spPr>
          <a:xfrm>
            <a:off x="762000" y="1646575"/>
            <a:ext cx="7695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 Apriori-like algorithm can be derived for efficient mining colocation patterns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Ex: Let min-feature-support = σ, min-pr = ρ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Start with a set of single feature pattern {p1} with support ≥ σ  </a:t>
            </a:r>
            <a:endParaRPr sz="1800">
              <a:solidFill>
                <a:srgbClr val="1F1F1F"/>
              </a:solidFill>
            </a:endParaRPr>
          </a:p>
          <a:p>
            <a:pPr indent="-3429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Grow to size k, in Apriori way (i.e., stop growing if the pattern is infrequent)  </a:t>
            </a:r>
            <a:endParaRPr sz="1800">
              <a:solidFill>
                <a:srgbClr val="1F1F1F"/>
              </a:solidFill>
            </a:endParaRPr>
          </a:p>
          <a:p>
            <a:pPr indent="-3429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 each such p, mine its super-pattern P, s.t., pr(P, p) ≥ ρ, in Apriori way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0" name="Google Shape;3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Spatial Colocation Patterns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8" name="Google Shape;318;p31"/>
          <p:cNvSpPr txBox="1"/>
          <p:nvPr>
            <p:ph idx="1" type="body"/>
          </p:nvPr>
        </p:nvSpPr>
        <p:spPr>
          <a:xfrm>
            <a:off x="762000" y="1646575"/>
            <a:ext cx="7695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Partition-Based Trajectory Pattern Mining (e.g., Mining T-Patterns) [1]: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First partition the space into equal-width grids and obtain Regions-of-Interests (RoIs)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Then transform each input trajectory into a time-annotated symbolic sequence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constraint-based sequential pattern mining to find trajectory patterns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Partition-Based Trajectory Pattern Mining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2" name="Google Shape;3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513" y="3296821"/>
            <a:ext cx="5046975" cy="16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8" name="Google Shape;328;p32"/>
          <p:cNvSpPr txBox="1"/>
          <p:nvPr>
            <p:ph idx="1" type="body"/>
          </p:nvPr>
        </p:nvSpPr>
        <p:spPr>
          <a:xfrm>
            <a:off x="762000" y="1646575"/>
            <a:ext cx="7695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Flock and convoy: Both require k consecutive time stamps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Flock: At least m entities are within a circular region of radius r and move in the same direction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Convoy: Density-based clustering at each timestamp; no need to be a rigid circle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Swarm: Moving objects may not be close to each other for all the consecutive time stamps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pattern mining algorithm can be derived for mining such swarm patterns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1" name="Google Shape;331;p32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Moving Object Clusters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050" y="4107946"/>
            <a:ext cx="5394700" cy="10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3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8" name="Google Shape;338;p33"/>
          <p:cNvSpPr txBox="1"/>
          <p:nvPr>
            <p:ph idx="1" type="body"/>
          </p:nvPr>
        </p:nvSpPr>
        <p:spPr>
          <a:xfrm>
            <a:off x="762000" y="1646575"/>
            <a:ext cx="4572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Grouping trajectories as a whole ⇒ cannot find similar portions of trajectories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Solution: discovers common sub-trajectories, e.g., forecast hurricane landfall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 phases: partitioning and grouping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the points where the behavior of a trajectory changes rapidly ⇒ characteristic points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Based on the minimum description length (MDL) principle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 Clustering: A Partition-and-Group Framework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725" y="2173675"/>
            <a:ext cx="3504900" cy="2257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8" name="Google Shape;348;p34"/>
          <p:cNvSpPr txBox="1"/>
          <p:nvPr>
            <p:ph idx="1" type="body"/>
          </p:nvPr>
        </p:nvSpPr>
        <p:spPr>
          <a:xfrm>
            <a:off x="762000" y="1646575"/>
            <a:ext cx="80472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Movement Pattern: A movement sequence that frequently appears in the input trajectory database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Frequent Movement Pattern vs. Frequent Sequential Pattern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Both aim at finding frequent subsequences from the input sequence database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For mining frequent movement patterns, similar places may need to be grouped to collectively form frequent subsequences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1" name="Google Shape;351;p34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Frequent Movement Patterns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" name="Google Shape;35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4037" y="3694950"/>
            <a:ext cx="5499426" cy="14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8" name="Google Shape;358;p35"/>
          <p:cNvSpPr txBox="1"/>
          <p:nvPr>
            <p:ph idx="1" type="body"/>
          </p:nvPr>
        </p:nvSpPr>
        <p:spPr>
          <a:xfrm>
            <a:off x="762000" y="1646575"/>
            <a:ext cx="80472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Semantics-rich movement pattern: In addition to knowing how people move from one region to another, we also want to understand the functions of the regions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two-step top-down mining approach:  Step 1: Find a set of coarse patterns that reflect people’s semantics-level transitions (e.g., office → restaurant, home → gym)  Step 2: Split each coarse pattern into several fine-grained ones by grouping similar movement snippets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9" name="Google Shape;3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1" name="Google Shape;361;p35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Semantics-Rich Movement Patterns 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88" y="3624513"/>
            <a:ext cx="78390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8" name="Google Shape;368;p36"/>
          <p:cNvSpPr txBox="1"/>
          <p:nvPr>
            <p:ph idx="1" type="body"/>
          </p:nvPr>
        </p:nvSpPr>
        <p:spPr>
          <a:xfrm>
            <a:off x="762000" y="1646575"/>
            <a:ext cx="80472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discovery in sparse data (e.g., find bird flying patterns)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Periodicity shows up in some reference “spots” (or “cluster centers”)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Reference spots can be detected using density-based method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Periods are detected for each reference spot using Fourier Transform and auto-correlation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6"/>
          <p:cNvSpPr txBox="1"/>
          <p:nvPr/>
        </p:nvSpPr>
        <p:spPr>
          <a:xfrm>
            <a:off x="762000" y="1184875"/>
            <a:ext cx="783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Discovery in Sparse Movement Data: Finding Good Reference Points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0400" y="3128175"/>
            <a:ext cx="6510400" cy="20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7"/>
          <p:cNvSpPr txBox="1"/>
          <p:nvPr>
            <p:ph idx="1" type="body"/>
          </p:nvPr>
        </p:nvSpPr>
        <p:spPr>
          <a:xfrm>
            <a:off x="762000" y="1646575"/>
            <a:ext cx="80472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Detecting periods: Cluster data to find reference “points” and then detect multiple interleaved periods by Fourier Transform and auto-correlation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Summarizing periodic patterns: By clustering and pattern discovery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762000" y="1184875"/>
            <a:ext cx="783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Periodic Patterns with Sparse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850" y="2741225"/>
            <a:ext cx="79629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title"/>
          </p:nvPr>
        </p:nvSpPr>
        <p:spPr>
          <a:xfrm>
            <a:off x="609600" y="228600"/>
            <a:ext cx="88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Spatiotemporal and Trajectory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8" name="Google Shape;388;p38"/>
          <p:cNvSpPr txBox="1"/>
          <p:nvPr>
            <p:ph idx="1" type="body"/>
          </p:nvPr>
        </p:nvSpPr>
        <p:spPr>
          <a:xfrm>
            <a:off x="762000" y="1646575"/>
            <a:ext cx="80472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Time-related data can be scattered and sparse, e.g., phone calls at a location 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Projecting on the true period, it shows a highly skewed (clustered) distribution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method can be developed based on this observation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9" name="Google Shape;3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1" name="Google Shape;391;p38"/>
          <p:cNvSpPr txBox="1"/>
          <p:nvPr/>
        </p:nvSpPr>
        <p:spPr>
          <a:xfrm>
            <a:off x="762000" y="1184875"/>
            <a:ext cx="783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Periodicity Detection in Sparse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500" y="1971673"/>
            <a:ext cx="5786454" cy="2332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8" name="Google Shape;398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Patterns in space and time.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Specialized algorithms.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Applications in transportation, planning, epidemiology.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99" name="Google Shape;3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1" name="Google Shape;401;p39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9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