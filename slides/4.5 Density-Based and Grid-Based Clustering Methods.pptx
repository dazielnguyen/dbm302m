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y="5143500" cx="9144000"/>
  <p:notesSz cx="6858000" cy="9144000"/>
  <p:embeddedFontLst>
    <p:embeddedFont>
      <p:font typeface="Tahoma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font" Target="fonts/Tahoma-bold.fntdata"/><Relationship Id="rId41" Type="http://schemas.openxmlformats.org/officeDocument/2006/relationships/font" Target="fonts/Tahoma-regular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9ee772909_0_18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39ee772909_0_18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3ba4a5bf4e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3ba4a5bf4e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3ba4a5bf4e_0_1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3ba4a5bf4e_0_1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60ac35149d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60ac35149d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3ba4a5bf4e_0_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3ba4a5bf4e_0_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60ac35149d_0_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260ac35149d_0_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3ba4a5bf4e_0_3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23ba4a5bf4e_0_3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3ba4a5bf4e_0_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23ba4a5bf4e_0_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3ba4a5bf4e_0_5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23ba4a5bf4e_0_5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60ac35149d_0_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260ac35149d_0_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60ac35149d_0_3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260ac35149d_0_3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3ba4a5bf4e_0_6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23ba4a5bf4e_0_6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60ac35149d_0_2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260ac35149d_0_2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3ba4a5bf4e_0_7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23ba4a5bf4e_0_7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60ac35149d_0_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260ac35149d_0_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60ac35149d_0_4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260ac35149d_0_4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3ba4a5bf4e_0_9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23ba4a5bf4e_0_9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60ac35149d_0_5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260ac35149d_0_5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3ba4a5bf4e_0_10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23ba4a5bf4e_0_10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60ac35149d_0_6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260ac35149d_0_6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3ba4a5bf4e_0_12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23ba4a5bf4e_0_12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60ac35149d_0_8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260ac35149d_0_8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3ba4a5bf4e_0_12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23ba4a5bf4e_0_12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60ac35149d_0_10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260ac35149d_0_10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60ac35149d_0_1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260ac35149d_0_1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60ac35149d_0_1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260ac35149d_0_1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60ac35149d_0_12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260ac35149d_0_12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60ac35149d_0_13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260ac35149d_0_13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60ac35149d_0_1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260ac35149d_0_1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60ac35149d_0_14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260ac35149d_0_14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4c71fb0085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24c71fb0085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4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Cluster Analysis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density-based and grid-based clustering concepts.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Explore DBSCAN, a density-based clustering algorithm.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Learn about OPTICS, a density-based ordering approach.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Discover grid-based clustering methods, including STING and CLIQUE.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Recognize the benefits and applications of these techniques.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Let's dive into these methods that offer unique perspectives on clustering complex data.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250" name="Google Shape;250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Density-based and grid-based clustering methods provide alternative approaches to grouping data points.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Density-Based Methods: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 data based on the density of data points.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Identify dense regions separated by sparser areas.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Robust to noise and can discover clusters of arbitrary shapes.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Grid-Based Methods: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Divide the data space into a grid.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Count data points in each grid cell to identify dense areas.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Efficient for large datasets but may have limitations in handling complex shapes.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Density-Based and Grid-Based Clustering Methods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4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259" name="Google Shape;259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Clustering based on density (a local cluster criterion), such as density-connected points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Major features: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Discover clusters of arbitrary shape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Handle noise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One scan (only examine the local region to justify density)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Need density parameters as termination condition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0" name="Google Shape;2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Density-Based Clustering Methods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5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268" name="Google Shape;268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Several interesting studies: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DBSCAN: Ester, et al. (KDD’96)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OPTICS: Ankerst, et al (SIGMOD’99)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DENCLUE: Hinneburg &amp; D. Keim (KDD’98)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CLIQUE: Agrawal, et al. (SIGMOD’98) (also, grid-based)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Density-Based Clustering Methods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26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277" name="Google Shape;277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DBSCAN is a density-based clustering algorithm that groups data points based on their density relationships.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DBSCAN (M. Ester, H.-P. Kriegel, J. Sander, and X. Xu, KDD’96)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Discovers clusters of arbitrary shape: Density-Based Spatial Clustering of Applications with Noise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8" name="Google Shape;2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DBSCAN: Density-Based Spatial Clustering of Applications with Noise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7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  <p:pic>
        <p:nvPicPr>
          <p:cNvPr id="282" name="Google Shape;2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1925" y="3180088"/>
            <a:ext cx="2371725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287" name="Google Shape;287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density-based notion of cluster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cluster is defined as a maximal set of density-connected points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Two parameters: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Eps (ε): Maximum radius of the neighborhood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MinPts: Minimum number of points in the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Eps-neighborhood of a point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Eps(ε)-neighborhood of a point q: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NEps(q): {p belongs to D | dist(p, q) ≤ Eps}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DBSCAN: Density-Based Spatial Clustering of Applications with Noise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8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  <p:pic>
        <p:nvPicPr>
          <p:cNvPr id="292" name="Google Shape;29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6900" y="2290088"/>
            <a:ext cx="376237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297" name="Google Shape;297;p29"/>
          <p:cNvSpPr txBox="1"/>
          <p:nvPr>
            <p:ph idx="1" type="body"/>
          </p:nvPr>
        </p:nvSpPr>
        <p:spPr>
          <a:xfrm>
            <a:off x="762000" y="1646575"/>
            <a:ext cx="47325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Directly density-reachable: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point p is directly density-reachable from a point q w.r.t. Eps (ε), MinPts if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p belongs to NEps(q)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core point condition: |NEps (q)| ≥ MinPts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DBSCAN: Density-Reachable and Density-Connected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9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  <p:pic>
        <p:nvPicPr>
          <p:cNvPr id="302" name="Google Shape;30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5638" y="1152600"/>
            <a:ext cx="2409825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07" name="Google Shape;307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Density-reachable: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point p is density-reachable from a point q w.r.t. Eps, MinPts if there is a chain of points p1, …, pn, p1 = q, pn = p such that pi+1 is directly density-reachable from pi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Density-connected: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point p is density-connected to a point q w.r.t. Eps, MinPts if there is a point o such that both p and q are density-reachable from o w.r.t. Eps and MinPts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8" name="Google Shape;30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0" name="Google Shape;310;p30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DBSCAN: Density-Reachable and Density-Connected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30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16" name="Google Shape;316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Algorithm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Arbitrarily select a point p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Retrieve all points density-reachable from p w.r.t. Eps and MinPts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If p is a core point, a cluster is formed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If p is a border point, no points are density-reachable from p, and DBSCAN visits the next point of the database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Continue the process until all of the points have been processed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7" name="Google Shape;31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9" name="Google Shape;319;p31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DBSCAN: The Algorithm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1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25" name="Google Shape;325;p3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Computational complexity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If a spatial index is used, the computational complexity of DBSCAN is O(nlogn), where n is the number of database objects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Otherwise, the complexity is O(n2)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6" name="Google Shape;32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8" name="Google Shape;328;p32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DBSCAN: The Algorithm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32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  <p:pic>
        <p:nvPicPr>
          <p:cNvPr id="330" name="Google Shape;33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4363" y="2638413"/>
            <a:ext cx="3590925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7" name="Google Shape;337;p33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DBSCAN Is Sensitive to the Setting of Parameters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33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  <p:pic>
        <p:nvPicPr>
          <p:cNvPr id="339" name="Google Shape;33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1925" y="1646575"/>
            <a:ext cx="6061968" cy="319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44" name="Google Shape;344;p34"/>
          <p:cNvSpPr txBox="1"/>
          <p:nvPr>
            <p:ph idx="1" type="body"/>
          </p:nvPr>
        </p:nvSpPr>
        <p:spPr>
          <a:xfrm>
            <a:off x="762000" y="1646575"/>
            <a:ext cx="45561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OPTICS (Ankerst, Breunig, Kriegel, and Sander, SIGMOD’99)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DBSCAN is sensitive to parameter setting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An extension: finding clustering structure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Observation: Given a MinPts, density-based clusters w.r.t. a higher density are completely contained in clusters w.r.t. to a lower density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5" name="Google Shape;34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7" name="Google Shape;347;p3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OPTICS: Ordering Points To Identify Clustering Structure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34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  <p:pic>
        <p:nvPicPr>
          <p:cNvPr id="349" name="Google Shape;34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2202" y="1582502"/>
            <a:ext cx="3062300" cy="321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54" name="Google Shape;354;p35"/>
          <p:cNvSpPr txBox="1"/>
          <p:nvPr>
            <p:ph idx="1" type="body"/>
          </p:nvPr>
        </p:nvSpPr>
        <p:spPr>
          <a:xfrm>
            <a:off x="762000" y="1646575"/>
            <a:ext cx="6654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Idea: Higher density points should be processed first—find high-density clusters first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OPTICS stores such a clustering order using two pieces of information: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Core distance and reachability distance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5" name="Google Shape;35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7" name="Google Shape;357;p3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OPTICS: Ordering Points To Identify Clustering Structure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35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63" name="Google Shape;363;p36"/>
          <p:cNvSpPr txBox="1"/>
          <p:nvPr>
            <p:ph idx="1" type="body"/>
          </p:nvPr>
        </p:nvSpPr>
        <p:spPr>
          <a:xfrm>
            <a:off x="762000" y="1646575"/>
            <a:ext cx="4284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Core distance of an object p: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smallest value ε such that the ε-neighborhood of p has at least MinPts objects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Let Nε(p): ε-neighborhood of p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ε is a distance value Core-distanceε, MinPts(p) = Undefined if card(Nε(p)) &lt; MinPts MinPts-distance(p), otherwise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4" name="Google Shape;36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6" name="Google Shape;366;p3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OPTICS: An Extension from DBSCAN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36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  <p:pic>
        <p:nvPicPr>
          <p:cNvPr id="368" name="Google Shape;36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8400" y="1798975"/>
            <a:ext cx="3766879" cy="21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73" name="Google Shape;373;p37"/>
          <p:cNvSpPr txBox="1"/>
          <p:nvPr>
            <p:ph idx="1" type="body"/>
          </p:nvPr>
        </p:nvSpPr>
        <p:spPr>
          <a:xfrm>
            <a:off x="762000" y="1646575"/>
            <a:ext cx="4284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Reachability distance of object p from core object q is the min.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radius value that makes p density-reachable from q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Reachability-distanceε, MinPts(p, q) = Undefined, if q is not a core object max(core-distance(q), distance (q, p)), otherwise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Complexity: O(N logN) (if index-based) where N: # of points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4" name="Google Shape;37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6" name="Google Shape;376;p3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OPTICS: An Extension from DBSCAN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37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  <p:pic>
        <p:nvPicPr>
          <p:cNvPr id="378" name="Google Shape;37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8400" y="1798975"/>
            <a:ext cx="3531706" cy="288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83" name="Google Shape;383;p38"/>
          <p:cNvSpPr txBox="1"/>
          <p:nvPr>
            <p:ph idx="1" type="body"/>
          </p:nvPr>
        </p:nvSpPr>
        <p:spPr>
          <a:xfrm>
            <a:off x="762000" y="1646572"/>
            <a:ext cx="79533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OPTICS produces a special cluster-ordering of the data points with respect to its density-based clustering structure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cluster-ordering contains information equivalent to the density-based clusterings corresponding to a broad range of parameter settings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Good for both automatic and interactive cluster analysis—finding intrinsic, even hierarchically nested clustering structures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4" name="Google Shape;38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6" name="Google Shape;386;p3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OPTICS: Finding Hierarchically Nested Clustering Structures 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38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  <p:pic>
        <p:nvPicPr>
          <p:cNvPr id="388" name="Google Shape;38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1900" y="3545925"/>
            <a:ext cx="4904450" cy="159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393" name="Google Shape;393;p39"/>
          <p:cNvSpPr txBox="1"/>
          <p:nvPr>
            <p:ph idx="1" type="body"/>
          </p:nvPr>
        </p:nvSpPr>
        <p:spPr>
          <a:xfrm>
            <a:off x="762000" y="1646572"/>
            <a:ext cx="79533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Grid-Based Clustering: Explore multi-resolution grid data structure in clustering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Partition the data space into a finite number of cells to form a grid structure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Find clusters (dense regions) from the cells in the grid structure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Features and challenges of a typical grid-based algorithm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Efficiency and scalability: # of cells &lt;&lt; # of data points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Uniformity: Uniform, hard to handle highly irregular data distributions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Locality: Limited by predefined cell sizes, borders, and the density threshold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Curse of dimensionality: Hard to cluster high-dimensional data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94" name="Google Shape;39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6" name="Google Shape;396;p39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Grid-Based Clustering Methods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39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02" name="Google Shape;402;p40"/>
          <p:cNvSpPr txBox="1"/>
          <p:nvPr>
            <p:ph idx="1" type="body"/>
          </p:nvPr>
        </p:nvSpPr>
        <p:spPr>
          <a:xfrm>
            <a:off x="762000" y="1646572"/>
            <a:ext cx="79533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Methods to be introduced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STING (a STatistical INformation Grid approach) (Wang, Yang and Muntz, VLDB’97)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CLIQUE (Agrawal, Gehrke, Gunopulos, and Raghavan, SIGMOD’98)  </a:t>
            </a:r>
            <a:endParaRPr sz="1800">
              <a:solidFill>
                <a:srgbClr val="1F1F1F"/>
              </a:solidFill>
            </a:endParaRPr>
          </a:p>
          <a:p>
            <a:pPr indent="-234314" lvl="2" marL="1143000" rtl="0" algn="just">
              <a:spcBef>
                <a:spcPts val="440"/>
              </a:spcBef>
              <a:spcAft>
                <a:spcPts val="0"/>
              </a:spcAft>
              <a:buClr>
                <a:srgbClr val="6F89F7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Both grid-based and subspace clustering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03" name="Google Shape;40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5" name="Google Shape;405;p40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Grid-Based Clustering Methods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40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11" name="Google Shape;411;p41"/>
          <p:cNvSpPr txBox="1"/>
          <p:nvPr>
            <p:ph idx="1" type="body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STING is a grid-based clustering method that employs a statistical information approach.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STING (Statistical Information Grid) (Wang, Yang and Muntz, VLDB’97)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spatial area is divided into rectangular cells at different levels of resolution, and these cells form a tree structure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cell at a high level contains a number of smaller cells of the next lower level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12" name="Google Shape;41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4" name="Google Shape;414;p41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STING: A Statistical Information Grid Approach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41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20" name="Google Shape;420;p42"/>
          <p:cNvSpPr txBox="1"/>
          <p:nvPr>
            <p:ph idx="1" type="body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Statistical information of each cell is calculated and stored beforehand and is used to answer queries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Parameters of higher level cells can be easily calculated from that of lower level cell, including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count, mean, s(standard deviation), min, max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type of distribution—normal, uniform, etc.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21" name="Google Shape;42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23" name="Google Shape;423;p42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STING: A Statistical Information Grid Approach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42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  <p:pic>
        <p:nvPicPr>
          <p:cNvPr id="425" name="Google Shape;42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0725" y="2783775"/>
            <a:ext cx="2962675" cy="18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30" name="Google Shape;430;p43"/>
          <p:cNvSpPr txBox="1"/>
          <p:nvPr>
            <p:ph idx="1" type="body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To process a region query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Start at the root and proceed to the next lower level, using the STING index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Calculate the likelihood that a cell is relevant to the query at some confidence level using the statistical information of the cell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Only children of likely relevant cells are recursively explored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Repeat this process until the bottom layer is reached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31" name="Google Shape;4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33" name="Google Shape;433;p43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Processing in STING and Its Analysis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43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39" name="Google Shape;439;p44"/>
          <p:cNvSpPr txBox="1"/>
          <p:nvPr>
            <p:ph idx="1" type="body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Advantages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Query-independent, easy to parallelize, incremental update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Efficiency: Complexity is O(K)  K: # of grid cells at the lowest level, and K &lt;&lt; N (i.e., # of data points)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Disadvantages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Its probabilistic nature may imply a loss of accuracy in query processing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40" name="Google Shape;44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42" name="Google Shape;442;p44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Processing in STING and Its Analysis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44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48" name="Google Shape;448;p45"/>
          <p:cNvSpPr txBox="1"/>
          <p:nvPr>
            <p:ph idx="1" type="body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CLIQUE is a density-based and grid-based subspace clustering algorithm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Grid-based: It discretizes the data space through a grid and estimates the density by counting the number of points in a grid cell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Density-based: A cluster is a maximal set of connected dense units in a subspace  </a:t>
            </a:r>
            <a:endParaRPr sz="1800">
              <a:solidFill>
                <a:srgbClr val="1F1F1F"/>
              </a:solidFill>
            </a:endParaRPr>
          </a:p>
          <a:p>
            <a:pPr indent="-234314" lvl="2" marL="1143000" rtl="0" algn="just">
              <a:spcBef>
                <a:spcPts val="440"/>
              </a:spcBef>
              <a:spcAft>
                <a:spcPts val="0"/>
              </a:spcAft>
              <a:buClr>
                <a:srgbClr val="6F89F7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A unit is dense if the fraction of total data points contained in the unit exceeds the input model parameter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Subspace clustering: A subspace cluster is a set of neighboring dense cells in an arbitrary subspace. It also discovers some minimal descriptions of the clusters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automatically identifies subspaces of a high dimensional data space that allow better clustering than original space using the Apriori principle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49" name="Google Shape;44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51" name="Google Shape;451;p45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CLIQUE: Grid-Based Subspace Clustering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45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57" name="Google Shape;457;p46"/>
          <p:cNvSpPr txBox="1"/>
          <p:nvPr>
            <p:ph idx="1" type="body"/>
          </p:nvPr>
        </p:nvSpPr>
        <p:spPr>
          <a:xfrm>
            <a:off x="762000" y="30033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Start at 1-D space and discretize numerical intervals in each axis into grid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Find dense regions (clusters) in each subspace and generate their minimal descriptions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Use the dense regions to find promising candidates in 2-D space based on the Apriori principle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Repeat the above in level-wise manner in higher dimensional subspaces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58" name="Google Shape;45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60" name="Google Shape;460;p46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CLIQUE: SubSpace Clustering with Aprori Pruning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46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  <p:pic>
        <p:nvPicPr>
          <p:cNvPr id="462" name="Google Shape;46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1170" y="1529620"/>
            <a:ext cx="5105524" cy="138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67" name="Google Shape;467;p47"/>
          <p:cNvSpPr txBox="1"/>
          <p:nvPr>
            <p:ph idx="1" type="body"/>
          </p:nvPr>
        </p:nvSpPr>
        <p:spPr>
          <a:xfrm>
            <a:off x="762000" y="1646575"/>
            <a:ext cx="86238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</a:t>
            </a:r>
            <a:r>
              <a:rPr lang="en-GB" sz="1800">
                <a:solidFill>
                  <a:srgbClr val="1F1F1F"/>
                </a:solidFill>
              </a:rPr>
              <a:t>dentify subspaces that contain clusters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Partition the data space and find the number of points that lie inside each cell of the partition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Identify the subspaces that contain clusters using the Apriori principle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Identify clusters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Determine dense units in all subspaces of interests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Determine connected dense units in all subspaces of interests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Generate minimal descriptions for the clusters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Determine maximal regions that cover a cluster of connected dense units for each cluster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Determine minimal cover for each cluster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68" name="Google Shape;46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70" name="Google Shape;470;p47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Steps of the CLIQUE Algorithm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p47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76" name="Google Shape;476;p48"/>
          <p:cNvSpPr txBox="1"/>
          <p:nvPr>
            <p:ph idx="1" type="body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Strengths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Automatically finds subspaces of the highest dimensionality as long as high density clusters exist in those subspaces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Insensitive to the order of records in input and does not presume some canonical data distribution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Scales linearly with the size of input and has good scalability as the number of dimensions in the data increases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Weaknesses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 in all grid-based clustering approaches, the quality of the results crucially depends on the appropriate choice of the number and width of the partitions and grid cells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77" name="Google Shape;47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79" name="Google Shape;479;p48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Comments on CLIQUE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48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85" name="Google Shape;485;p49"/>
          <p:cNvSpPr txBox="1"/>
          <p:nvPr>
            <p:ph idx="1" type="body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Let's apply grid-based clustering methods to spatial data analysis.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Objective: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Identify spatially dense regions in geographic datasets.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Uncover clusters of high population density or frequent occurrences.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86" name="Google Shape;48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88" name="Google Shape;488;p49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Application: Spatial Data Analysis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49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494" name="Google Shape;494;p50"/>
          <p:cNvSpPr txBox="1"/>
          <p:nvPr>
            <p:ph idx="1" type="body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Steps: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Preparation: Collect and preprocess geographic data.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Grid-Based Clustering: Apply STING or CLIQUE to identify dense regions.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 Interpretation: Analyze formed clusters for meaningful insights.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Decision Support: Inform urban planning, resource allocation, or disaster response.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Grid-based clustering techniques contribute to better understanding and decision-making in spatial analysis.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95" name="Google Shape;49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97" name="Google Shape;497;p50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Application: Spatial Data Analysis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50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503" name="Google Shape;503;p51"/>
          <p:cNvSpPr txBox="1"/>
          <p:nvPr>
            <p:ph idx="1" type="body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Density-Based: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Focus on density relationships.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Discover clusters of varying shapes and sizes.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Robust to noise and outliers.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Grid-Based: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Efficient for large datasets.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Handle uniform and non-uniform distributions.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May struggle with complex cluster shapes.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Choosing the appropriate method depends on data characteristics and analysis goals.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04" name="Google Shape;50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06" name="Google Shape;506;p51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of Density-Based and Grid-Based Clustering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51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512" name="Google Shape;512;p52"/>
          <p:cNvSpPr txBox="1"/>
          <p:nvPr>
            <p:ph idx="1" type="body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Density-based and grid-based clustering methods offer distinct advantages and considerations.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Advantages: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Density-Based: Suitable for irregularly shaped clusters and noise.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Grid-Based: Efficient for large datasets and spatial analysis.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Considerations: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Density-Based: Parameter sensitivity, especially for density thresholds.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Grid-Based: May struggle with clusters of varying shapes and densities.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Choosing the right method requires understanding data nuances and the specific analysis objectives.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13" name="Google Shape;51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5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15" name="Google Shape;515;p52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and Considerations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52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 &#10;Second level &#10;Third level &#10;Fourth level &#10;Fifth level" id="521" name="Google Shape;521;p53"/>
          <p:cNvSpPr txBox="1"/>
          <p:nvPr>
            <p:ph idx="1" type="body"/>
          </p:nvPr>
        </p:nvSpPr>
        <p:spPr>
          <a:xfrm>
            <a:off x="762000" y="1646575"/>
            <a:ext cx="8382000" cy="4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DBSCAN leverages density relationships for cluster discovery.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OPTICS introduces a density-based ordering approach.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STING employs statistical information for grid-based clustering.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CLIQUE focuses on grid-based subspace clustering.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methods enhance our ability to uncover clusters in diverse and complex datasets, opening new avenues for insights and applications.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22" name="Google Shape;52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24" name="Google Shape;524;p53"/>
          <p:cNvSpPr txBox="1"/>
          <p:nvPr/>
        </p:nvSpPr>
        <p:spPr>
          <a:xfrm>
            <a:off x="762000" y="1184875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 and Key Takeaways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53"/>
          <p:cNvSpPr txBox="1"/>
          <p:nvPr>
            <p:ph type="title"/>
          </p:nvPr>
        </p:nvSpPr>
        <p:spPr>
          <a:xfrm>
            <a:off x="609600" y="228600"/>
            <a:ext cx="9708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Density-Based, Grid-Based Clustering Methods</a:t>
            </a:r>
            <a:endParaRPr sz="3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31" name="Google Shape;531;p5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Density-Based: Clusters by data density.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Grid-Based: Organizes data in grids.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Both effective for various datasets.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532" name="Google Shape;53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34" name="Google Shape;534;p54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54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Density &amp; Grid Clustering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