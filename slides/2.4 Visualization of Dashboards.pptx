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67" r:id="rId2"/>
    <p:sldMasterId id="2147483668" r:id="rId3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9144000" cy="5143500" type="screen16x9"/>
  <p:notesSz cx="6858000" cy="9144000"/>
  <p:embeddedFontLst>
    <p:embeddedFont>
      <p:font typeface="Noto Sans Symbols" pitchFamily="2" charset="0"/>
      <p:regular r:id="rId21"/>
      <p:bold r:id="rId22"/>
    </p:embeddedFont>
    <p:embeddedFont>
      <p:font typeface="Roboto" panose="02000000000000000000" pitchFamily="2" charset="0"/>
      <p:regular r:id="rId23"/>
      <p:bold r:id="rId24"/>
      <p:italic r:id="rId25"/>
      <p:boldItalic r:id="rId26"/>
    </p:embeddedFont>
    <p:embeddedFont>
      <p:font typeface="Tahoma" panose="020B0604030504040204" pitchFamily="34" charset="0"/>
      <p:regular r:id="rId27"/>
      <p:bold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76"/>
  </p:normalViewPr>
  <p:slideViewPr>
    <p:cSldViewPr snapToGrid="0">
      <p:cViewPr varScale="1">
        <p:scale>
          <a:sx n="199" d="100"/>
          <a:sy n="199" d="100"/>
        </p:scale>
        <p:origin x="176" y="2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6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1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82b55a4a5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g2582b55a4a5_0_41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g2582b55a4a5_0_419:notes"/>
          <p:cNvSpPr txBox="1"/>
          <p:nvPr/>
        </p:nvSpPr>
        <p:spPr>
          <a:xfrm>
            <a:off x="3886696" y="8686800"/>
            <a:ext cx="2971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GB" sz="1200" b="0" i="0" u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fld>
            <a:endParaRPr sz="13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582b55a4a5_0_431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582b55a4a5_0_4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582b55a4a5_0_62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g2582b55a4a5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5834ca61d1_0_1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g25834ca61d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25834ca61d1_0_1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g25834ca61d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5834ca61d1_0_1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5834ca61d1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39d76cfe5a_0_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g239d76cfe5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39d76cfe5a_0_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39d76cfe5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5834ca61d1_0_2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25834ca61d1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39d76cfe5a_0_16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239d76cfe5a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25834ca61d1_0_36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g25834ca61d1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39d76cfe5a_0_32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239d76cfe5a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5834ca61d1_0_45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5834ca61d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239d76cfe5a_0_24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g239d76cfe5a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39d76cfe5a_0_4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g239d76cfe5a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24c6c293b79_0_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g24c6c293b7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hart" type="txAndChart">
  <p:cSld name="TEXT_AND_CHAR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■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●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>
            <a:spLocks noGrp="1"/>
          </p:cNvSpPr>
          <p:nvPr>
            <p:ph type="chart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>
            <a:spLocks noGrp="1"/>
          </p:cNvSpPr>
          <p:nvPr>
            <p:ph type="ctrTitle"/>
          </p:nvPr>
        </p:nvSpPr>
        <p:spPr>
          <a:xfrm>
            <a:off x="990600" y="13144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5" descr="Rectangle: Click to edit Master text styles&#10;Second level&#10;Third level&#10;Fourth level&#10;Fifth level"/>
          <p:cNvSpPr txBox="1">
            <a:spLocks noGrp="1"/>
          </p:cNvSpPr>
          <p:nvPr>
            <p:ph type="subTitle" idx="1"/>
          </p:nvPr>
        </p:nvSpPr>
        <p:spPr>
          <a:xfrm>
            <a:off x="990600" y="2482453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1920"/>
              <a:buFont typeface="Noto Sans Symbols"/>
              <a:buNone/>
              <a:defRPr/>
            </a:lvl1pPr>
            <a:lvl2pPr lvl="1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lvl="2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lvl="3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lvl="4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lvl="5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lvl="6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lvl="7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lvl="8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130" name="Google Shape;130;p15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1" name="Google Shape;131;p15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hart" type="txAndChart">
  <p:cSld name="TEXT_AND_CHART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7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17"/>
          <p:cNvSpPr>
            <a:spLocks noGrp="1"/>
          </p:cNvSpPr>
          <p:nvPr>
            <p:ph type="chart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03" name="Google Shape;203;p17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7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7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, and Content" type="txAndObj">
  <p:cSld name="TEXT_AND_OBJECT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8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09" name="Google Shape;209;p18"/>
          <p:cNvSpPr txBox="1">
            <a:spLocks noGrp="1"/>
          </p:cNvSpPr>
          <p:nvPr>
            <p:ph type="body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10" name="Google Shape;210;p18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18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18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19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19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20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5280" algn="l" rtl="0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marL="914400" lvl="1" indent="-320040" algn="l" rtl="0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marL="1371600" lvl="2" indent="-349250" algn="l" rtl="0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>
            <a:endParaRPr/>
          </a:p>
        </p:txBody>
      </p:sp>
      <p:sp>
        <p:nvSpPr>
          <p:cNvPr id="220" name="Google Shape;220;p20"/>
          <p:cNvSpPr txBox="1">
            <a:spLocks noGrp="1"/>
          </p:cNvSpPr>
          <p:nvPr>
            <p:ph type="body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5280" algn="l" rtl="0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marL="914400" lvl="1" indent="-320040" algn="l" rtl="0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marL="1371600" lvl="2" indent="-349250" algn="l" rtl="0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>
            <a:endParaRPr/>
          </a:p>
        </p:txBody>
      </p:sp>
      <p:sp>
        <p:nvSpPr>
          <p:cNvPr id="221" name="Google Shape;221;p20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0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0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1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27" name="Google Shape;227;p21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1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1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4"/>
          <p:cNvGrpSpPr/>
          <p:nvPr/>
        </p:nvGrpSpPr>
        <p:grpSpPr>
          <a:xfrm>
            <a:off x="-136525" y="0"/>
            <a:ext cx="9204325" cy="5029200"/>
            <a:chOff x="-86" y="0"/>
            <a:chExt cx="5798" cy="4224"/>
          </a:xfrm>
        </p:grpSpPr>
        <p:grpSp>
          <p:nvGrpSpPr>
            <p:cNvPr id="59" name="Google Shape;59;p14"/>
            <p:cNvGrpSpPr/>
            <p:nvPr/>
          </p:nvGrpSpPr>
          <p:grpSpPr>
            <a:xfrm>
              <a:off x="0" y="0"/>
              <a:ext cx="5712" cy="4224"/>
              <a:chOff x="0" y="0"/>
              <a:chExt cx="5712" cy="4224"/>
            </a:xfrm>
          </p:grpSpPr>
          <p:sp>
            <p:nvSpPr>
              <p:cNvPr id="60" name="Google Shape;60;p14"/>
              <p:cNvSpPr txBox="1"/>
              <p:nvPr/>
            </p:nvSpPr>
            <p:spPr>
              <a:xfrm>
                <a:off x="2112" y="0"/>
                <a:ext cx="3600" cy="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  <p:grpSp>
            <p:nvGrpSpPr>
              <p:cNvPr id="61" name="Google Shape;61;p14"/>
              <p:cNvGrpSpPr/>
              <p:nvPr/>
            </p:nvGrpSpPr>
            <p:grpSpPr>
              <a:xfrm>
                <a:off x="0" y="0"/>
                <a:ext cx="5700" cy="4224"/>
                <a:chOff x="0" y="0"/>
                <a:chExt cx="5700" cy="4224"/>
              </a:xfrm>
            </p:grpSpPr>
            <p:cxnSp>
              <p:nvCxnSpPr>
                <p:cNvPr id="62" name="Google Shape;62;p14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3" name="Google Shape;63;p14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4" name="Google Shape;64;p14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5" name="Google Shape;65;p14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6" name="Google Shape;66;p14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7" name="Google Shape;67;p14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8" name="Google Shape;68;p14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9" name="Google Shape;69;p14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0" name="Google Shape;70;p14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1" name="Google Shape;71;p14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2" name="Google Shape;72;p14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3" name="Google Shape;73;p14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4" name="Google Shape;74;p14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5" name="Google Shape;75;p14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6" name="Google Shape;76;p14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7" name="Google Shape;77;p14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8" name="Google Shape;78;p14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9" name="Google Shape;79;p14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0" name="Google Shape;80;p14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1" name="Google Shape;81;p14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2" name="Google Shape;82;p14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3" name="Google Shape;83;p14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4" name="Google Shape;84;p14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5" name="Google Shape;85;p14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6" name="Google Shape;86;p14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7" name="Google Shape;87;p14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8" name="Google Shape;88;p14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9" name="Google Shape;89;p14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0" name="Google Shape;90;p14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14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2" name="Google Shape;92;p14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3" name="Google Shape;93;p14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4" name="Google Shape;94;p14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5" name="Google Shape;95;p14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6" name="Google Shape;96;p14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7" name="Google Shape;97;p14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8" name="Google Shape;98;p14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9" name="Google Shape;99;p14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0" name="Google Shape;100;p14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1" name="Google Shape;101;p14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2" name="Google Shape;102;p14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3" name="Google Shape;103;p14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4" name="Google Shape;104;p14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5" name="Google Shape;105;p14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6" name="Google Shape;106;p14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7" name="Google Shape;107;p14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8" name="Google Shape;108;p14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9" name="Google Shape;109;p14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0" name="Google Shape;110;p14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1" name="Google Shape;111;p14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2" name="Google Shape;112;p14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13" name="Google Shape;113;p14"/>
              <p:cNvCxnSpPr/>
              <p:nvPr/>
            </p:nvCxnSpPr>
            <p:spPr>
              <a:xfrm>
                <a:off x="5568" y="0"/>
                <a:ext cx="0" cy="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</p:grpSp>
        <p:grpSp>
          <p:nvGrpSpPr>
            <p:cNvPr id="114" name="Google Shape;114;p14"/>
            <p:cNvGrpSpPr/>
            <p:nvPr/>
          </p:nvGrpSpPr>
          <p:grpSpPr>
            <a:xfrm>
              <a:off x="-86" y="559"/>
              <a:ext cx="4281" cy="1800"/>
              <a:chOff x="-86" y="559"/>
              <a:chExt cx="4281" cy="1800"/>
            </a:xfrm>
          </p:grpSpPr>
          <p:cxnSp>
            <p:nvCxnSpPr>
              <p:cNvPr id="115" name="Google Shape;115;p14"/>
              <p:cNvCxnSpPr/>
              <p:nvPr/>
            </p:nvCxnSpPr>
            <p:spPr>
              <a:xfrm>
                <a:off x="506" y="559"/>
                <a:ext cx="0" cy="1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14"/>
              <p:cNvCxnSpPr/>
              <p:nvPr/>
            </p:nvCxnSpPr>
            <p:spPr>
              <a:xfrm rot="10800000">
                <a:off x="-86" y="1925"/>
                <a:ext cx="3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17" name="Google Shape;117;p14"/>
              <p:cNvCxnSpPr/>
              <p:nvPr/>
            </p:nvCxnSpPr>
            <p:spPr>
              <a:xfrm rot="10800000">
                <a:off x="295" y="939"/>
                <a:ext cx="3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18" name="Google Shape;118;p14"/>
              <p:cNvSpPr/>
              <p:nvPr/>
            </p:nvSpPr>
            <p:spPr>
              <a:xfrm rot="-5400000" flipH="1">
                <a:off x="425" y="860"/>
                <a:ext cx="108" cy="108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1480" y="1952"/>
              <a:ext cx="3900" cy="1800"/>
              <a:chOff x="1480" y="1952"/>
              <a:chExt cx="3900" cy="1800"/>
            </a:xfrm>
          </p:grpSpPr>
          <p:cxnSp>
            <p:nvCxnSpPr>
              <p:cNvPr id="120" name="Google Shape;120;p14"/>
              <p:cNvCxnSpPr/>
              <p:nvPr/>
            </p:nvCxnSpPr>
            <p:spPr>
              <a:xfrm>
                <a:off x="1480" y="3442"/>
                <a:ext cx="3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14"/>
              <p:cNvCxnSpPr/>
              <p:nvPr/>
            </p:nvCxnSpPr>
            <p:spPr>
              <a:xfrm>
                <a:off x="5172" y="1952"/>
                <a:ext cx="0" cy="1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22" name="Google Shape;122;p14"/>
              <p:cNvSpPr/>
              <p:nvPr/>
            </p:nvSpPr>
            <p:spPr>
              <a:xfrm rot="5400000">
                <a:off x="5145" y="3347"/>
                <a:ext cx="108" cy="108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23" name="Google Shape;123;p1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24" name="Google Shape;124;p1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052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528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73380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111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6"/>
          <p:cNvGrpSpPr/>
          <p:nvPr/>
        </p:nvGrpSpPr>
        <p:grpSpPr>
          <a:xfrm>
            <a:off x="0" y="0"/>
            <a:ext cx="9067800" cy="5029200"/>
            <a:chOff x="0" y="0"/>
            <a:chExt cx="5712" cy="4224"/>
          </a:xfrm>
        </p:grpSpPr>
        <p:grpSp>
          <p:nvGrpSpPr>
            <p:cNvPr id="134" name="Google Shape;134;p16"/>
            <p:cNvGrpSpPr/>
            <p:nvPr/>
          </p:nvGrpSpPr>
          <p:grpSpPr>
            <a:xfrm>
              <a:off x="0" y="0"/>
              <a:ext cx="5700" cy="4224"/>
              <a:chOff x="0" y="0"/>
              <a:chExt cx="5700" cy="4224"/>
            </a:xfrm>
          </p:grpSpPr>
          <p:grpSp>
            <p:nvGrpSpPr>
              <p:cNvPr id="135" name="Google Shape;135;p16"/>
              <p:cNvGrpSpPr/>
              <p:nvPr/>
            </p:nvGrpSpPr>
            <p:grpSpPr>
              <a:xfrm>
                <a:off x="0" y="192"/>
                <a:ext cx="5700" cy="4032"/>
                <a:chOff x="0" y="192"/>
                <a:chExt cx="5700" cy="4032"/>
              </a:xfrm>
            </p:grpSpPr>
            <p:cxnSp>
              <p:nvCxnSpPr>
                <p:cNvPr id="136" name="Google Shape;136;p16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7" name="Google Shape;137;p16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8" name="Google Shape;138;p16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9" name="Google Shape;139;p16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0" name="Google Shape;140;p16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1" name="Google Shape;141;p16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2" name="Google Shape;142;p16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3" name="Google Shape;143;p16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4" name="Google Shape;144;p16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5" name="Google Shape;145;p16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6" name="Google Shape;146;p16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7" name="Google Shape;147;p16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8" name="Google Shape;148;p16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9" name="Google Shape;149;p16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0" name="Google Shape;150;p16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1" name="Google Shape;151;p16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2" name="Google Shape;152;p16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3" name="Google Shape;153;p16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4" name="Google Shape;154;p16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5" name="Google Shape;155;p16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6" name="Google Shape;156;p16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7" name="Google Shape;157;p16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58" name="Google Shape;158;p16"/>
              <p:cNvGrpSpPr/>
              <p:nvPr/>
            </p:nvGrpSpPr>
            <p:grpSpPr>
              <a:xfrm>
                <a:off x="192" y="0"/>
                <a:ext cx="5376" cy="4200"/>
                <a:chOff x="192" y="0"/>
                <a:chExt cx="5376" cy="4200"/>
              </a:xfrm>
            </p:grpSpPr>
            <p:cxnSp>
              <p:nvCxnSpPr>
                <p:cNvPr id="159" name="Google Shape;159;p16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0" name="Google Shape;160;p16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1" name="Google Shape;161;p16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2" name="Google Shape;162;p16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3" name="Google Shape;163;p16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4" name="Google Shape;164;p16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5" name="Google Shape;165;p16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6" name="Google Shape;166;p16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7" name="Google Shape;167;p16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8" name="Google Shape;168;p16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9" name="Google Shape;169;p16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0" name="Google Shape;170;p16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1" name="Google Shape;171;p16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2" name="Google Shape;172;p16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3" name="Google Shape;173;p16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4" name="Google Shape;174;p16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5" name="Google Shape;175;p16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6" name="Google Shape;176;p16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7" name="Google Shape;177;p16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8" name="Google Shape;178;p16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9" name="Google Shape;179;p16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0" name="Google Shape;180;p16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1" name="Google Shape;181;p16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2" name="Google Shape;182;p16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3" name="Google Shape;183;p16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4" name="Google Shape;184;p16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5" name="Google Shape;185;p16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6" name="Google Shape;186;p16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7" name="Google Shape;187;p16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</p:grpSp>
        <p:sp>
          <p:nvSpPr>
            <p:cNvPr id="188" name="Google Shape;188;p16" descr="60%"/>
            <p:cNvSpPr txBox="1"/>
            <p:nvPr/>
          </p:nvSpPr>
          <p:spPr>
            <a:xfrm>
              <a:off x="2112" y="0"/>
              <a:ext cx="3600" cy="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cxnSp>
          <p:nvCxnSpPr>
            <p:cNvPr id="189" name="Google Shape;189;p16"/>
            <p:cNvCxnSpPr/>
            <p:nvPr/>
          </p:nvCxnSpPr>
          <p:spPr>
            <a:xfrm>
              <a:off x="5568" y="0"/>
              <a:ext cx="0" cy="1500"/>
            </a:xfrm>
            <a:prstGeom prst="straightConnector1">
              <a:avLst/>
            </a:prstGeom>
            <a:noFill/>
            <a:ln w="9525" cap="flat" cmpd="sng">
              <a:solidFill>
                <a:schemeClr val="hlink"/>
              </a:solidFill>
              <a:prstDash val="solid"/>
              <a:miter lim="800000"/>
              <a:headEnd type="none" w="med" len="med"/>
              <a:tailEnd type="none" w="med" len="med"/>
            </a:ln>
          </p:spPr>
        </p:cxnSp>
        <p:grpSp>
          <p:nvGrpSpPr>
            <p:cNvPr id="190" name="Google Shape;190;p16"/>
            <p:cNvGrpSpPr/>
            <p:nvPr/>
          </p:nvGrpSpPr>
          <p:grpSpPr>
            <a:xfrm>
              <a:off x="316" y="892"/>
              <a:ext cx="1069" cy="1529"/>
              <a:chOff x="204" y="916"/>
              <a:chExt cx="2100" cy="3004"/>
            </a:xfrm>
          </p:grpSpPr>
          <p:cxnSp>
            <p:nvCxnSpPr>
              <p:cNvPr id="191" name="Google Shape;191;p16"/>
              <p:cNvCxnSpPr/>
              <p:nvPr/>
            </p:nvCxnSpPr>
            <p:spPr>
              <a:xfrm rot="10800000">
                <a:off x="204" y="1038"/>
                <a:ext cx="2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16"/>
              <p:cNvCxnSpPr/>
              <p:nvPr/>
            </p:nvCxnSpPr>
            <p:spPr>
              <a:xfrm>
                <a:off x="336" y="920"/>
                <a:ext cx="0" cy="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93" name="Google Shape;193;p16"/>
              <p:cNvSpPr/>
              <p:nvPr/>
            </p:nvSpPr>
            <p:spPr>
              <a:xfrm flipH="1">
                <a:off x="240" y="916"/>
                <a:ext cx="216" cy="216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94" name="Google Shape;194;p1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5" name="Google Shape;195;p1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052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528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73380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111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6" name="Google Shape;196;p16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7" name="Google Shape;197;p16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8" name="Google Shape;198;p16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fusioncharts.com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fusioncharts.com/" TargetMode="Externa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fusioncharts.com/" TargetMode="Externa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fusioncharts.com/" TargetMode="Externa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fusioncharts.com/" TargetMode="Externa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2"/>
          <p:cNvSpPr txBox="1">
            <a:spLocks noGrp="1"/>
          </p:cNvSpPr>
          <p:nvPr>
            <p:ph type="ctrTitle"/>
          </p:nvPr>
        </p:nvSpPr>
        <p:spPr>
          <a:xfrm>
            <a:off x="1193275" y="14310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Chapter 2: </a:t>
            </a:r>
            <a:b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600"/>
              <a:t>Data Visualization</a:t>
            </a:r>
            <a:endParaRPr sz="3600"/>
          </a:p>
        </p:txBody>
      </p:sp>
      <p:pic>
        <p:nvPicPr>
          <p:cNvPr id="236" name="Google Shape;236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sz="3600"/>
          </a:p>
        </p:txBody>
      </p:sp>
      <p:sp>
        <p:nvSpPr>
          <p:cNvPr id="242" name="Google Shape;242;p23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288256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B7B7B7"/>
              </a:buClr>
              <a:buSzPts val="1800"/>
              <a:buChar char="●"/>
            </a:pPr>
            <a:r>
              <a:rPr lang="en-GB" sz="1800">
                <a:solidFill>
                  <a:srgbClr val="B7B7B7"/>
                </a:solidFill>
              </a:rPr>
              <a:t>Understand the concept and importance of data visualization in the context of data mining.</a:t>
            </a:r>
            <a:endParaRPr sz="1800">
              <a:solidFill>
                <a:srgbClr val="B7B7B7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B7B7B7"/>
              </a:buClr>
              <a:buSzPts val="1800"/>
              <a:buChar char="●"/>
            </a:pPr>
            <a:r>
              <a:rPr lang="en-GB" sz="1800">
                <a:solidFill>
                  <a:srgbClr val="B7B7B7"/>
                </a:solidFill>
              </a:rPr>
              <a:t>Explore the goals and benefits of using data visualization techniques.</a:t>
            </a:r>
            <a:endParaRPr sz="1800">
              <a:solidFill>
                <a:srgbClr val="B7B7B7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B7B7B7"/>
              </a:buClr>
              <a:buSzPts val="1800"/>
              <a:buChar char="●"/>
            </a:pPr>
            <a:r>
              <a:rPr lang="en-GB" sz="1800">
                <a:solidFill>
                  <a:srgbClr val="B7B7B7"/>
                </a:solidFill>
              </a:rPr>
              <a:t>Learn various techniques for numerical data, including line charts, bar charts, scatter plots, etc.</a:t>
            </a:r>
            <a:endParaRPr sz="1800">
              <a:solidFill>
                <a:srgbClr val="B7B7B7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B7B7B7"/>
              </a:buClr>
              <a:buSzPts val="1800"/>
              <a:buChar char="●"/>
            </a:pPr>
            <a:r>
              <a:rPr lang="en-GB" sz="1800">
                <a:solidFill>
                  <a:srgbClr val="B7B7B7"/>
                </a:solidFill>
              </a:rPr>
              <a:t>Understand the techniques specific to non-numerical data, such as pie charts, word clouds, network graphs, etc.</a:t>
            </a:r>
            <a:endParaRPr sz="1800">
              <a:solidFill>
                <a:srgbClr val="B7B7B7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Gain insights into the visualization of dashboards, including the components, design principles, and interactive features.</a:t>
            </a:r>
            <a:endParaRPr sz="1800" b="0" i="0" u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43" name="Google Shape;243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250" name="Google Shape;250;p2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Dashboards are visual interfaces that provide a consolidated view of key information and metrics, allowing users to monitor and analyze data in real-time. They combine various visualizations, charts, tables, and other components to present an overview of relevant data and facilitate decision-making.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51" name="Google Shape;251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</a:t>
            </a:fld>
            <a:endParaRPr/>
          </a:p>
        </p:txBody>
      </p:sp>
      <p:sp>
        <p:nvSpPr>
          <p:cNvPr id="253" name="Google Shape;253;p24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Dashboards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259" name="Google Shape;259;p2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Dashboards are interactive visual displays that present </a:t>
            </a:r>
            <a:r>
              <a:rPr lang="en-GB" sz="1800" b="1" dirty="0">
                <a:solidFill>
                  <a:srgbClr val="1F1F1F"/>
                </a:solidFill>
              </a:rPr>
              <a:t>summarized and actionable information</a:t>
            </a:r>
            <a:r>
              <a:rPr lang="en-GB" sz="1800" dirty="0">
                <a:solidFill>
                  <a:srgbClr val="1F1F1F"/>
                </a:solidFill>
              </a:rPr>
              <a:t> at a glance. They are designed to provide a comprehensive view of key performance indicators (KPIs), metrics, and trends for effective monitoring and decision-making.</a:t>
            </a:r>
            <a:endParaRPr sz="1800" dirty="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The purpose of dashboards is to provide users with relevant and timely insights, enabling them to assess performance, identify issues or opportunities, and take appropriate actions.</a:t>
            </a:r>
            <a:endParaRPr sz="1800" dirty="0">
              <a:solidFill>
                <a:srgbClr val="1F1F1F"/>
              </a:solidFill>
            </a:endParaRPr>
          </a:p>
        </p:txBody>
      </p:sp>
      <p:pic>
        <p:nvPicPr>
          <p:cNvPr id="260" name="Google Shape;260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4</a:t>
            </a:fld>
            <a:endParaRPr/>
          </a:p>
        </p:txBody>
      </p:sp>
      <p:sp>
        <p:nvSpPr>
          <p:cNvPr id="262" name="Google Shape;262;p25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Definition and Purpose of Dashboards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268" name="Google Shape;268;p2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Widgets: Dashboards consist of various widgets such as charts, graphs, tables, gauges, or maps, representing different aspects of the data.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Filters: Interactive filters allow users to customize the view of the dashboard by selecting specific dimensions, time periods, or other parameters.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Drill-down and Drill-up: Dashboards often provide the ability to drill down into specific details or drill up to higher-level summaries for deeper analysis.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Alerts and Notifications: Dashboards may include alerts or notifications that highlight critical information or anomalies, helping users stay informed about important events or changes.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69" name="Google Shape;269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5</a:t>
            </a:fld>
            <a:endParaRPr/>
          </a:p>
        </p:txBody>
      </p:sp>
      <p:sp>
        <p:nvSpPr>
          <p:cNvPr id="271" name="Google Shape;271;p26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Components of a Dashboard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277" name="Google Shape;277;p27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Data Organization and Layout: Arrange the components of the dashboard in a logical and intuitive manner, ensuring that related information is grouped together for easy understanding.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78" name="Google Shape;278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6</a:t>
            </a:fld>
            <a:endParaRPr/>
          </a:p>
        </p:txBody>
      </p:sp>
      <p:sp>
        <p:nvSpPr>
          <p:cNvPr id="280" name="Google Shape;280;p27"/>
          <p:cNvSpPr txBox="1"/>
          <p:nvPr/>
        </p:nvSpPr>
        <p:spPr>
          <a:xfrm>
            <a:off x="762000" y="1184875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 Principles for Effective Dashboards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81" name="Google Shape;28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25713" y="2567875"/>
            <a:ext cx="4093873" cy="235167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7"/>
          <p:cNvSpPr txBox="1"/>
          <p:nvPr/>
        </p:nvSpPr>
        <p:spPr>
          <a:xfrm>
            <a:off x="674125" y="4615275"/>
            <a:ext cx="8502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[Credit: </a:t>
            </a:r>
            <a:r>
              <a:rPr lang="en-GB" u="sng">
                <a:solidFill>
                  <a:srgbClr val="6F89F7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https://www.datawiz.com/</a:t>
            </a: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]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288" name="Google Shape;288;p28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Visual Hierarchy and Emphasis: Use visual cues such as size, color, and positioning to emphasize important data and guide users' attention to the most relevant insights.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89" name="Google Shape;289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7</a:t>
            </a:fld>
            <a:endParaRPr/>
          </a:p>
        </p:txBody>
      </p:sp>
      <p:sp>
        <p:nvSpPr>
          <p:cNvPr id="291" name="Google Shape;291;p28"/>
          <p:cNvSpPr txBox="1"/>
          <p:nvPr/>
        </p:nvSpPr>
        <p:spPr>
          <a:xfrm>
            <a:off x="762000" y="1184875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 Principles for Effective Dashboards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92" name="Google Shape;2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24725" y="2305893"/>
            <a:ext cx="5180449" cy="231577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8"/>
          <p:cNvSpPr txBox="1"/>
          <p:nvPr/>
        </p:nvSpPr>
        <p:spPr>
          <a:xfrm>
            <a:off x="674125" y="4615275"/>
            <a:ext cx="8502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[Credit: </a:t>
            </a:r>
            <a:r>
              <a:rPr lang="en-GB" u="sng">
                <a:solidFill>
                  <a:srgbClr val="6F89F7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https://www.datawiz.com/</a:t>
            </a: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]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9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299" name="Google Shape;299;p29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Color Schemes and Aesthetics: Choose a visually pleasing color scheme that aligns with the data and the overall purpose of the dashboard. Avoid overwhelming or distracting color combinations.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00" name="Google Shape;300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8</a:t>
            </a:fld>
            <a:endParaRPr/>
          </a:p>
        </p:txBody>
      </p:sp>
      <p:sp>
        <p:nvSpPr>
          <p:cNvPr id="302" name="Google Shape;302;p29"/>
          <p:cNvSpPr txBox="1"/>
          <p:nvPr/>
        </p:nvSpPr>
        <p:spPr>
          <a:xfrm>
            <a:off x="762000" y="1184875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 Principles for Effective Dashboards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03" name="Google Shape;30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7375" y="2571750"/>
            <a:ext cx="342900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9"/>
          <p:cNvSpPr txBox="1"/>
          <p:nvPr/>
        </p:nvSpPr>
        <p:spPr>
          <a:xfrm>
            <a:off x="674125" y="4615275"/>
            <a:ext cx="8502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[Credit: </a:t>
            </a:r>
            <a:r>
              <a:rPr lang="en-GB" u="sng">
                <a:solidFill>
                  <a:srgbClr val="6F89F7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https://www.datawiz.com/</a:t>
            </a: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]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310" name="Google Shape;310;p30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Interactivity and User Experience: Incorporate interactive features like hover effects, tooltips, and clickable elements to provide a smooth and engaging user experience. Allow users to interact with the dashboard and explore the data based on their specific needs.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11" name="Google Shape;311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3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9</a:t>
            </a:fld>
            <a:endParaRPr/>
          </a:p>
        </p:txBody>
      </p:sp>
      <p:sp>
        <p:nvSpPr>
          <p:cNvPr id="313" name="Google Shape;313;p30"/>
          <p:cNvSpPr txBox="1"/>
          <p:nvPr/>
        </p:nvSpPr>
        <p:spPr>
          <a:xfrm>
            <a:off x="762000" y="1184875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 Principles for Effective Dashboards 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14" name="Google Shape;31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5800" y="2578144"/>
            <a:ext cx="3591201" cy="2394126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30"/>
          <p:cNvSpPr txBox="1"/>
          <p:nvPr/>
        </p:nvSpPr>
        <p:spPr>
          <a:xfrm>
            <a:off x="674125" y="4615275"/>
            <a:ext cx="8502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[Credit: </a:t>
            </a:r>
            <a:r>
              <a:rPr lang="en-GB" u="sng">
                <a:solidFill>
                  <a:srgbClr val="6F89F7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https://www.qualtrics.com/</a:t>
            </a: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]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321" name="Google Shape;321;p31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Responsiveness and Adaptability: Ensure the dashboard is responsive and adaptable to different screen sizes and devices, allowing users to access and view the dashboard on various platforms.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22" name="Google Shape;32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3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10</a:t>
            </a:fld>
            <a:endParaRPr/>
          </a:p>
        </p:txBody>
      </p:sp>
      <p:sp>
        <p:nvSpPr>
          <p:cNvPr id="324" name="Google Shape;324;p31"/>
          <p:cNvSpPr txBox="1"/>
          <p:nvPr/>
        </p:nvSpPr>
        <p:spPr>
          <a:xfrm>
            <a:off x="762000" y="1184875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 Principles for Effective Dashboards 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25" name="Google Shape;325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09177" y="2571750"/>
            <a:ext cx="5490813" cy="211455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1"/>
          <p:cNvSpPr txBox="1"/>
          <p:nvPr/>
        </p:nvSpPr>
        <p:spPr>
          <a:xfrm>
            <a:off x="674125" y="4615275"/>
            <a:ext cx="8502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[Credit: </a:t>
            </a:r>
            <a:r>
              <a:rPr lang="en-GB" u="sng">
                <a:solidFill>
                  <a:srgbClr val="6F89F7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https://www.datawiz.com/</a:t>
            </a: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]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2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332" name="Google Shape;332;p32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Line charts or area charts showing trends and fluctuations in key metrics over time.</a:t>
            </a:r>
            <a:endParaRPr sz="1800" dirty="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Bar charts or column charts comparing performance or metrics across different categories or regions.</a:t>
            </a:r>
            <a:endParaRPr sz="1800" dirty="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Gauges or progress indicators providing a visual representation of goal attainment or performance levels.</a:t>
            </a:r>
            <a:endParaRPr sz="1800" dirty="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Heatmaps or choropleth maps showing geographical patterns or variations in data.</a:t>
            </a:r>
            <a:endParaRPr sz="1800" dirty="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Tables or data grids presenting detailed tabular information for specific dimensions or metrics.</a:t>
            </a:r>
            <a:endParaRPr sz="1800" dirty="0">
              <a:solidFill>
                <a:srgbClr val="1F1F1F"/>
              </a:solidFill>
            </a:endParaRPr>
          </a:p>
        </p:txBody>
      </p:sp>
      <p:pic>
        <p:nvPicPr>
          <p:cNvPr id="333" name="Google Shape;333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3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11</a:t>
            </a:fld>
            <a:endParaRPr/>
          </a:p>
        </p:txBody>
      </p:sp>
      <p:sp>
        <p:nvSpPr>
          <p:cNvPr id="335" name="Google Shape;335;p32"/>
          <p:cNvSpPr txBox="1"/>
          <p:nvPr/>
        </p:nvSpPr>
        <p:spPr>
          <a:xfrm>
            <a:off x="762000" y="1184875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Examples of Dashboard Visualization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341" name="Google Shape;341;p33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Tableau: A popular and powerful data visualization tool with extensive dashboard creation capabilities.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42" name="Google Shape;342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3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12</a:t>
            </a:fld>
            <a:endParaRPr/>
          </a:p>
        </p:txBody>
      </p:sp>
      <p:sp>
        <p:nvSpPr>
          <p:cNvPr id="344" name="Google Shape;344;p33"/>
          <p:cNvSpPr txBox="1"/>
          <p:nvPr/>
        </p:nvSpPr>
        <p:spPr>
          <a:xfrm>
            <a:off x="762000" y="1184875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Tools for Creating Interactive Dashboards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45" name="Google Shape;345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73725" y="2307179"/>
            <a:ext cx="4843157" cy="272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351" name="Google Shape;351;p3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234259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Power BI: Microsoft's business intelligence platform that enables the creation of interactive dashboards and reports.</a:t>
            </a:r>
            <a:endParaRPr sz="1800" dirty="0">
              <a:solidFill>
                <a:srgbClr val="1F1F1F"/>
              </a:solidFill>
            </a:endParaRPr>
          </a:p>
        </p:txBody>
      </p:sp>
      <p:pic>
        <p:nvPicPr>
          <p:cNvPr id="352" name="Google Shape;35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13</a:t>
            </a:fld>
            <a:endParaRPr/>
          </a:p>
        </p:txBody>
      </p:sp>
      <p:sp>
        <p:nvSpPr>
          <p:cNvPr id="354" name="Google Shape;354;p34"/>
          <p:cNvSpPr txBox="1"/>
          <p:nvPr/>
        </p:nvSpPr>
        <p:spPr>
          <a:xfrm>
            <a:off x="762000" y="1003409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 dirty="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Tools for Creating Interactive Dashboards</a:t>
            </a:r>
            <a:endParaRPr sz="1800" b="1" i="1" dirty="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55" name="Google Shape;355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39149" y="2177945"/>
            <a:ext cx="4865702" cy="27369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361" name="Google Shape;361;p3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343100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Google Data Studio: A free tool by Google for creating customizable dashboards and visualizations using various data sources.</a:t>
            </a:r>
            <a:endParaRPr sz="1800" dirty="0">
              <a:solidFill>
                <a:srgbClr val="1F1F1F"/>
              </a:solidFill>
            </a:endParaRPr>
          </a:p>
        </p:txBody>
      </p:sp>
      <p:pic>
        <p:nvPicPr>
          <p:cNvPr id="362" name="Google Shape;362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14</a:t>
            </a:fld>
            <a:endParaRPr/>
          </a:p>
        </p:txBody>
      </p:sp>
      <p:sp>
        <p:nvSpPr>
          <p:cNvPr id="364" name="Google Shape;364;p35"/>
          <p:cNvSpPr txBox="1"/>
          <p:nvPr/>
        </p:nvSpPr>
        <p:spPr>
          <a:xfrm>
            <a:off x="762000" y="1095387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 dirty="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Tools for Creating Interactive Dashboards</a:t>
            </a:r>
            <a:endParaRPr sz="1800" b="1" i="1" dirty="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65" name="Google Shape;36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6125" y="2389325"/>
            <a:ext cx="4865700" cy="243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Visualization of Dashboards</a:t>
            </a:r>
            <a:endParaRPr sz="3600"/>
          </a:p>
        </p:txBody>
      </p:sp>
      <p:sp>
        <p:nvSpPr>
          <p:cNvPr id="371" name="Google Shape;371;p3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234260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5052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Roboto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D3.js: A JavaScript library for creating custom, interactive, and dynamic visualizations and dashboards.</a:t>
            </a:r>
            <a:endParaRPr sz="1800" dirty="0">
              <a:solidFill>
                <a:srgbClr val="1F1F1F"/>
              </a:solidFill>
            </a:endParaRPr>
          </a:p>
        </p:txBody>
      </p:sp>
      <p:pic>
        <p:nvPicPr>
          <p:cNvPr id="372" name="Google Shape;372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15</a:t>
            </a:fld>
            <a:endParaRPr/>
          </a:p>
        </p:txBody>
      </p:sp>
      <p:sp>
        <p:nvSpPr>
          <p:cNvPr id="374" name="Google Shape;374;p36"/>
          <p:cNvSpPr txBox="1"/>
          <p:nvPr/>
        </p:nvSpPr>
        <p:spPr>
          <a:xfrm>
            <a:off x="762000" y="1003410"/>
            <a:ext cx="4865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 dirty="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Tools for Creating Interactive Dashboards</a:t>
            </a:r>
            <a:endParaRPr sz="1800" b="1" i="1" dirty="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75" name="Google Shape;375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95521" y="2158295"/>
            <a:ext cx="4686258" cy="231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Summary</a:t>
            </a:r>
            <a:endParaRPr sz="3600"/>
          </a:p>
        </p:txBody>
      </p:sp>
      <p:sp>
        <p:nvSpPr>
          <p:cNvPr id="381" name="Google Shape;381;p37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Dashboard Visualization:</a:t>
            </a:r>
            <a:endParaRPr sz="1800">
              <a:solidFill>
                <a:srgbClr val="000000"/>
              </a:solidFill>
            </a:endParaRPr>
          </a:p>
          <a:p>
            <a:pPr marL="342900" lvl="0" indent="0" algn="just" rtl="0"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00"/>
                </a:solidFill>
              </a:rPr>
              <a:t>   - Learn about dashboard components.</a:t>
            </a:r>
            <a:endParaRPr sz="1800">
              <a:solidFill>
                <a:srgbClr val="000000"/>
              </a:solidFill>
            </a:endParaRPr>
          </a:p>
          <a:p>
            <a:pPr marL="342900" lvl="0" indent="0" algn="just" rtl="0"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00"/>
                </a:solidFill>
              </a:rPr>
              <a:t>   - Explore design principles.</a:t>
            </a:r>
            <a:endParaRPr sz="1800">
              <a:solidFill>
                <a:srgbClr val="000000"/>
              </a:solidFill>
            </a:endParaRPr>
          </a:p>
          <a:p>
            <a:pPr marL="0" lvl="0" indent="457200" algn="just" rtl="0"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0000"/>
                </a:solidFill>
              </a:rPr>
              <a:t> - Understand interactive features.</a:t>
            </a:r>
            <a:endParaRPr sz="1800">
              <a:solidFill>
                <a:srgbClr val="000000"/>
              </a:solidFill>
            </a:endParaRPr>
          </a:p>
        </p:txBody>
      </p:sp>
      <p:pic>
        <p:nvPicPr>
          <p:cNvPr id="382" name="Google Shape;382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3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16</a:t>
            </a:fld>
            <a:endParaRPr/>
          </a:p>
        </p:txBody>
      </p:sp>
      <p:sp>
        <p:nvSpPr>
          <p:cNvPr id="384" name="Google Shape;384;p37"/>
          <p:cNvSpPr txBox="1"/>
          <p:nvPr/>
        </p:nvSpPr>
        <p:spPr>
          <a:xfrm>
            <a:off x="762000" y="1184875"/>
            <a:ext cx="7953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5" name="Google Shape;385;p37"/>
          <p:cNvSpPr txBox="1"/>
          <p:nvPr/>
        </p:nvSpPr>
        <p:spPr>
          <a:xfrm>
            <a:off x="762000" y="1184875"/>
            <a:ext cx="8239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Visualization of Dashboard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820</Words>
  <Application>Microsoft Macintosh PowerPoint</Application>
  <PresentationFormat>On-screen Show (16:9)</PresentationFormat>
  <Paragraphs>81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Noto Sans Symbols</vt:lpstr>
      <vt:lpstr>Tahoma</vt:lpstr>
      <vt:lpstr>Times New Roman</vt:lpstr>
      <vt:lpstr>Roboto</vt:lpstr>
      <vt:lpstr>Simple Light</vt:lpstr>
      <vt:lpstr>1_Blueprint</vt:lpstr>
      <vt:lpstr>Blueprint</vt:lpstr>
      <vt:lpstr>Chapter 2:  Data Visualization</vt:lpstr>
      <vt:lpstr>Objective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Visualization of Dashboards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. Daziel.vad</cp:lastModifiedBy>
  <cp:revision>1</cp:revision>
  <dcterms:modified xsi:type="dcterms:W3CDTF">2026-01-13T04:26:25Z</dcterms:modified>
</cp:coreProperties>
</file>