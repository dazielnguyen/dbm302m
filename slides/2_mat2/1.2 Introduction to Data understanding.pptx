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4"/>
    <p:sldMasterId id="2147483667" r:id="rId5"/>
    <p:sldMasterId id="2147483668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y="5143500" cx="9144000"/>
  <p:notesSz cx="6858000" cy="9144000"/>
  <p:embeddedFontLst>
    <p:embeddedFont>
      <p:font typeface="Tahoma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11" Type="http://schemas.openxmlformats.org/officeDocument/2006/relationships/slide" Target="slides/slide4.xml"/><Relationship Id="rId22" Type="http://schemas.openxmlformats.org/officeDocument/2006/relationships/slide" Target="slides/slide15.xml"/><Relationship Id="rId10" Type="http://schemas.openxmlformats.org/officeDocument/2006/relationships/slide" Target="slides/slide3.xml"/><Relationship Id="rId21" Type="http://schemas.openxmlformats.org/officeDocument/2006/relationships/slide" Target="slides/slide14.xml"/><Relationship Id="rId13" Type="http://schemas.openxmlformats.org/officeDocument/2006/relationships/slide" Target="slides/slide6.xml"/><Relationship Id="rId24" Type="http://schemas.openxmlformats.org/officeDocument/2006/relationships/font" Target="fonts/Tahoma-bold.fntdata"/><Relationship Id="rId12" Type="http://schemas.openxmlformats.org/officeDocument/2006/relationships/slide" Target="slides/slide5.xml"/><Relationship Id="rId23" Type="http://schemas.openxmlformats.org/officeDocument/2006/relationships/font" Target="fonts/Tahoma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2.xml"/><Relationship Id="rId6" Type="http://schemas.openxmlformats.org/officeDocument/2006/relationships/slideMaster" Target="slideMasters/slideMaster3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82b55a4a5_0_419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g2582b55a4a5_0_419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2582b55a4a5_0_419:notes"/>
          <p:cNvSpPr txBox="1"/>
          <p:nvPr/>
        </p:nvSpPr>
        <p:spPr>
          <a:xfrm>
            <a:off x="3886696" y="8686800"/>
            <a:ext cx="297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GB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582b55a4a5_0_628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2582b55a4a5_0_628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4c886d1613_0_2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24c886d1613_0_2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4c886d1613_0_12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24c886d1613_0_12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4c886d1613_0_22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24c886d1613_0_22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4c886d1613_0_33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24c886d1613_0_33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4c886d1613_0_43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24c886d1613_0_43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4c886d1613_0_53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g24c886d1613_0_53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4c886d1613_0_103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g24c886d1613_0_103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4c886d1613_0_114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g24c886d1613_0_114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4c886d1613_0_126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g24c886d1613_0_126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4c886d1613_0_136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g24c886d1613_0_136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24c886d1613_0_146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g24c886d1613_0_146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4c886d1613_0_156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g24c886d1613_0_156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24c712faaa2_1_106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g24c712faaa2_1_106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 and Chart" type="txAndChart">
  <p:cSld name="TEXT_AND_CHAR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53" name="Google Shape;53;p13"/>
          <p:cNvSpPr/>
          <p:nvPr>
            <p:ph idx="2" type="chart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 txBox="1"/>
          <p:nvPr>
            <p:ph type="ctrTitle"/>
          </p:nvPr>
        </p:nvSpPr>
        <p:spPr>
          <a:xfrm>
            <a:off x="990600" y="13144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Rectangle: Click to edit Master text styles&#10;Second level&#10;Third level&#10;Fourth level&#10;Fifth level" id="129" name="Google Shape;129;p15"/>
          <p:cNvSpPr txBox="1"/>
          <p:nvPr>
            <p:ph idx="1" type="subTitle"/>
          </p:nvPr>
        </p:nvSpPr>
        <p:spPr>
          <a:xfrm>
            <a:off x="990600" y="2482453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l"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/>
            </a:lvl1pPr>
            <a:lvl2pPr lvl="1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lvl="2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lvl="3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lvl="4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lvl="5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lvl="6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lvl="7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lvl="8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130" name="Google Shape;130;p15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1" name="Google Shape;131;p15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 and Chart" type="txAndChart">
  <p:cSld name="TEXT_AND_CHART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17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02" name="Google Shape;202;p17"/>
          <p:cNvSpPr/>
          <p:nvPr>
            <p:ph idx="2" type="chart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03" name="Google Shape;203;p17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17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17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18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09" name="Google Shape;209;p18"/>
          <p:cNvSpPr txBox="1"/>
          <p:nvPr>
            <p:ph idx="2" type="body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10" name="Google Shape;210;p18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18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18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9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19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19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20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rtl="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indent="-320040" lvl="1" marL="9144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indent="-349250" lvl="2" marL="1371600" rtl="0" algn="l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/>
        </p:txBody>
      </p:sp>
      <p:sp>
        <p:nvSpPr>
          <p:cNvPr id="220" name="Google Shape;220;p20"/>
          <p:cNvSpPr txBox="1"/>
          <p:nvPr>
            <p:ph idx="2" type="body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rtl="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indent="-320040" lvl="1" marL="9144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indent="-349250" lvl="2" marL="1371600" rtl="0" algn="l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/>
        </p:txBody>
      </p:sp>
      <p:sp>
        <p:nvSpPr>
          <p:cNvPr id="221" name="Google Shape;221;p20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20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20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1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1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27" name="Google Shape;227;p21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21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21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3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14"/>
          <p:cNvGrpSpPr/>
          <p:nvPr/>
        </p:nvGrpSpPr>
        <p:grpSpPr>
          <a:xfrm>
            <a:off x="-136525" y="0"/>
            <a:ext cx="9204325" cy="5029200"/>
            <a:chOff x="-86" y="0"/>
            <a:chExt cx="5798" cy="4224"/>
          </a:xfrm>
        </p:grpSpPr>
        <p:grpSp>
          <p:nvGrpSpPr>
            <p:cNvPr id="59" name="Google Shape;59;p14"/>
            <p:cNvGrpSpPr/>
            <p:nvPr/>
          </p:nvGrpSpPr>
          <p:grpSpPr>
            <a:xfrm>
              <a:off x="0" y="0"/>
              <a:ext cx="5712" cy="4224"/>
              <a:chOff x="0" y="0"/>
              <a:chExt cx="5712" cy="4224"/>
            </a:xfrm>
          </p:grpSpPr>
          <p:sp>
            <p:nvSpPr>
              <p:cNvPr id="60" name="Google Shape;60;p14"/>
              <p:cNvSpPr txBox="1"/>
              <p:nvPr/>
            </p:nvSpPr>
            <p:spPr>
              <a:xfrm>
                <a:off x="2112" y="0"/>
                <a:ext cx="3600" cy="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61" name="Google Shape;61;p14"/>
              <p:cNvGrpSpPr/>
              <p:nvPr/>
            </p:nvGrpSpPr>
            <p:grpSpPr>
              <a:xfrm>
                <a:off x="0" y="0"/>
                <a:ext cx="5700" cy="4224"/>
                <a:chOff x="0" y="0"/>
                <a:chExt cx="5700" cy="4224"/>
              </a:xfrm>
            </p:grpSpPr>
            <p:cxnSp>
              <p:nvCxnSpPr>
                <p:cNvPr id="62" name="Google Shape;62;p14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3" name="Google Shape;63;p14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4" name="Google Shape;64;p14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5" name="Google Shape;65;p14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6" name="Google Shape;66;p14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7" name="Google Shape;67;p14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8" name="Google Shape;68;p14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9" name="Google Shape;69;p14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0" name="Google Shape;70;p14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1" name="Google Shape;71;p14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2" name="Google Shape;72;p14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3" name="Google Shape;73;p14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4" name="Google Shape;74;p14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5" name="Google Shape;75;p14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6" name="Google Shape;76;p14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7" name="Google Shape;77;p14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8" name="Google Shape;78;p14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9" name="Google Shape;79;p14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0" name="Google Shape;80;p14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1" name="Google Shape;81;p14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2" name="Google Shape;82;p14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3" name="Google Shape;83;p14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4" name="Google Shape;84;p14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5" name="Google Shape;85;p14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6" name="Google Shape;86;p14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7" name="Google Shape;87;p14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8" name="Google Shape;88;p14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9" name="Google Shape;89;p14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0" name="Google Shape;90;p14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1" name="Google Shape;91;p14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2" name="Google Shape;92;p14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3" name="Google Shape;93;p14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4" name="Google Shape;94;p14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5" name="Google Shape;95;p14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6" name="Google Shape;96;p14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7" name="Google Shape;97;p14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8" name="Google Shape;98;p14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9" name="Google Shape;99;p14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0" name="Google Shape;100;p14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1" name="Google Shape;101;p14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2" name="Google Shape;102;p14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3" name="Google Shape;103;p14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4" name="Google Shape;104;p14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5" name="Google Shape;105;p14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6" name="Google Shape;106;p14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7" name="Google Shape;107;p14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8" name="Google Shape;108;p14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9" name="Google Shape;109;p14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0" name="Google Shape;110;p14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1" name="Google Shape;111;p14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2" name="Google Shape;112;p14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113" name="Google Shape;113;p14"/>
              <p:cNvCxnSpPr/>
              <p:nvPr/>
            </p:nvCxnSpPr>
            <p:spPr>
              <a:xfrm>
                <a:off x="5568" y="0"/>
                <a:ext cx="0" cy="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114" name="Google Shape;114;p14"/>
            <p:cNvGrpSpPr/>
            <p:nvPr/>
          </p:nvGrpSpPr>
          <p:grpSpPr>
            <a:xfrm>
              <a:off x="-86" y="559"/>
              <a:ext cx="4281" cy="1800"/>
              <a:chOff x="-86" y="559"/>
              <a:chExt cx="4281" cy="1800"/>
            </a:xfrm>
          </p:grpSpPr>
          <p:cxnSp>
            <p:nvCxnSpPr>
              <p:cNvPr id="115" name="Google Shape;115;p14"/>
              <p:cNvCxnSpPr/>
              <p:nvPr/>
            </p:nvCxnSpPr>
            <p:spPr>
              <a:xfrm>
                <a:off x="506" y="559"/>
                <a:ext cx="0" cy="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16" name="Google Shape;116;p14"/>
              <p:cNvCxnSpPr/>
              <p:nvPr/>
            </p:nvCxnSpPr>
            <p:spPr>
              <a:xfrm rot="10800000">
                <a:off x="-86" y="1925"/>
                <a:ext cx="3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17" name="Google Shape;117;p14"/>
              <p:cNvCxnSpPr/>
              <p:nvPr/>
            </p:nvCxnSpPr>
            <p:spPr>
              <a:xfrm rot="10800000">
                <a:off x="295" y="939"/>
                <a:ext cx="3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18" name="Google Shape;118;p14"/>
              <p:cNvSpPr/>
              <p:nvPr/>
            </p:nvSpPr>
            <p:spPr>
              <a:xfrm flipH="1" rot="-5400000">
                <a:off x="425" y="860"/>
                <a:ext cx="108" cy="108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119" name="Google Shape;119;p14"/>
            <p:cNvGrpSpPr/>
            <p:nvPr/>
          </p:nvGrpSpPr>
          <p:grpSpPr>
            <a:xfrm>
              <a:off x="1480" y="1952"/>
              <a:ext cx="3900" cy="1800"/>
              <a:chOff x="1480" y="1952"/>
              <a:chExt cx="3900" cy="1800"/>
            </a:xfrm>
          </p:grpSpPr>
          <p:cxnSp>
            <p:nvCxnSpPr>
              <p:cNvPr id="120" name="Google Shape;120;p14"/>
              <p:cNvCxnSpPr/>
              <p:nvPr/>
            </p:nvCxnSpPr>
            <p:spPr>
              <a:xfrm>
                <a:off x="1480" y="3442"/>
                <a:ext cx="3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21" name="Google Shape;121;p14"/>
              <p:cNvCxnSpPr/>
              <p:nvPr/>
            </p:nvCxnSpPr>
            <p:spPr>
              <a:xfrm>
                <a:off x="5172" y="1952"/>
                <a:ext cx="0" cy="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22" name="Google Shape;122;p14"/>
              <p:cNvSpPr/>
              <p:nvPr/>
            </p:nvSpPr>
            <p:spPr>
              <a:xfrm rot="5400000">
                <a:off x="5145" y="3347"/>
                <a:ext cx="108" cy="108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23" name="Google Shape;123;p14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124" name="Google Shape;124;p14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528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733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4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16"/>
          <p:cNvGrpSpPr/>
          <p:nvPr/>
        </p:nvGrpSpPr>
        <p:grpSpPr>
          <a:xfrm>
            <a:off x="0" y="0"/>
            <a:ext cx="9067800" cy="5029200"/>
            <a:chOff x="0" y="0"/>
            <a:chExt cx="5712" cy="4224"/>
          </a:xfrm>
        </p:grpSpPr>
        <p:grpSp>
          <p:nvGrpSpPr>
            <p:cNvPr id="134" name="Google Shape;134;p16"/>
            <p:cNvGrpSpPr/>
            <p:nvPr/>
          </p:nvGrpSpPr>
          <p:grpSpPr>
            <a:xfrm>
              <a:off x="0" y="0"/>
              <a:ext cx="5700" cy="4224"/>
              <a:chOff x="0" y="0"/>
              <a:chExt cx="5700" cy="4224"/>
            </a:xfrm>
          </p:grpSpPr>
          <p:grpSp>
            <p:nvGrpSpPr>
              <p:cNvPr id="135" name="Google Shape;135;p16"/>
              <p:cNvGrpSpPr/>
              <p:nvPr/>
            </p:nvGrpSpPr>
            <p:grpSpPr>
              <a:xfrm>
                <a:off x="0" y="192"/>
                <a:ext cx="5700" cy="4032"/>
                <a:chOff x="0" y="192"/>
                <a:chExt cx="5700" cy="4032"/>
              </a:xfrm>
            </p:grpSpPr>
            <p:cxnSp>
              <p:nvCxnSpPr>
                <p:cNvPr id="136" name="Google Shape;136;p16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7" name="Google Shape;137;p16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8" name="Google Shape;138;p16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9" name="Google Shape;139;p16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0" name="Google Shape;140;p16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1" name="Google Shape;141;p16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2" name="Google Shape;142;p16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3" name="Google Shape;143;p16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4" name="Google Shape;144;p16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5" name="Google Shape;145;p16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6" name="Google Shape;146;p16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7" name="Google Shape;147;p16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8" name="Google Shape;148;p16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9" name="Google Shape;149;p16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0" name="Google Shape;150;p16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1" name="Google Shape;151;p16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2" name="Google Shape;152;p16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3" name="Google Shape;153;p16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4" name="Google Shape;154;p16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5" name="Google Shape;155;p16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6" name="Google Shape;156;p16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7" name="Google Shape;157;p16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58" name="Google Shape;158;p16"/>
              <p:cNvGrpSpPr/>
              <p:nvPr/>
            </p:nvGrpSpPr>
            <p:grpSpPr>
              <a:xfrm>
                <a:off x="192" y="0"/>
                <a:ext cx="5376" cy="4200"/>
                <a:chOff x="192" y="0"/>
                <a:chExt cx="5376" cy="4200"/>
              </a:xfrm>
            </p:grpSpPr>
            <p:cxnSp>
              <p:nvCxnSpPr>
                <p:cNvPr id="159" name="Google Shape;159;p16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0" name="Google Shape;160;p16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1" name="Google Shape;161;p16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2" name="Google Shape;162;p16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3" name="Google Shape;163;p16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4" name="Google Shape;164;p16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5" name="Google Shape;165;p16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6" name="Google Shape;166;p16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7" name="Google Shape;167;p16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8" name="Google Shape;168;p16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9" name="Google Shape;169;p16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0" name="Google Shape;170;p16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1" name="Google Shape;171;p16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2" name="Google Shape;172;p16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3" name="Google Shape;173;p16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4" name="Google Shape;174;p16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5" name="Google Shape;175;p16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6" name="Google Shape;176;p16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7" name="Google Shape;177;p16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8" name="Google Shape;178;p16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9" name="Google Shape;179;p16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0" name="Google Shape;180;p16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1" name="Google Shape;181;p16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2" name="Google Shape;182;p16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3" name="Google Shape;183;p16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4" name="Google Shape;184;p16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5" name="Google Shape;185;p16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6" name="Google Shape;186;p16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7" name="Google Shape;187;p16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</p:grpSp>
        <p:sp>
          <p:nvSpPr>
            <p:cNvPr descr="60%" id="188" name="Google Shape;188;p16"/>
            <p:cNvSpPr txBox="1"/>
            <p:nvPr/>
          </p:nvSpPr>
          <p:spPr>
            <a:xfrm>
              <a:off x="2112" y="0"/>
              <a:ext cx="3600" cy="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189" name="Google Shape;189;p16"/>
            <p:cNvCxnSpPr/>
            <p:nvPr/>
          </p:nvCxnSpPr>
          <p:spPr>
            <a:xfrm>
              <a:off x="5568" y="0"/>
              <a:ext cx="0" cy="1500"/>
            </a:xfrm>
            <a:prstGeom prst="straightConnector1">
              <a:avLst/>
            </a:prstGeom>
            <a:noFill/>
            <a:ln cap="flat" cmpd="sng" w="9525">
              <a:solidFill>
                <a:schemeClr val="hlink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grpSp>
          <p:nvGrpSpPr>
            <p:cNvPr id="190" name="Google Shape;190;p16"/>
            <p:cNvGrpSpPr/>
            <p:nvPr/>
          </p:nvGrpSpPr>
          <p:grpSpPr>
            <a:xfrm>
              <a:off x="316" y="892"/>
              <a:ext cx="1069" cy="1529"/>
              <a:chOff x="204" y="916"/>
              <a:chExt cx="2100" cy="3004"/>
            </a:xfrm>
          </p:grpSpPr>
          <p:cxnSp>
            <p:nvCxnSpPr>
              <p:cNvPr id="191" name="Google Shape;191;p16"/>
              <p:cNvCxnSpPr/>
              <p:nvPr/>
            </p:nvCxnSpPr>
            <p:spPr>
              <a:xfrm rot="10800000">
                <a:off x="204" y="1038"/>
                <a:ext cx="2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92" name="Google Shape;192;p16"/>
              <p:cNvCxnSpPr/>
              <p:nvPr/>
            </p:nvCxnSpPr>
            <p:spPr>
              <a:xfrm>
                <a:off x="336" y="920"/>
                <a:ext cx="0" cy="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93" name="Google Shape;193;p16"/>
              <p:cNvSpPr/>
              <p:nvPr/>
            </p:nvSpPr>
            <p:spPr>
              <a:xfrm flipH="1">
                <a:off x="240" y="916"/>
                <a:ext cx="216" cy="216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94" name="Google Shape;194;p1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195" name="Google Shape;195;p16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528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733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96" name="Google Shape;196;p16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97" name="Google Shape;197;p16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98" name="Google Shape;198;p16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2"/>
          <p:cNvSpPr txBox="1"/>
          <p:nvPr>
            <p:ph type="ctrTitle"/>
          </p:nvPr>
        </p:nvSpPr>
        <p:spPr>
          <a:xfrm>
            <a:off x="1193275" y="14310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</a:t>
            </a:r>
            <a:r>
              <a:rPr lang="en-GB" sz="3600"/>
              <a:t>1</a:t>
            </a:r>
            <a: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b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</a:t>
            </a:r>
            <a:r>
              <a:rPr lang="en-GB" sz="3600"/>
              <a:t>Data understanding</a:t>
            </a:r>
            <a:endParaRPr sz="3600"/>
          </a:p>
        </p:txBody>
      </p:sp>
      <p:pic>
        <p:nvPicPr>
          <p:cNvPr id="236" name="Google Shape;23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understanding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42" name="Google Shape;242;p23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Data Understanding is a crucial phase in data mining, it involves gaining insights from data and making informed decisions.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Key objectives include identifying data objects, attributes, using statistics and visualization.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Data Understanding sets the foundation for data preprocessing and modeling.</a:t>
            </a:r>
            <a:endParaRPr sz="1800">
              <a:solidFill>
                <a:srgbClr val="1F1F1F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43" name="Google Shape;24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4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understanding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51" name="Google Shape;251;p24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Data Objects: Elements in a dataset (e.g., records, data points).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Data Attributes: Characteristics or features of data objects.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Descriptive Statistics: Measures to summarize and analyze data.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Data Visualization: Techniques for visually exploring data.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These elements are essential for gaining insights from data and making informed decisions in data mining.</a:t>
            </a:r>
            <a:endParaRPr sz="1800">
              <a:solidFill>
                <a:srgbClr val="1F1F1F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52" name="Google Shape;25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54" name="Google Shape;254;p24"/>
          <p:cNvSpPr txBox="1"/>
          <p:nvPr/>
        </p:nvSpPr>
        <p:spPr>
          <a:xfrm>
            <a:off x="762000" y="1184875"/>
            <a:ext cx="723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Understanding - Objects &amp; Attributes, Statistics, Visual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5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understanding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60" name="Google Shape;260;p25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Data objects are individual elements within a dataset.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Examples of data objects include records, instances, and data points.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Understanding data objects is fundamental for effective data analysis and modeling.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They represent the entities about which we collect data, and they can vary in complexity based on the context of the dataset.</a:t>
            </a:r>
            <a:endParaRPr sz="1800">
              <a:solidFill>
                <a:srgbClr val="1F1F1F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61" name="Google Shape;26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762000" y="1184875"/>
            <a:ext cx="723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Objects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understanding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69" name="Google Shape;269;p26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Data attributes are characteristics or features associated with data objects.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Types of data attributes include nominal, ordinal, and numeric.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Understanding data attributes is crucial for data analysis, as they define the information we collect about data objects.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 type and nature of attributes influence the methods used for data processing and analysis.</a:t>
            </a:r>
            <a:endParaRPr sz="1800">
              <a:solidFill>
                <a:srgbClr val="1F1F1F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70" name="Google Shape;27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72" name="Google Shape;272;p26"/>
          <p:cNvSpPr txBox="1"/>
          <p:nvPr/>
        </p:nvSpPr>
        <p:spPr>
          <a:xfrm>
            <a:off x="762000" y="1184875"/>
            <a:ext cx="723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Attributes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7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understanding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78" name="Google Shape;278;p27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Descriptive statistics are essential for summarizing and analyzing data.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They provide key insights into data distributions and patterns.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Common measures include mean, median, mode, variance, and standard deviation.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Descriptive statistics help in understanding the central tendency and variability within data, aiding in informed decision-making and data interpretation.</a:t>
            </a:r>
            <a:endParaRPr sz="1800">
              <a:solidFill>
                <a:srgbClr val="1F1F1F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79" name="Google Shape;27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7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81" name="Google Shape;281;p27"/>
          <p:cNvSpPr txBox="1"/>
          <p:nvPr/>
        </p:nvSpPr>
        <p:spPr>
          <a:xfrm>
            <a:off x="762000" y="1184875"/>
            <a:ext cx="723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Descriptive Statistics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8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understanding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87" name="Google Shape;287;p28"/>
          <p:cNvSpPr txBox="1"/>
          <p:nvPr>
            <p:ph idx="1" type="body"/>
          </p:nvPr>
        </p:nvSpPr>
        <p:spPr>
          <a:xfrm>
            <a:off x="762000" y="1646575"/>
            <a:ext cx="46698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Data visualization is a powerful technique for exploring and presenting data.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It helps in understanding complex datasets through visual representations.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Various types of data visualizations, such as charts, graphs, and maps, are available.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Choosing the right visualization method depends on the nature of the data and the insights you want to convey.</a:t>
            </a:r>
            <a:endParaRPr sz="1800">
              <a:solidFill>
                <a:srgbClr val="1F1F1F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88" name="Google Shape;28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762000" y="1184875"/>
            <a:ext cx="723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Visualization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1" name="Google Shape;29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90423" y="908375"/>
            <a:ext cx="2908150" cy="40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9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understanding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97" name="Google Shape;297;p29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Data Similarity is a critical concept in data analysis.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It involves measuring the resemblance or closeness between data points.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Data similarity is essential for tasks like clustering, classification, and recommendation systems.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In this course, we will explore various measures of data similarity and their applications.</a:t>
            </a:r>
            <a:endParaRPr sz="1800">
              <a:solidFill>
                <a:srgbClr val="1F1F1F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98" name="Google Shape;29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9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00" name="Google Shape;300;p29"/>
          <p:cNvSpPr txBox="1"/>
          <p:nvPr/>
        </p:nvSpPr>
        <p:spPr>
          <a:xfrm>
            <a:off x="762000" y="1184875"/>
            <a:ext cx="723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Understanding - Data Similarity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0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understanding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06" name="Google Shape;306;p30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Data similarity is quantified using specific measures.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Common measures include: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Euclidean Distance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Cosine Similarity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Jaccard Similarity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Pearson Correlation Coefficient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Each measure has its use cases and is suitable for different types of data analysis.</a:t>
            </a:r>
            <a:endParaRPr sz="1800">
              <a:solidFill>
                <a:srgbClr val="1F1F1F"/>
              </a:solidFill>
            </a:endParaRPr>
          </a:p>
          <a:p>
            <a:pPr indent="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07" name="Google Shape;30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0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09" name="Google Shape;309;p30"/>
          <p:cNvSpPr txBox="1"/>
          <p:nvPr/>
        </p:nvSpPr>
        <p:spPr>
          <a:xfrm>
            <a:off x="762000" y="1184875"/>
            <a:ext cx="723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Measures of Data Similarity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1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understanding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15" name="Google Shape;315;p31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Euclidean Distance is a measure of similarity between data points.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It calculates the straight-line distance between two points in a multidimensional space.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Often used for numeric data, it quantifies the "as-the-crow-flies" distance.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Euclidean Distance is a foundational concept in data analysis and clustering tasks.</a:t>
            </a:r>
            <a:endParaRPr sz="1800">
              <a:solidFill>
                <a:srgbClr val="1F1F1F"/>
              </a:solidFill>
            </a:endParaRPr>
          </a:p>
          <a:p>
            <a:pPr indent="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16" name="Google Shape;31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31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18" name="Google Shape;318;p31"/>
          <p:cNvSpPr txBox="1"/>
          <p:nvPr/>
        </p:nvSpPr>
        <p:spPr>
          <a:xfrm>
            <a:off x="762000" y="1184875"/>
            <a:ext cx="723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Euclidean Distance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2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understanding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24" name="Google Shape;324;p32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Widely used in text mining and recommendation systems.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It quantifies the similarity of direction rather than magnitude, making it suitable for various data types.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Cosine Similarity helps identify similarities in content and preferences, making it valuable in diverse applications.</a:t>
            </a:r>
            <a:endParaRPr sz="1800">
              <a:solidFill>
                <a:srgbClr val="1F1F1F"/>
              </a:solidFill>
            </a:endParaRPr>
          </a:p>
          <a:p>
            <a:pPr indent="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25" name="Google Shape;32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32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27" name="Google Shape;327;p32"/>
          <p:cNvSpPr txBox="1"/>
          <p:nvPr/>
        </p:nvSpPr>
        <p:spPr>
          <a:xfrm>
            <a:off x="762000" y="1184875"/>
            <a:ext cx="723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Cosine Similarity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understanding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33" name="Google Shape;333;p33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Jaccard Similarity is used to measure the similarity between sets.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It calculates the size of the intersection divided by the size of the union of two sets.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Widely applied in text analysis, recommendation systems, and social network analysis.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Jaccard Similarity is effective for capturing shared elements in data, particularly in scenarios involving categorical or binary attributes.</a:t>
            </a:r>
            <a:endParaRPr sz="1800">
              <a:solidFill>
                <a:srgbClr val="1F1F1F"/>
              </a:solidFill>
            </a:endParaRPr>
          </a:p>
          <a:p>
            <a:pPr indent="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34" name="Google Shape;33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3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36" name="Google Shape;336;p33"/>
          <p:cNvSpPr txBox="1"/>
          <p:nvPr/>
        </p:nvSpPr>
        <p:spPr>
          <a:xfrm>
            <a:off x="762000" y="1184875"/>
            <a:ext cx="723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Jaccard Similarity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4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understanding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42" name="Google Shape;342;p34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Pearson Correlation Coefficient quantifies the linear relationship between two numeric variables.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It measures the strength and direction of the linear association.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Widely used for analyzing correlation and dependence between variables.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Pearson's correlation is valuable in fields like statistics, economics, and social sciences for assessing relationships in data.</a:t>
            </a:r>
            <a:endParaRPr sz="1800">
              <a:solidFill>
                <a:srgbClr val="1F1F1F"/>
              </a:solidFill>
            </a:endParaRPr>
          </a:p>
          <a:p>
            <a:pPr indent="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43" name="Google Shape;34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3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45" name="Google Shape;345;p34"/>
          <p:cNvSpPr txBox="1"/>
          <p:nvPr/>
        </p:nvSpPr>
        <p:spPr>
          <a:xfrm>
            <a:off x="762000" y="1184875"/>
            <a:ext cx="723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Pearson Correlation Coefficient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5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understanding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51" name="Google Shape;351;p35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Data similarity measures are essential in various data-driven tasks.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Applications include: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Clustering: Grouping similar data points together.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Classification: Assigning data points to predefined categories.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Recommender Systems: Suggesting relevant items based on user preferences.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These measures enable data-driven decision-making and personalized user experiences.</a:t>
            </a:r>
            <a:endParaRPr sz="1800">
              <a:solidFill>
                <a:srgbClr val="1F1F1F"/>
              </a:solidFill>
            </a:endParaRPr>
          </a:p>
          <a:p>
            <a:pPr indent="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52" name="Google Shape;35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3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54" name="Google Shape;354;p35"/>
          <p:cNvSpPr txBox="1"/>
          <p:nvPr/>
        </p:nvSpPr>
        <p:spPr>
          <a:xfrm>
            <a:off x="762000" y="1184875"/>
            <a:ext cx="723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Applications of Data Similarity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understanding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60" name="Google Shape;360;p36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Data Understanding: Crucial in data mining for insights and informed decisions.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Data Objects &amp; Attributes: Elements and characteristics of data.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Descriptive Statistics: Measures for summarization and analysis.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Data Visualization: Visual exploration and communication of data.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Data Similarity: Measuring data resemblance for various applications.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Key Measures: Euclidean, Cosine, Jaccard, and Pearson.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Applications: Clustering, classification, recommendation, and more.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Harnessing data understanding and similarity for effective data analysis and decision-making.</a:t>
            </a:r>
            <a:endParaRPr sz="1800">
              <a:solidFill>
                <a:srgbClr val="1F1F1F"/>
              </a:solidFill>
            </a:endParaRPr>
          </a:p>
          <a:p>
            <a:pPr indent="0" lvl="0" marL="0" rtl="0" algn="just"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61" name="Google Shape;36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63" name="Google Shape;363;p36"/>
          <p:cNvSpPr txBox="1"/>
          <p:nvPr/>
        </p:nvSpPr>
        <p:spPr>
          <a:xfrm>
            <a:off x="762000" y="1184875"/>
            <a:ext cx="795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4" name="Google Shape;364;p36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