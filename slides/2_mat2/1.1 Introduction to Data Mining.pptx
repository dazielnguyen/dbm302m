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Tahoma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Tahom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a0becab7d_0_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a0becab7d_0_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3a0becab7d_0_1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3a0becab7d_0_1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3a0becab7d_0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3a0becab7d_0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3a069dcfde_0_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23a069dcfde_0_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3a0becab7d_0_3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23a0becab7d_0_3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3a0becab7d_0_4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3a0becab7d_0_4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3a069dcfde_0_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23a069dcfde_0_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3a0becab7d_0_8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3a0becab7d_0_8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a0becab7d_0_10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3a0becab7d_0_10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3a0becab7d_0_11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23a0becab7d_0_11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3a0becab7d_0_12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23a0becab7d_0_12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3a0becab7d_0_13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23a0becab7d_0_13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3a0becab7d_0_15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23a0becab7d_0_15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3a0becab7d_0_16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23a0becab7d_0_16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3a0becab7d_0_17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23a0becab7d_0_17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3a0becab7d_0_18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23a0becab7d_0_18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4c8172f60b_2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24c8172f60b_2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4c8172f60b_2_10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24c8172f60b_2_10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4c712faaa2_1_10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24c712faaa2_1_10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1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Introduction to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</a:t>
            </a:r>
            <a:r>
              <a:rPr lang="en-GB" sz="3600"/>
              <a:t>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Identify different views of data mining; understand the key issues in data mining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 to Data Mining: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Definition and significance of data mining.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Extracting valuable insights from large datasets.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Mining Pipeline:		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systematic process for discovering knowledge from data.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Four key views and stages: Data, Patterns, Knowledge, Utility.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75"/>
            <a:ext cx="4540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Identify different views of data mining; understand the key issues in data mining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People’s daily lives</a:t>
            </a:r>
            <a:endParaRPr sz="1800">
              <a:solidFill>
                <a:srgbClr val="000000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&gt; 4 billion internet users</a:t>
            </a:r>
            <a:endParaRPr sz="1800">
              <a:solidFill>
                <a:srgbClr val="000000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Social media, smart devices, …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Scientific discovery </a:t>
            </a:r>
            <a:endParaRPr sz="1800">
              <a:solidFill>
                <a:srgbClr val="000000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Rubin Observatory: 20TB/night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Many application domains…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the Digital Era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9198" y="1154488"/>
            <a:ext cx="2867569" cy="34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1" name="Google Shape;261;p25"/>
          <p:cNvSpPr txBox="1"/>
          <p:nvPr>
            <p:ph idx="1" type="body"/>
          </p:nvPr>
        </p:nvSpPr>
        <p:spPr>
          <a:xfrm>
            <a:off x="762000" y="1646575"/>
            <a:ext cx="4540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Explosive data growth</a:t>
            </a:r>
            <a:endParaRPr sz="1800">
              <a:solidFill>
                <a:srgbClr val="000000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KB, MB, GB, TB, PB, EB, ZB</a:t>
            </a:r>
            <a:endParaRPr sz="1800">
              <a:solidFill>
                <a:srgbClr val="000000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Data creation, transmission, storage, sharing, processing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Drowning in data &amp; starving for knowledge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Need automated analysis of massive data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Data Mining?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600" y="1238400"/>
            <a:ext cx="34671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26"/>
          <p:cNvSpPr txBox="1"/>
          <p:nvPr>
            <p:ph idx="1" type="body"/>
          </p:nvPr>
        </p:nvSpPr>
        <p:spPr>
          <a:xfrm>
            <a:off x="762000" y="1646575"/>
            <a:ext cx="4540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Knowledge discovery from data</a:t>
            </a:r>
            <a:endParaRPr sz="1800">
              <a:solidFill>
                <a:srgbClr val="000000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Extraction of interesting patterns or knowledge from huge amounts of data</a:t>
            </a:r>
            <a:endParaRPr sz="1800">
              <a:solidFill>
                <a:srgbClr val="000000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Interesting: valid, previously unknown, potentially useful, ultimately understandable by human</a:t>
            </a:r>
            <a:endParaRPr sz="1800">
              <a:solidFill>
                <a:srgbClr val="000000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Huge amounts of data: scalability, efficiency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Data Mining?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600" y="1238400"/>
            <a:ext cx="34671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1" name="Google Shape;281;p27"/>
          <p:cNvSpPr txBox="1"/>
          <p:nvPr>
            <p:ph idx="1" type="body"/>
          </p:nvPr>
        </p:nvSpPr>
        <p:spPr>
          <a:xfrm>
            <a:off x="762000" y="1646575"/>
            <a:ext cx="81915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data mining process encompasses four key views: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View: Understanding the dataset and its attributes.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</a:t>
            </a:r>
            <a:r>
              <a:rPr lang="en-GB" sz="1800">
                <a:solidFill>
                  <a:srgbClr val="1F1F1F"/>
                </a:solidFill>
              </a:rPr>
              <a:t> View: Techniques of Discovering patterns and relationships.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Knowledge View: Interpreting and evaluating discovered knowledge.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Application View: Applying the mined knowledge to achieve business goals.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views collectively guide us through the data mining pipeline.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2" name="Google Shape;2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Four Views of Data Mining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pic>
        <p:nvPicPr>
          <p:cNvPr id="290" name="Google Shape;2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Four Views of Data Mining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225" y="1646575"/>
            <a:ext cx="6400799" cy="302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pic>
        <p:nvPicPr>
          <p:cNvPr id="299" name="Google Shape;2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1005675" y="2805675"/>
            <a:ext cx="1494000" cy="92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Volume</a:t>
            </a:r>
            <a:endParaRPr b="1"/>
          </a:p>
        </p:txBody>
      </p:sp>
      <p:sp>
        <p:nvSpPr>
          <p:cNvPr id="303" name="Google Shape;303;p29"/>
          <p:cNvSpPr/>
          <p:nvPr/>
        </p:nvSpPr>
        <p:spPr>
          <a:xfrm>
            <a:off x="3143825" y="2805675"/>
            <a:ext cx="1494000" cy="92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VAriety</a:t>
            </a:r>
            <a:endParaRPr b="1"/>
          </a:p>
        </p:txBody>
      </p:sp>
      <p:sp>
        <p:nvSpPr>
          <p:cNvPr id="304" name="Google Shape;304;p29"/>
          <p:cNvSpPr/>
          <p:nvPr/>
        </p:nvSpPr>
        <p:spPr>
          <a:xfrm>
            <a:off x="5129575" y="2805675"/>
            <a:ext cx="1494000" cy="92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Velocity</a:t>
            </a:r>
            <a:endParaRPr b="1"/>
          </a:p>
        </p:txBody>
      </p:sp>
      <p:sp>
        <p:nvSpPr>
          <p:cNvPr id="305" name="Google Shape;305;p29"/>
          <p:cNvSpPr/>
          <p:nvPr/>
        </p:nvSpPr>
        <p:spPr>
          <a:xfrm>
            <a:off x="7115325" y="2805675"/>
            <a:ext cx="1494000" cy="92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Veracity</a:t>
            </a:r>
            <a:endParaRPr b="1"/>
          </a:p>
        </p:txBody>
      </p:sp>
      <p:sp>
        <p:nvSpPr>
          <p:cNvPr id="306" name="Google Shape;306;p29"/>
          <p:cNvSpPr/>
          <p:nvPr/>
        </p:nvSpPr>
        <p:spPr>
          <a:xfrm>
            <a:off x="7115325" y="1481438"/>
            <a:ext cx="1494000" cy="928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Value</a:t>
            </a:r>
            <a:endParaRPr b="1"/>
          </a:p>
        </p:txBody>
      </p:sp>
      <p:sp>
        <p:nvSpPr>
          <p:cNvPr descr="Rectangle: Click to edit Master text styles &#10;Second level &#10;Third level &#10;Fourth level &#10;Fifth level" id="307" name="Google Shape;30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3Vs, 4Vs, 5Vs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3" name="Google Shape;313;p30"/>
          <p:cNvSpPr txBox="1"/>
          <p:nvPr>
            <p:ph idx="1" type="body"/>
          </p:nvPr>
        </p:nvSpPr>
        <p:spPr>
          <a:xfrm>
            <a:off x="9051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Relational, transactional data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student records, bank accounts, store purchases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Sequential, temporal, streaming data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gene sequences, stock prices, sensor reading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Spatial, spatial-temporal data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land use, bird migration, traffic condition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Text, multimedia, Web data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news articles, audio/video/image, hypertext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Graph, network data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social network, power grid, co-authorship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4" name="Google Shape;3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7207850" y="1812825"/>
            <a:ext cx="11742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or mixture of multiple data types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3" name="Google Shape;323;p31"/>
          <p:cNvSpPr txBox="1"/>
          <p:nvPr>
            <p:ph idx="1" type="body"/>
          </p:nvPr>
        </p:nvSpPr>
        <p:spPr>
          <a:xfrm>
            <a:off x="9051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Market analysis, target advertisement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customer profiling, product recommendation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Healthcare, medical research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disease diagnosis, patient care, drug discovery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Science and engineering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air pollution, marine life, electric vehicles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Security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surveillance, intrusion/crime, fraud, cyberattack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Government, nonprofit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urban planning, traffic control, education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4" name="Google Shape;3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7207850" y="1812825"/>
            <a:ext cx="11742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many many more…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3" name="Google Shape;333;p32"/>
          <p:cNvSpPr txBox="1"/>
          <p:nvPr>
            <p:ph idx="1" type="body"/>
          </p:nvPr>
        </p:nvSpPr>
        <p:spPr>
          <a:xfrm>
            <a:off x="905100" y="1646573"/>
            <a:ext cx="79533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Frequent pattern, association, correlation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songs listened together or in certain sequence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A is (more/less) likely to happen given B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Categorization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similarity among users with certain purchases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differences between two patient groups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Anomaly, outliers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sensor errors, fraud activities, extreme events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Changes over time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emerging new patterns, shift of user interest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6" name="Google Shape;336;p3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7207850" y="1812825"/>
            <a:ext cx="11742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Descriptive, predictive, prescriptive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3" name="Google Shape;343;p33"/>
          <p:cNvSpPr txBox="1"/>
          <p:nvPr>
            <p:ph idx="1" type="body"/>
          </p:nvPr>
        </p:nvSpPr>
        <p:spPr>
          <a:xfrm>
            <a:off x="905100" y="1646573"/>
            <a:ext cx="79533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Frequent pattern analysis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Classification, prediction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Anomaly detection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Trend and evolution analysis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4" name="Google Shape;3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6" name="Google Shape;346;p3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2" name="Google Shape;352;p34"/>
          <p:cNvSpPr txBox="1"/>
          <p:nvPr>
            <p:ph idx="1" type="body"/>
          </p:nvPr>
        </p:nvSpPr>
        <p:spPr>
          <a:xfrm>
            <a:off x="905100" y="1646573"/>
            <a:ext cx="79533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Frequent itemset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Frequent sequence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Frequent structure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rules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Correlation analysis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3" name="Google Shape;3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Pattern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6" name="Google Shape;35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3173" y="1085998"/>
            <a:ext cx="3407300" cy="38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2" name="Google Shape;362;p35"/>
          <p:cNvSpPr txBox="1"/>
          <p:nvPr>
            <p:ph idx="1" type="body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Pre-defined classes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Need training data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Build model to distinguish classes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3" name="Google Shape;36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5" name="Google Shape;365;p35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6" name="Google Shape;36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7275" y="1286525"/>
            <a:ext cx="4097874" cy="27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2" name="Google Shape;372;p36"/>
          <p:cNvSpPr txBox="1"/>
          <p:nvPr>
            <p:ph idx="1" type="body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Numerical prediction (continuous value)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weather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stock price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traffic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3" name="Google Shape;37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6" name="Google Shape;37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7325" y="1430650"/>
            <a:ext cx="4043400" cy="34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2" name="Google Shape;382;p37"/>
          <p:cNvSpPr txBox="1"/>
          <p:nvPr>
            <p:ph idx="1" type="body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 predefined classes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Intra-cluster similarity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Inter-cluster dissimilarity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3" name="Google Shape;38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5" name="Google Shape;385;p37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6" name="Google Shape;38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5300" y="1086000"/>
            <a:ext cx="3783465" cy="34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2" name="Google Shape;392;p38"/>
          <p:cNvSpPr txBox="1"/>
          <p:nvPr>
            <p:ph idx="1" type="body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Anomaly/outlier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Differ from the “norm”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error, noise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fraud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extreme events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3" name="Google Shape;3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5" name="Google Shape;395;p3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Detection 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" name="Google Shape;39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5300" y="1086000"/>
            <a:ext cx="4420146" cy="34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02" name="Google Shape;402;p39"/>
          <p:cNvSpPr txBox="1"/>
          <p:nvPr>
            <p:ph idx="1" type="body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Changes over time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Overall trend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Periodical patterns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Anomalies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…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3" name="Google Shape;4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5" name="Google Shape;405;p39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 and Evolution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" name="Google Shape;40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1900" y="1511713"/>
            <a:ext cx="5018700" cy="303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 Pipeline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12" name="Google Shape;412;p4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data mining pipeline consists of essential components: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Collection: Gathering relevant data from various sources.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Preprocessing: Cleaning, integrating, transforming, and reducing data.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Mining: Applying algorithms to discover patterns and knowledge.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 Evaluation: Assessing the quality and relevance of discovered patterns.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Knowledge Presentation: Communicating insights and findings to stakeholders.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well-structured pipeline ensures effective data analysis and decision-making.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13" name="Google Shape;41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5" name="Google Shape;415;p4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Components of the Data Mining Pipeline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 Pipeline</a:t>
            </a:r>
            <a:endParaRPr sz="3600"/>
          </a:p>
        </p:txBody>
      </p:sp>
      <p:pic>
        <p:nvPicPr>
          <p:cNvPr id="421" name="Google Shape;42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3" name="Google Shape;423;p41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Mining Pipeline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4" name="Google Shape;42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25" y="1646575"/>
            <a:ext cx="5833849" cy="329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 Pipeline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30" name="Google Shape;430;p4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</a:t>
            </a:r>
            <a:r>
              <a:rPr lang="en-GB" sz="1800">
                <a:solidFill>
                  <a:srgbClr val="1F1F1F"/>
                </a:solidFill>
              </a:rPr>
              <a:t>ata mining: Discovering insights from large datasets.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Significance: Informed decision-making, problem-solving.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Views: Data, Patterns, Knowledge, Utility.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the stages for effective data mining.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31" name="Google Shape;43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3" name="Google Shape;433;p4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4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