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Tahoma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Roboto-bold.fntdata"/><Relationship Id="rId21" Type="http://schemas.openxmlformats.org/officeDocument/2006/relationships/slide" Target="slides/slide14.xml"/><Relationship Id="rId43" Type="http://schemas.openxmlformats.org/officeDocument/2006/relationships/font" Target="fonts/Roboto-regular.fntdata"/><Relationship Id="rId24" Type="http://schemas.openxmlformats.org/officeDocument/2006/relationships/slide" Target="slides/slide17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6.xml"/><Relationship Id="rId45" Type="http://schemas.openxmlformats.org/officeDocument/2006/relationships/font" Target="fonts/Roboto-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Tahoma-bold.fntdata"/><Relationship Id="rId25" Type="http://schemas.openxmlformats.org/officeDocument/2006/relationships/slide" Target="slides/slide18.xml"/><Relationship Id="rId47" Type="http://schemas.openxmlformats.org/officeDocument/2006/relationships/font" Target="fonts/Tahoma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ee772909_0_1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9ee772909_0_1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10545525b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610545525b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10545525b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610545525b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9f190895e_0_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39f190895e_0_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610545525b_0_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610545525b_0_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9f190895e_0_1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39f190895e_0_1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610545525b_0_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610545525b_0_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610545525b_0_3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610545525b_0_3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10545525b_0_5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610545525b_0_5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610545525b_0_6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2610545525b_0_6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610545525b_0_7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2610545525b_0_7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39f190895e_0_2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39f190895e_0_2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610545525b_0_9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2610545525b_0_9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10545525b_0_1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610545525b_0_1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39f190895e_0_4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239f190895e_0_4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610545525b_0_13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2610545525b_0_13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10545525b_0_14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2610545525b_0_14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39f190895e_0_7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239f190895e_0_7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610545525b_0_15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2610545525b_0_15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610545525b_0_16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2610545525b_0_16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39f190895e_0_8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239f190895e_0_8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3b9c12e504_0_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23b9c12e504_0_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3b9c12e504_0_1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23b9c12e504_0_1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39f190895e_0_9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239f190895e_0_9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3b9c12e504_0_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23b9c12e504_0_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3b9c12e504_0_4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23b9c12e504_0_4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3b9c12e504_0_5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23b9c12e504_0_5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39f190895e_0_10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239f190895e_0_10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39f190895e_0_11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239f190895e_0_11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39f190895e_0_1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239f190895e_0_1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39f190895e_0_13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239f190895e_0_13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39f190895e_0_15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239f190895e_0_15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4c733b64a8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24c733b64a8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39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41.png"/><Relationship Id="rId6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significance of similarity measurement in clustering.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Explore distance metrics for numeric data, including Minkowski distance.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Differentiate between symmetric and asymmetric binary proximity measures.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Investigate distance measures for categorical, ordinal, and mixed attribute types.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Delve into proximity measures for vector-based data, such as cosine similarity.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Examine correlation measures for capturing linear relationships between variables.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good clustering method will produce high quality clusters which should have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 intra-class similarity: Cohesive within 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 inter-class similarity: Distinctive between clusters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Quality function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There is usually a separate “quality” function that measures the “goodness” of a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is hard to define “similar enough” or “good enough”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The answer is typically highly subjective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There exist many similarity measures and/or functions for different applications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 is critical for cluster analysis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Good Clustering?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 or similarity function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real-valued function that quantifies the similarity between two objects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Measure how two data objects are alike: The higher value, the more alike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Often falls in the range [0,1]: 0: no similarity; 1: completely similar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Dissimilarity (or distance) measure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Numerical measure of how different two data objects are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 some sense, the inverse of similarity: The lower, the more alike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Minimum dissimilarity is often 0 (i.e., completely similar)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Range [0, 1] or [0, ∞) , depending on the definition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Proximity usually refers to either similarity or dissimilarity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Similarity, Dissimilarity, and Proximity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measurement quantifies how alike or different two objects are.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guides the process of forming clusters and identifying relationships.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choice of similarity measure depends on data type and analysis goals.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measurement can vary based on attributes, scales, and domain knowledge.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Concepts: Measuring Similarity between Objects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 is common in various fields, and measuring the distance between data points is essential for clustering. The Minkowski distance, encompassing Euclidean and Manhattan distances, is a versatile choice.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 is common in various fields, and measuring the distance between data points is essential for clustering. The Minkowski distance, encompassing Euclidean and Manhattan distances, is a versatile choice.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6" name="Google Shape;296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 is common in various fields, and measuring the distance between data points is essential for clustering. The Minkowski distance, encompassing Euclidean and Manhattan distances, is a versatile choice.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Concepts: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Minkowski distance generalizes Euclidean (p = 2) and Manhattan (p = 1) distances.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provides a flexible approach to quantify dissimilarity between numeric data points.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Euclidean distance measures straight-line distance; Manhattan distance is path-based.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parameter 'p' allows adjustment of distance calculation characteristics.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5" name="Google Shape;305;p30"/>
          <p:cNvSpPr txBox="1"/>
          <p:nvPr>
            <p:ph idx="1" type="body"/>
          </p:nvPr>
        </p:nvSpPr>
        <p:spPr>
          <a:xfrm>
            <a:off x="762000" y="1646575"/>
            <a:ext cx="6109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matrix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data matrix of n data points with l dimensions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Dissimilarity (distance) matrix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 data points, but registers only the distance d(i, j) (typically metric)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Usually symmetric, thus a triangular matrix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Distance functions are usually different for real, boolean, categorical, ordinal, ratio, and vector variables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Weights can be associated with different variables based on applications and data semantics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Matrix and Dissimilarity Matrix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4250" y="1537275"/>
            <a:ext cx="1967700" cy="2390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Data Matrix and Dissimilarity Matrix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1895050"/>
            <a:ext cx="6400799" cy="293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75"/>
            <a:ext cx="7999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Minkowski distance: A popular distance measure 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where i = (xi1, xi2, …, xil) and j = (xj1, xj2, …, xjl) are two l-dimensional data objects, and p is the order (the distance so defined is also called L-p norm)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Properties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d(i, j) &gt; 0 if i ≠ j, and d(i, i) = 0 (Positivity)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d(i, j) = d(j, i) (Symmetry)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d(i, j) ≤ d(i, k) + d(k, j) (Triangle Inequality)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distance that satisfies these properties is a metric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Note: There are nonmetric dissimilarities, e.g., set differences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1088" y="2057400"/>
            <a:ext cx="49815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4" name="Google Shape;334;p33"/>
          <p:cNvSpPr txBox="1"/>
          <p:nvPr>
            <p:ph idx="1" type="body"/>
          </p:nvPr>
        </p:nvSpPr>
        <p:spPr>
          <a:xfrm>
            <a:off x="762000" y="1646575"/>
            <a:ext cx="8271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 = 1: (L1 norm) Manhattan (or city block) distance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the Hamming distance: the number of bits that are different between two binary vectors </a:t>
            </a:r>
            <a:endParaRPr sz="1800">
              <a:solidFill>
                <a:srgbClr val="1F1F1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 p = 2: (L2 norm) Euclidean distance 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 → ∞: (Lmax norm, L∞ norm) “supremum” distance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maximum difference between any component (attribute) of the vectors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Cases of Minkowski Distance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4075" y="2663425"/>
            <a:ext cx="43434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2650" y="3514375"/>
            <a:ext cx="60102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2625" y="4486263"/>
            <a:ext cx="661035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8" name="Google Shape;348;p3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Minkowski Distance at Special Cases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6875" y="1745450"/>
            <a:ext cx="6197849" cy="31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5" name="Google Shape;355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Binary data, where attributes can take one of two values, requires specific proximity measures to capture similarity.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contingency table for binary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6" name="Google Shape;35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roximity Measure for Symmetric vs. Asymmetric Binary Variables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9738" y="2755950"/>
            <a:ext cx="421957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5" name="Google Shape;365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measure for symmetric binary variables: 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measure for asymmetric binary variables: 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Jaccard coefficient (similarity measure for asymmetric binary variables): 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Note: Jaccard coefficient is the same as “coherence”: (a concept discussed in Pattern Discovery)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6" name="Google Shape;36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8" name="Google Shape;368;p3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for Binary Attributes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9" name="Google Shape;3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950" y="1597438"/>
            <a:ext cx="25908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8100" y="2169200"/>
            <a:ext cx="2476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913" y="3131825"/>
            <a:ext cx="34004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4900" y="4314313"/>
            <a:ext cx="646747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8" name="Google Shape;378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Gender is a symmetric attribute (not counted in)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remaining attributes are asymmetric binary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 the values Y and P be 1, and the value N be 0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Distance: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9" name="Google Shape;3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Dissimilarity between Asymmetric Binary Variables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609713"/>
            <a:ext cx="53721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0863" y="3371563"/>
            <a:ext cx="24288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0599" y="3838299"/>
            <a:ext cx="2821394" cy="11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998" y="3371573"/>
            <a:ext cx="2514197" cy="16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525" y="1646575"/>
            <a:ext cx="2040143" cy="17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2" name="Google Shape;392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Proximity Measure for Categorical Attributes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Categorical data, also called nominal attributes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Example: Color (red, yellow, blue, green), profession, etc.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 1: Simple matching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m: # of matches, p: total # of variables  </a:t>
            </a:r>
            <a:endParaRPr sz="1800">
              <a:solidFill>
                <a:srgbClr val="1F1F1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 2: Use a large number of binary attributes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Creating a new binary attribute for each of the M nominal states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3" name="Google Shape;3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5" name="Google Shape;395;p3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between Categorical Attributes, Ordinal Attributes, and Mixed Types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113" y="3328238"/>
            <a:ext cx="24288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2" name="Google Shape;402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 ordinal variable can be discrete or continuous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Order is important, e.g., rank (e.g., freshman, sophomore, junior, senior)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Can be treated like interval-scaled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Replace an ordinal variable value by its rank: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Map the range of each variable onto [0, 1] by replacing i-th object in the f-th variable by </a:t>
            </a:r>
            <a:endParaRPr sz="1800">
              <a:solidFill>
                <a:srgbClr val="1F1F1F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Example: freshman: 0; sophomore: 1/3; junior: 2/3; senior 1  </a:t>
            </a:r>
            <a:endParaRPr sz="1800">
              <a:solidFill>
                <a:srgbClr val="1F1F1F"/>
              </a:solidFill>
            </a:endParaRPr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Then distance: d(freshman, senior) = 1, d(junior, senior) = 1/3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Compute the dissimilarity using methods for interval-scaled variables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3" name="Google Shape;4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Ordinal Variables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0" y="3681413"/>
            <a:ext cx="18288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6513" y="2571750"/>
            <a:ext cx="17240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13" name="Google Shape;413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dataset may contain all attribute types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Nominal, symmetric binary, asymmetric binary, numeric, and ordinal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One may use a weighted formula to combine their effects:  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If f is numeric: Use the normalized distance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If f is binary or nominal: dij (f) = 0 if xif = xjf; or dij (f) = 1 otherwise  I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 f is ordinal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Compute ranks zif (where                                        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Treat zif as interval-scaled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4" name="Google Shape;41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6" name="Google Shape;416;p4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 of Mixed Type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" name="Google Shape;41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350" y="2353776"/>
            <a:ext cx="2129500" cy="10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1688" y="4086213"/>
            <a:ext cx="128587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24" name="Google Shape;424;p4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document can be represented by a bag of terms or a long vector, with each attribute recording the frequency of a particular term (such as word, keyword, or phrase) in the document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25" name="Google Shape;4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7" name="Google Shape;427;p4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between Two Vectors: Cosine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925" y="2858563"/>
            <a:ext cx="626745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34" name="Google Shape;434;p42"/>
          <p:cNvSpPr txBox="1"/>
          <p:nvPr>
            <p:ph idx="1" type="body"/>
          </p:nvPr>
        </p:nvSpPr>
        <p:spPr>
          <a:xfrm>
            <a:off x="762000" y="1646575"/>
            <a:ext cx="8207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Other vector objects: Gene features in micro-arrays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 Information retrieval, biologic taxonomy, gene feature mapping, etc.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Cosine measure: If d1 and d2 are two vectors (e.g., term-frequency vectors), then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where • indicates vector dot product, ||d||: the length of vector 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5" name="Google Shape;43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between Two Vectors: Cosine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" name="Google Shape;4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8975" y="2846725"/>
            <a:ext cx="24860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44" name="Google Shape;444;p43"/>
          <p:cNvSpPr txBox="1"/>
          <p:nvPr>
            <p:ph idx="1" type="body"/>
          </p:nvPr>
        </p:nvSpPr>
        <p:spPr>
          <a:xfrm>
            <a:off x="762000" y="1646575"/>
            <a:ext cx="8207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Ex: Find the similarity between documents 1 and 2.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d1 = (5, 0, 3, 0, 2, 0, 0, 2, 0, 0)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d2 = (3, 0, 2, 0, 1, 1, 0, 1, 0, 1)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First, calculate vector dot product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d1•d2 = 5 X 3 + 0 X 0 + 3 X 2 + 0 X 0 + 2 X 1 + 0 X 1 + 0 X 1 + 2 X 1 + 0 X 0 + 0 X 1 = 25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Then, calculate ||d1|| and ||d2||  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Calculate cosine similarity: cos(d1, d2 ) = 26/ (6.481 X 4.12) = 0.94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45" name="Google Shape;44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47" name="Google Shape;447;p4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Calculating Cosine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8" name="Google Shape;44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2350" y="3857550"/>
            <a:ext cx="6202275" cy="7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54" name="Google Shape;454;p44"/>
          <p:cNvSpPr txBox="1"/>
          <p:nvPr>
            <p:ph idx="1" type="body"/>
          </p:nvPr>
        </p:nvSpPr>
        <p:spPr>
          <a:xfrm>
            <a:off x="762000" y="1646575"/>
            <a:ext cx="8303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variance of a random variable X provides a measure of how much the value of X deviates from the mean or expected value of X:  </a:t>
            </a:r>
            <a:endParaRPr sz="18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where σ2 is the variance of X, σ is called standard deviation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µ is the mean, and µ = E[X] is the expected value of X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That is, variance is the expected value of the square deviation from the mean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can also be written as: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variance is the average squared deviation of the data value xi from the sample mean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55" name="Google Shape;45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57" name="Google Shape;457;p44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Measures between Two Variables: Covariance and Correlation Coefficient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8" name="Google Shape;45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3609" y="2277347"/>
            <a:ext cx="4164375" cy="76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0" y="3926600"/>
            <a:ext cx="4902161" cy="3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8475" y="4576750"/>
            <a:ext cx="21336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66" name="Google Shape;466;p45"/>
          <p:cNvSpPr txBox="1"/>
          <p:nvPr>
            <p:ph idx="1" type="body"/>
          </p:nvPr>
        </p:nvSpPr>
        <p:spPr>
          <a:xfrm>
            <a:off x="762000" y="1646575"/>
            <a:ext cx="8303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Covariance between two variables X1 and X2 </a:t>
            </a:r>
            <a:endParaRPr sz="18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where µ1 = E[X1] is the respective mean or expected value of X1; similarly for µ2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covariance between X1 and X2:  </a:t>
            </a:r>
            <a:endParaRPr sz="18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covariance is a generalization of the sample variance: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67" name="Google Shape;46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69" name="Google Shape;469;p45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for Two Variables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0" name="Google Shape;47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600" y="2043950"/>
            <a:ext cx="7128213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3825" y="3463588"/>
            <a:ext cx="23812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3825" y="4388013"/>
            <a:ext cx="426720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78" name="Google Shape;478;p46"/>
          <p:cNvSpPr txBox="1"/>
          <p:nvPr>
            <p:ph idx="1" type="body"/>
          </p:nvPr>
        </p:nvSpPr>
        <p:spPr>
          <a:xfrm>
            <a:off x="762000" y="1646575"/>
            <a:ext cx="8303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Positive covariance: If σ12 &gt; 0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Negative covariance: If σ12 &lt; 0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Independence: If X1 and X2 are independent, σ12 = 0 but the reverse is not true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Some pairs of random variables may have a covariance 0 but are not independent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Only under some additional assumptions (e.g., the data follow multivariate normal distributions) does a covariance of 0 imply independence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9" name="Google Shape;47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1" name="Google Shape;481;p46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for Two Variables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87" name="Google Shape;487;p4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Suppose two stocks X1 and X2 have the following values in one week: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(2, 5), (3, 8), (5, 10), (4, 11), (6, 14)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Question: If the stocks are affected by the same industry trends, will their prices rise or fall together?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Covariance formula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Its computation can be simplified as: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E(X1) = (2 + 3 + 5 + 4 + 6)/ 5 = 20/5 = 4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E(X2) = (5 + 8 + 10 + 11 + 14) /5 = 48/5 = 9.6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σ12 = (2×5 + 3×8 + 5×10 + 4×11 + 6×14)/5 − 4 × 9.6 = 4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Thus, X1 and X2 rise together since σ12 &gt; 0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88" name="Google Shape;48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0" name="Google Shape;490;p47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Calculation of Covariance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1" name="Google Shape;49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782" y="2983088"/>
            <a:ext cx="5750566" cy="3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575" y="3222950"/>
            <a:ext cx="2483579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98" name="Google Shape;498;p48"/>
          <p:cNvSpPr txBox="1"/>
          <p:nvPr>
            <p:ph idx="1" type="body"/>
          </p:nvPr>
        </p:nvSpPr>
        <p:spPr>
          <a:xfrm>
            <a:off x="762000" y="1646575"/>
            <a:ext cx="8511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Correlation between two variables X1 and X2 is the standard covariance, obtained by normalizing the covariance with the standard deviation of each variable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correlation for two attributes X1 and X2: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where n is the number of tuples, µ1 and µ2 are the respective means of X1 and X2 , σ1 and σ2 are the respective standard deviation of X1 and X2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If ρ12 &gt; 0: A and B are positively correlated (X1’s values increase as X2’s)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higher, the stronger correlation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If ρ12 = 0: independent (under the same assumption as discussed in co-variance)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If ρ12 &lt; 0: negatively correlated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99" name="Google Shape;49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1" name="Google Shape;501;p48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between Two Numerical Variables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2" name="Google Shape;50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0" y="2314575"/>
            <a:ext cx="18288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8840" y="2314574"/>
            <a:ext cx="3144310" cy="7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09" name="Google Shape;509;p49"/>
          <p:cNvSpPr txBox="1"/>
          <p:nvPr>
            <p:ph idx="1" type="body"/>
          </p:nvPr>
        </p:nvSpPr>
        <p:spPr>
          <a:xfrm>
            <a:off x="762000" y="1540575"/>
            <a:ext cx="38100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Correlation coefficient value range: [–1, 1]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set of scatter plots shows sets of points and their correlation coefficients changing from –1 to 1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10" name="Google Shape;51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12" name="Google Shape;512;p49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Visualizing Changes of Correlation Coefficient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3" name="Google Shape;51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375" y="1540575"/>
            <a:ext cx="3417614" cy="32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19" name="Google Shape;519;p50"/>
          <p:cNvSpPr txBox="1"/>
          <p:nvPr>
            <p:ph idx="1" type="body"/>
          </p:nvPr>
        </p:nvSpPr>
        <p:spPr>
          <a:xfrm>
            <a:off x="762000" y="1540575"/>
            <a:ext cx="77724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variance and covariance information for the two variables X1 and X2 can be summarized as 2 X 2 covariance matrix as </a:t>
            </a:r>
            <a:endParaRPr sz="1800">
              <a:solidFill>
                <a:srgbClr val="1F1F1F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Generalizing it to d dimensions, we have,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2" name="Google Shape;522;p50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Matrix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3" name="Google Shape;52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00" y="2192947"/>
            <a:ext cx="4258076" cy="12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188" y="3686163"/>
            <a:ext cx="81438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30" name="Google Shape;530;p5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Guidelines for Selecting a Similarity Measure: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Numeric Data: Choose distance metrics based on data distribution (e.g., Minkowski, Euclidean, Manhattan).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Binary Data: Select Jaccard or Tanimoto coefficients based on symmetry and attribute importance.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Categorical Data: Use Hamming distance for unordered categories.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Ordinal Data: Apply Spearman's Footrule for ranked attributes.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Mixed Data: Choose measures based on attribute types and characteristics.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By adhering to these guidelines, you ensure that your chosen similarity measure aligns with your data's nature and analysis goals.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31" name="Google Shape;53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3" name="Google Shape;533;p51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Selecting the Right Similarity Measure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39" name="Google Shape;539;p5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Each similarity measure has its strengths and limitations, influencing its suitability for specific scenarios.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Minkowski distance for numeric data with varied scales.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and Tanimoto coefficients for binary data with different attribute weights.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Hamming distance for categorical data without a natural order.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Spearman's Footrule for ordinal attributes with ranking information.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Cosine similarity for vector-based data like text documents.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Correlation measures for capturing linear relationships between variables.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40" name="Google Shape;54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2" name="Google Shape;542;p52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Limitations of Similarity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48" name="Google Shape;548;p5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Limitations: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Minkowski distance is sensitive to attribute scales.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and Tanimoto may not consider attribute importance equally.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Hamming and Spearman's Footrule require distinct data types.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Cosine similarity assumes vector space representation.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Correlation measures may not capture nonlinear relationships.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Understanding the applications and limitations of similarity measures guides their appropriate use in diverse clustering scenarios.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49" name="Google Shape;54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51" name="Google Shape;551;p53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Limitations of Similarity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57" name="Google Shape;557;p54"/>
          <p:cNvSpPr txBox="1"/>
          <p:nvPr>
            <p:ph idx="1" type="body"/>
          </p:nvPr>
        </p:nvSpPr>
        <p:spPr>
          <a:xfrm>
            <a:off x="762000" y="1646575"/>
            <a:ext cx="83820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Objective: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Divide customers into segments based on their purchasing behavior.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Uncover distinct patterns and preferences within the customer base.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Preprocessing: Prepare customer purchase history data.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Feature Extraction: Convert purchase history into numerical representation.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Similarity Measurement: Choose an appropriate metric (e.g., cosine similarity).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Algorithm: Apply K-Means clustering to group similar customers.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Interpretation: Analyze cluster characteristics and formulate insights.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58" name="Google Shape;55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60" name="Google Shape;560;p54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Customer Segmentation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66" name="Google Shape;566;p55"/>
          <p:cNvSpPr txBox="1"/>
          <p:nvPr>
            <p:ph idx="1" type="body"/>
          </p:nvPr>
        </p:nvSpPr>
        <p:spPr>
          <a:xfrm>
            <a:off x="762000" y="1646575"/>
            <a:ext cx="83820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Basic concepts of measuring similarity guide cluster formation and pattern discovery.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metrics like Minkowski, Jaccard, Hamming, and Spearman's Footrule cater to diverse data types.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Cosine similarity quantifies direction in vector-based data.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Correlation measures reveal linear relationships between variables.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Practical considerations and domain knowledge guide measure selection.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67" name="Google Shape;56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69" name="Google Shape;569;p55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 and Key Takeaways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75" name="Google Shape;575;p5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Crucial for clustering to group similar data.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Metrics for numeric, binary, categorical, and mixed data.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Includes cosine similarity and correlation measures.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576" name="Google Shape;57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78" name="Google Shape;578;p56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5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