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Tahoma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4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4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399c3edca6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2399c3edca6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f073c1c99_1_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2f073c1c99_1_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f073c1c99_1_1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22f073c1c99_1_1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399c3edca6_0_2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2399c3edca6_0_2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5f144436ef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5f144436ef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f073c1c99_1_2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22f073c1c99_1_2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399c3edca6_0_3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399c3edca6_0_3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399c3edca6_0_4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399c3edca6_0_4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399c3edca6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2399c3edca6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4c7045ec0e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24c7045ec0e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28825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Definition and importance of pattern discovery in data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 and real-world examples of pattern discovery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Challenges and considerations in pattern discovery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0" name="Google Shape;250;p24"/>
          <p:cNvSpPr txBox="1"/>
          <p:nvPr>
            <p:ph idx="1" type="body"/>
          </p:nvPr>
        </p:nvSpPr>
        <p:spPr>
          <a:xfrm>
            <a:off x="762000" y="1646579"/>
            <a:ext cx="79533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Patterns: A set of items, subsequences, or substructures that occur frequently together (or strongly correlated) in a data set  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Patterns represent intrinsic and important properties of datasets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Pattern?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609600" y="26940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Pattern Discovery?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Rectangle: Click to edit Master text styles &#10;Second level &#10;Third level &#10;Fourth level &#10;Fifth level" id="255" name="Google Shape;255;p24"/>
          <p:cNvSpPr txBox="1"/>
          <p:nvPr>
            <p:ph idx="1" type="body"/>
          </p:nvPr>
        </p:nvSpPr>
        <p:spPr>
          <a:xfrm>
            <a:off x="762000" y="3129603"/>
            <a:ext cx="79533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discovery: Uncovering patterns from massive data sets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Motivation examples:  What products were often purchased together?  What are the subsequent purchases after buying an iPad?  What code segments likely contain copy-and-paste bugs?  What word sequences likely form phrases in this corpus?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1" name="Google Shape;261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Finding inherent regularities in a data set 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Foundation for many essential data mining tasks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Association, correlation, and causality analysis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sequential, structural (e.g., sub-graph) patterns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analysis in spatiotemporal, multimedia, time-series, and stream data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Classification: Discriminative pattern-based analysis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analysis: Pattern-based subspace clustering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Broad applications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Market basket analysis, cross-marketing, catalog design, sale campaign analysis, Web log analysis, biological sequence analysis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Pattern Discovery Important?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5613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asic Concepts: Frequent Itemsets (Patterns)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882300" y="1604625"/>
            <a:ext cx="4467900" cy="3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Noto Sans Symbols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Itemset: A set of one or more items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Noto Sans Symbols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k-itemset: X = {x1, …, xk}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(absolute) support (count) of X: Frequency or the number of occurrences of an itemset X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(relative) support, s: The fraction of transactions that contains X (i.e., the probability that a transaction contains X)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itemset X is frequent if the support of X is no less than a minsup threshold (denoted as σ)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3550" y="1673425"/>
            <a:ext cx="3461349" cy="14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5337475" y="3157975"/>
            <a:ext cx="3313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Let minsup = 50%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Freq. 1-itemsets: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Beer: 3 (60%); Nuts: 3 (60%)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Diaper: 4 (80%); Eggs: 3 (60%)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Freq. 2-itemsets: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{Beer, Diaper}: 3 (60%)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pic>
        <p:nvPicPr>
          <p:cNvPr id="281" name="Google Shape;2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762000" y="1184875"/>
            <a:ext cx="5613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Frequent Itemsets to Association Rules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777925" y="1604625"/>
            <a:ext cx="46044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rules: X→Y (s, c)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Support, s: The probability that a transaction contains X ∪ Y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Confidence, c: The conditional probability that a transaction containing X also contains Y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sup(X ∪ Y) / sup(X)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 mining: Find all of the rules, X→Y, with minimum support and confidence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" name="Google Shape;28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325" y="989888"/>
            <a:ext cx="3352800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pic>
        <p:nvPicPr>
          <p:cNvPr id="291" name="Google Shape;2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762000" y="1184875"/>
            <a:ext cx="5613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Frequent Itemsets to Association Rules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325" y="989888"/>
            <a:ext cx="33528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/>
          <p:nvPr/>
        </p:nvSpPr>
        <p:spPr>
          <a:xfrm>
            <a:off x="777925" y="1604625"/>
            <a:ext cx="46044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itemsets: Let minsup = 50%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Freq. 1-itemsets: Beer: 3, Nuts: 3, Diaper: 4, Eggs: 3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Freq. 2-itemsets: {Beer, Diaper}: 3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 rules: Let minconf = 50%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Beer  Diaper (60%, 100%)  </a:t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Diaper  Beer (60%, 75%)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1" name="Google Shape;301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Challenge: There Are Too Many Frequent Patterns!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A long pattern contains a combinatorial number of sub-patterns  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How many frequent itemsets does the following TDB1 contain?  </a:t>
            </a:r>
            <a:endParaRPr sz="1800">
              <a:solidFill>
                <a:srgbClr val="1F1F1F"/>
              </a:solidFill>
            </a:endParaRPr>
          </a:p>
          <a:p>
            <a:pPr indent="-196214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>
                <a:solidFill>
                  <a:srgbClr val="1F1F1F"/>
                </a:solidFill>
              </a:rPr>
              <a:t>TDB1: T1: {a1, …, a50}; T2: {a1, …, a100}  </a:t>
            </a:r>
            <a:endParaRPr sz="1800">
              <a:solidFill>
                <a:srgbClr val="1F1F1F"/>
              </a:solidFill>
            </a:endParaRPr>
          </a:p>
          <a:p>
            <a:pPr indent="-196214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>
                <a:solidFill>
                  <a:srgbClr val="1F1F1F"/>
                </a:solidFill>
              </a:rPr>
              <a:t>Assuming (absolute) minsup = 1  </a:t>
            </a:r>
            <a:endParaRPr sz="1800">
              <a:solidFill>
                <a:srgbClr val="1F1F1F"/>
              </a:solidFill>
            </a:endParaRPr>
          </a:p>
          <a:p>
            <a:pPr indent="-196214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>
                <a:solidFill>
                  <a:srgbClr val="1F1F1F"/>
                </a:solidFill>
              </a:rPr>
              <a:t>Let’s have a try </a:t>
            </a:r>
            <a:endParaRPr sz="1800">
              <a:solidFill>
                <a:srgbClr val="1F1F1F"/>
              </a:solidFill>
            </a:endParaRPr>
          </a:p>
          <a:p>
            <a:pPr indent="-230505" lvl="3" marL="160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1-itemsets: {a1}: 2, {a2}: 2, …, {a50}: 2, {a51}: 1, …, {a100}: 1,  …, …, …, … </a:t>
            </a:r>
            <a:endParaRPr sz="1800">
              <a:solidFill>
                <a:srgbClr val="1F1F1F"/>
              </a:solidFill>
            </a:endParaRPr>
          </a:p>
          <a:p>
            <a:pPr indent="-230505" lvl="3" marL="160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100-itemset: {a1, a2, …, a100}: 1  </a:t>
            </a:r>
            <a:endParaRPr sz="1800">
              <a:solidFill>
                <a:srgbClr val="1F1F1F"/>
              </a:solidFill>
            </a:endParaRPr>
          </a:p>
          <a:p>
            <a:pPr indent="-196214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■"/>
            </a:pPr>
            <a:r>
              <a:rPr lang="en-GB" sz="1800">
                <a:solidFill>
                  <a:srgbClr val="1F1F1F"/>
                </a:solidFill>
              </a:rPr>
              <a:t>In total: (100 1) + (100 2) + … + (1 1 0 0 0 0) = 2100 – 1 sub-patterns!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2" name="Google Shape;3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Compressed Representation: Closed Patterns and Max-Pattern</a:t>
            </a:r>
            <a:r>
              <a:rPr lang="en-GB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0" name="Google Shape;310;p30"/>
          <p:cNvSpPr txBox="1"/>
          <p:nvPr>
            <p:ph idx="1" type="body"/>
          </p:nvPr>
        </p:nvSpPr>
        <p:spPr>
          <a:xfrm>
            <a:off x="762000" y="1646575"/>
            <a:ext cx="8159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to handle such a challenge?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Solution 1: </a:t>
            </a:r>
            <a:r>
              <a:rPr b="1" lang="en-GB" sz="1800">
                <a:solidFill>
                  <a:srgbClr val="1F1F1F"/>
                </a:solidFill>
              </a:rPr>
              <a:t>Closed patterns:</a:t>
            </a:r>
            <a:r>
              <a:rPr lang="en-GB" sz="1800">
                <a:solidFill>
                  <a:srgbClr val="1F1F1F"/>
                </a:solidFill>
              </a:rPr>
              <a:t> A pattern (itemset) X is closed if X is frequent, and there exists no super-pattern Y כ X, with the same support as X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Let Transaction DB TDB1: T1: {a1, …, a50}; T2: {a1, …, a100}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Suppose minsup = 1. How many closed patterns does TDB1 contain?  </a:t>
            </a:r>
            <a:endParaRPr sz="1800">
              <a:solidFill>
                <a:srgbClr val="1F1F1F"/>
              </a:solidFill>
            </a:endParaRPr>
          </a:p>
          <a:p>
            <a:pPr indent="-268605" lvl="3" marL="1600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Two: P1: “{a1, …, a50}: 2”; P2: “{a1, …, a100}: 1”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Closed pattern is a lossless compression of frequent patterns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Reduces the # of patterns but does not lose the support information!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You will still be able to say: “{a2, …, a40}: 2”, “{a5, a51}: 1”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Compressed Representation: Closed Patterns and Max-Pattern</a:t>
            </a:r>
            <a:r>
              <a:rPr lang="en-GB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9" name="Google Shape;319;p31"/>
          <p:cNvSpPr txBox="1"/>
          <p:nvPr>
            <p:ph idx="1" type="body"/>
          </p:nvPr>
        </p:nvSpPr>
        <p:spPr>
          <a:xfrm>
            <a:off x="762000" y="1646575"/>
            <a:ext cx="8159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to handle such a challenge?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Solution 2: </a:t>
            </a:r>
            <a:r>
              <a:rPr b="1" lang="en-GB" sz="1800">
                <a:solidFill>
                  <a:srgbClr val="1F1F1F"/>
                </a:solidFill>
              </a:rPr>
              <a:t>Max-patterns</a:t>
            </a:r>
            <a:r>
              <a:rPr lang="en-GB" sz="1800">
                <a:solidFill>
                  <a:srgbClr val="1F1F1F"/>
                </a:solidFill>
              </a:rPr>
              <a:t>: A pattern X is a max-pattern if X is frequent and there exists no frequent super-pattern Y כ X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Difference from close-patterns?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Do not care the real support of the sub-patterns of a max-pattern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Let Transaction DB TDB1: T1: {a1, …, a50}; T2: {a1, …, a100}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Suppose minsup = 1. How many max-patterns does TDB1 contain?  One: P: “{a1, …, a100}: 1”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Max-pattern is a lossy compression!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Thus in many applications, mining close-patterns is more desirable than mining max-patterns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0" name="Google Shape;3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Compressed Representation: Closed Patterns and Max-Pattern</a:t>
            </a:r>
            <a:r>
              <a:rPr lang="en-GB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Pattern Discovery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8" name="Google Shape;328;p32"/>
          <p:cNvSpPr txBox="1"/>
          <p:nvPr>
            <p:ph idx="1" type="body"/>
          </p:nvPr>
        </p:nvSpPr>
        <p:spPr>
          <a:xfrm>
            <a:off x="763025" y="1646575"/>
            <a:ext cx="82311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Observation: From TDB1: T1: {a1, …, a50}; T2: {a1, …, a100}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We get a frequent itemset: {a1, …, a50}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Also, its subsets: {a1}, {a2}, …, {a50}, {a1, a2}, …, {a1, …, a49}, …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There must be some hidden relationships among frequent patterns!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downward closure (also called “Apriori”) property of frequent patterns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{beer, diaper, nuts} is frequent, so is {beer, diaper}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Every transaction containing {beer, diaper, nuts} also contains {beer, diaper}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Apriori: Any subset of a frequent itemset must be frequent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 mining methodology  ?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9" name="Google Shape;3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1" name="Google Shape;331;p32"/>
          <p:cNvSpPr txBox="1"/>
          <p:nvPr/>
        </p:nvSpPr>
        <p:spPr>
          <a:xfrm>
            <a:off x="762000" y="1184875"/>
            <a:ext cx="6986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Downward Closure Property of Frequent Patterns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7" name="Google Shape;337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Pattern discovery: Identifying valuable patterns in data.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Importance: Informing decisions, diverse applications.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Challenges: Data quality, scalability, interpretability.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Pattern Discovery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