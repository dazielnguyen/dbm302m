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67" r:id="rId2"/>
    <p:sldMasterId id="2147483668" r:id="rId3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 type="screen16x9"/>
  <p:notesSz cx="6858000" cy="9144000"/>
  <p:embeddedFontLst>
    <p:embeddedFont>
      <p:font typeface="Noto Sans Symbols" pitchFamily="2" charset="0"/>
      <p:regular r:id="rId22"/>
      <p:bold r:id="rId23"/>
    </p:embeddedFont>
    <p:embeddedFont>
      <p:font typeface="Tahoma" panose="020B0604030504040204" pitchFamily="3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3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GB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3a069dcfde_0_8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23a069dcfde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3a069dcfde_0_97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23a069dcfde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4c89ed125d_0_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24c89ed125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4c89ed125d_0_1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4c89ed125d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4c89ed125d_0_2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24c89ed125d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3a0becab7d_0_21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23a0becab7d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4c89ed125d_0_3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g24c89ed125d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4c89ed125d_0_4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24c89ed125d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4c89ed125d_0_5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24c89ed125d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4c89ed125d_0_6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g24c89ed125d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4c89ed125d_0_7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24c89ed125d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4c89ed125d_0_8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g24c89ed125d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4c89ed125d_0_9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24c89ed125d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4c89ed125d_0_10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g24c89ed125d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4c89ed125d_0_11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g24c89ed125d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4c73258b94_1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g24c73258b9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>
            <a:spLocks noGrp="1"/>
          </p:cNvSpPr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5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17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1" name="Google Shape;221;p20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0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0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27" name="Google Shape;227;p21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rot="-5400000" flipH="1">
                <a:off x="425" y="860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4" name="Google Shape;124;p1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88" name="Google Shape;188;p16" descr="60%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w="952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5" name="Google Shape;195;p1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7" name="Google Shape;197;p16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8" name="Google Shape;198;p16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>
            <a:spLocks noGrp="1"/>
          </p:cNvSpPr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1</a:t>
            </a: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Introduction to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id="242" name="Google Shape;242;p2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Definition of Data Warehousing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Significance in Data Management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Overview of Warehouse, Cube, OLAP, and Architecture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id="251" name="Google Shape;251;p2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warehouses are central repositories for large volumes of data.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They provide historical data for decision support and analysis.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warehousing plays a crucial role in facilitating data-driven decision-making.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Warehouse Concept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id="260" name="Google Shape;260;p2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Components of a data warehouse include data sources, ETL processes, the data warehouse itself, and OLAP cubes.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Each component has a specific role in the data warehousing ecosystem.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Together, these components enable efficient data storage, transformation, and analysis.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61" name="Google Shape;26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Warehouse Components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id="269" name="Google Shape;269;p2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OLAP stands for Online Analytical Processing.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OLAP systems enable multidimensional analysis of data.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Types of OLAP include MOLAP, ROLAP, and HOLAP.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OLAP is instrumental in supporting complex data analysis tasks.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OLAP (Online Analytical Processing)</a:t>
            </a:r>
            <a:endParaRPr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id="278" name="Google Shape;278;p2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Data warehouse architecture consists of three key layers: data sources, the data warehouse itself, and the front-end reporting and analysis tools.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Each layer serves a distinct purpose in the data warehousing process.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This architecture facilitates data extraction, transformation, loading, and user access.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79" name="Google Shape;27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762000" y="1184875"/>
            <a:ext cx="8239500" cy="11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Warehouse Architecture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pic>
        <p:nvPicPr>
          <p:cNvPr id="287" name="Google Shape;28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Warehouse Architecture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0" name="Google Shape;29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3725" y="1646575"/>
            <a:ext cx="4931181" cy="338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id="296" name="Google Shape;296;p2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sources refer to the origin of data for a data warehouse.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Examples include databases, files, external sources, and more.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extraction is the process of collecting and transferring data from these sources to the data warehouse.</a:t>
            </a:r>
            <a:endParaRPr sz="1800">
              <a:solidFill>
                <a:srgbClr val="1F1F1F"/>
              </a:solidFill>
            </a:endParaRPr>
          </a:p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</p:txBody>
      </p:sp>
      <p:pic>
        <p:nvPicPr>
          <p:cNvPr id="297" name="Google Shape;29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  <p:sp>
        <p:nvSpPr>
          <p:cNvPr id="299" name="Google Shape;299;p29"/>
          <p:cNvSpPr txBox="1"/>
          <p:nvPr/>
        </p:nvSpPr>
        <p:spPr>
          <a:xfrm>
            <a:off x="762000" y="1184875"/>
            <a:ext cx="8239500" cy="11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Sources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id="305" name="Google Shape;305;p3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ETL stands for Extract, Transform, Load.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ETL processes are vital for data warehousing, involving data extraction, transformation, and loading into the data warehouse.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Ensuring data quality is a crucial aspect of the ETL process.</a:t>
            </a:r>
            <a:endParaRPr sz="1800">
              <a:solidFill>
                <a:srgbClr val="1F1F1F"/>
              </a:solidFill>
            </a:endParaRPr>
          </a:p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</p:txBody>
      </p:sp>
      <p:pic>
        <p:nvPicPr>
          <p:cNvPr id="306" name="Google Shape;30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  <p:sp>
        <p:nvSpPr>
          <p:cNvPr id="308" name="Google Shape;308;p30"/>
          <p:cNvSpPr txBox="1"/>
          <p:nvPr/>
        </p:nvSpPr>
        <p:spPr>
          <a:xfrm>
            <a:off x="762000" y="1184875"/>
            <a:ext cx="8239500" cy="11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ETL Process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id="314" name="Google Shape;314;p3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Effective data warehouse design is essential for optimal performance.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Key considerations include choosing between star and snowflake schemas and defining dimension and fact tables.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well-designed data warehouse enhances data retrieval and analysis.</a:t>
            </a:r>
            <a:endParaRPr sz="1800">
              <a:solidFill>
                <a:srgbClr val="1F1F1F"/>
              </a:solidFill>
            </a:endParaRPr>
          </a:p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</p:txBody>
      </p:sp>
      <p:pic>
        <p:nvPicPr>
          <p:cNvPr id="315" name="Google Shape;31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  <p:sp>
        <p:nvSpPr>
          <p:cNvPr id="317" name="Google Shape;317;p31"/>
          <p:cNvSpPr txBox="1"/>
          <p:nvPr/>
        </p:nvSpPr>
        <p:spPr>
          <a:xfrm>
            <a:off x="762000" y="1184875"/>
            <a:ext cx="8239500" cy="11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Warehouse Design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2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id="323" name="Google Shape;323;p3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905100" y="1600206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Data loading is the process of inserting data into the data warehouse.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It involves scheduling, automation, and monitoring to keep data up-to-date.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b="1" dirty="0">
                <a:solidFill>
                  <a:srgbClr val="1F1F1F"/>
                </a:solidFill>
              </a:rPr>
              <a:t>Incremental loading(activate as overwrite) </a:t>
            </a:r>
            <a:r>
              <a:rPr lang="en-GB" sz="1800" dirty="0">
                <a:solidFill>
                  <a:srgbClr val="1F1F1F"/>
                </a:solidFill>
              </a:rPr>
              <a:t>is a common practice to update only new or changed data efficiently.</a:t>
            </a:r>
            <a:endParaRPr sz="1800" dirty="0">
              <a:solidFill>
                <a:srgbClr val="1F1F1F"/>
              </a:solidFill>
            </a:endParaRPr>
          </a:p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324" name="Google Shape;32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  <p:sp>
        <p:nvSpPr>
          <p:cNvPr id="326" name="Google Shape;326;p32"/>
          <p:cNvSpPr txBox="1"/>
          <p:nvPr/>
        </p:nvSpPr>
        <p:spPr>
          <a:xfrm>
            <a:off x="762000" y="1184875"/>
            <a:ext cx="8239500" cy="11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Warehouse Loading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id="332" name="Google Shape;332;p3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905100" y="1600206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OLAP Cubes are multidimensional data structures.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They allow for efficient data aggregation and slicing for analysis.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OLAP Cubes are a fundamental component of OLAP systems for complex data exploration and reporting.</a:t>
            </a:r>
            <a:endParaRPr sz="1800">
              <a:solidFill>
                <a:srgbClr val="1F1F1F"/>
              </a:solidFill>
            </a:endParaRPr>
          </a:p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</p:txBody>
      </p:sp>
      <p:pic>
        <p:nvPicPr>
          <p:cNvPr id="333" name="Google Shape;33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/>
          </a:p>
        </p:txBody>
      </p:sp>
      <p:sp>
        <p:nvSpPr>
          <p:cNvPr id="335" name="Google Shape;335;p33"/>
          <p:cNvSpPr txBox="1"/>
          <p:nvPr/>
        </p:nvSpPr>
        <p:spPr>
          <a:xfrm>
            <a:off x="762000" y="1184875"/>
            <a:ext cx="8239500" cy="11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OLAP Cubes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id="341" name="Google Shape;341;p3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905100" y="1600206"/>
            <a:ext cx="7953300" cy="11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Querying data warehouses is a crucial step for extracting insights.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SQL and OLAP queries are commonly used to retrieve specific information.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b="1" dirty="0">
                <a:solidFill>
                  <a:srgbClr val="1F1F1F"/>
                </a:solidFill>
              </a:rPr>
              <a:t>Speed and efficiency </a:t>
            </a:r>
            <a:r>
              <a:rPr lang="en-GB" sz="1800" dirty="0">
                <a:solidFill>
                  <a:srgbClr val="1F1F1F"/>
                </a:solidFill>
              </a:rPr>
              <a:t>in querying are vital for timely decision-making.</a:t>
            </a:r>
            <a:endParaRPr sz="1800" dirty="0">
              <a:solidFill>
                <a:srgbClr val="1F1F1F"/>
              </a:solidFill>
            </a:endParaRPr>
          </a:p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342" name="Google Shape;342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/>
          </a:p>
        </p:txBody>
      </p:sp>
      <p:sp>
        <p:nvSpPr>
          <p:cNvPr id="344" name="Google Shape;344;p34"/>
          <p:cNvSpPr txBox="1"/>
          <p:nvPr/>
        </p:nvSpPr>
        <p:spPr>
          <a:xfrm>
            <a:off x="762000" y="1184875"/>
            <a:ext cx="8239500" cy="11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Warehouse Querying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id="350" name="Google Shape;350;p3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905100" y="1600206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security is paramount in a data warehouse environment.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Role-Based Access Control (RBAC) is often used to manage user permissions.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Encryption and compliance measures are essential for protecting sensitive data.</a:t>
            </a:r>
            <a:endParaRPr sz="1800">
              <a:solidFill>
                <a:srgbClr val="1F1F1F"/>
              </a:solidFill>
            </a:endParaRPr>
          </a:p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</p:txBody>
      </p:sp>
      <p:pic>
        <p:nvPicPr>
          <p:cNvPr id="351" name="Google Shape;351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14</a:t>
            </a:fld>
            <a:endParaRPr/>
          </a:p>
        </p:txBody>
      </p:sp>
      <p:sp>
        <p:nvSpPr>
          <p:cNvPr id="353" name="Google Shape;353;p35"/>
          <p:cNvSpPr txBox="1"/>
          <p:nvPr/>
        </p:nvSpPr>
        <p:spPr>
          <a:xfrm>
            <a:off x="762000" y="1184875"/>
            <a:ext cx="8239500" cy="11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Warehouse Security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id="359" name="Google Shape;359;p3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905100" y="1600206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Regular maintenance tasks are necessary to keep a data warehouse running smoothly.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These tasks include backup and recovery procedures.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Performance tuning is essential for optimizing data retrieval and analysis processes..</a:t>
            </a:r>
            <a:endParaRPr sz="1800">
              <a:solidFill>
                <a:srgbClr val="1F1F1F"/>
              </a:solidFill>
            </a:endParaRPr>
          </a:p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</p:txBody>
      </p:sp>
      <p:pic>
        <p:nvPicPr>
          <p:cNvPr id="360" name="Google Shape;360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15</a:t>
            </a:fld>
            <a:endParaRPr/>
          </a:p>
        </p:txBody>
      </p:sp>
      <p:sp>
        <p:nvSpPr>
          <p:cNvPr id="362" name="Google Shape;362;p36"/>
          <p:cNvSpPr txBox="1"/>
          <p:nvPr/>
        </p:nvSpPr>
        <p:spPr>
          <a:xfrm>
            <a:off x="762000" y="1184875"/>
            <a:ext cx="8239500" cy="11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Warehouse Maintenance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id="368" name="Google Shape;368;p3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905100" y="1600206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warehousing offers numerous advantages, including: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Improved Decision-Making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Centralized Data Storage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Historical Data Analysis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Enhanced Reporting and Analytics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These benefits make data warehousing essential for organizations' data-driven strategies.</a:t>
            </a:r>
            <a:endParaRPr sz="1800">
              <a:solidFill>
                <a:srgbClr val="1F1F1F"/>
              </a:solidFill>
            </a:endParaRPr>
          </a:p>
          <a:p>
            <a:pPr marL="0" lvl="0" indent="0" algn="just" rtl="0">
              <a:spcBef>
                <a:spcPts val="440"/>
              </a:spcBef>
              <a:spcAft>
                <a:spcPts val="0"/>
              </a:spcAft>
              <a:buNone/>
            </a:pPr>
            <a:endParaRPr sz="1800">
              <a:solidFill>
                <a:srgbClr val="1F1F1F"/>
              </a:solidFill>
            </a:endParaRPr>
          </a:p>
        </p:txBody>
      </p:sp>
      <p:pic>
        <p:nvPicPr>
          <p:cNvPr id="369" name="Google Shape;369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16</a:t>
            </a:fld>
            <a:endParaRPr/>
          </a:p>
        </p:txBody>
      </p:sp>
      <p:sp>
        <p:nvSpPr>
          <p:cNvPr id="371" name="Google Shape;371;p37"/>
          <p:cNvSpPr txBox="1"/>
          <p:nvPr/>
        </p:nvSpPr>
        <p:spPr>
          <a:xfrm>
            <a:off x="762000" y="1184875"/>
            <a:ext cx="8239500" cy="11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 of Data Warehousing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Warehousing</a:t>
            </a:r>
            <a:endParaRPr sz="3600"/>
          </a:p>
        </p:txBody>
      </p:sp>
      <p:sp>
        <p:nvSpPr>
          <p:cNvPr id="377" name="Google Shape;377;p3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Data warehousing centralizes data for analysis.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Components include ETL, data sources, cubes, and architecture.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OLAP enables multidimensional analysis.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Data warehousing enhances decision-making and reporting.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Security, maintenance, and data quality are vital.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It plays a crucial role in data-driven strategies.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378" name="Google Shape;378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17</a:t>
            </a:fld>
            <a:endParaRPr/>
          </a:p>
        </p:txBody>
      </p:sp>
      <p:sp>
        <p:nvSpPr>
          <p:cNvPr id="380" name="Google Shape;380;p38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38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704</Words>
  <Application>Microsoft Macintosh PowerPoint</Application>
  <PresentationFormat>On-screen Show (16:9)</PresentationFormat>
  <Paragraphs>102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Tahoma</vt:lpstr>
      <vt:lpstr>Times New Roman</vt:lpstr>
      <vt:lpstr>Noto Sans Symbols</vt:lpstr>
      <vt:lpstr>Simple Light</vt:lpstr>
      <vt:lpstr>1_Blueprint</vt:lpstr>
      <vt:lpstr>Blueprint</vt:lpstr>
      <vt:lpstr>Chapter 1:  Introduction to Data Mining</vt:lpstr>
      <vt:lpstr>Introduction to Data Warehousing</vt:lpstr>
      <vt:lpstr>Introduction to Data Warehousing</vt:lpstr>
      <vt:lpstr>Introduction to Data Warehousing</vt:lpstr>
      <vt:lpstr>Introduction to Data Warehousing</vt:lpstr>
      <vt:lpstr>Introduction to Data Warehousing</vt:lpstr>
      <vt:lpstr>Introduction to Data Warehousing</vt:lpstr>
      <vt:lpstr>Introduction to Data Warehousing</vt:lpstr>
      <vt:lpstr>Introduction to Data Warehousing</vt:lpstr>
      <vt:lpstr>Introduction to Data Warehousing</vt:lpstr>
      <vt:lpstr>Introduction to Data Warehousing</vt:lpstr>
      <vt:lpstr>Introduction to Data Warehousing</vt:lpstr>
      <vt:lpstr>Introduction to Data Warehousing</vt:lpstr>
      <vt:lpstr>Introduction to Data Warehousing</vt:lpstr>
      <vt:lpstr>Introduction to Data Warehousing</vt:lpstr>
      <vt:lpstr>Introduction to Data Warehousing</vt:lpstr>
      <vt:lpstr>Introduction to Data Warehousing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Daziel.vad</cp:lastModifiedBy>
  <cp:revision>1</cp:revision>
  <dcterms:modified xsi:type="dcterms:W3CDTF">2026-01-09T03:30:48Z</dcterms:modified>
</cp:coreProperties>
</file>