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67" r:id="rId2"/>
    <p:sldMasterId id="2147483668" r:id="rId3"/>
  </p:sldMasterIdLst>
  <p:notesMasterIdLst>
    <p:notesMasterId r:id="rId3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9144000" cy="5143500" type="screen16x9"/>
  <p:notesSz cx="6858000" cy="9144000"/>
  <p:embeddedFontLst>
    <p:embeddedFont>
      <p:font typeface="Noto Sans Symbols" pitchFamily="2" charset="0"/>
      <p:regular r:id="rId37"/>
      <p:bold r:id="rId38"/>
    </p:embeddedFont>
    <p:embeddedFont>
      <p:font typeface="Tahoma" panose="020B0604030504040204" pitchFamily="34" charset="0"/>
      <p:regular r:id="rId39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76"/>
  </p:normalViewPr>
  <p:slideViewPr>
    <p:cSldViewPr snapToGrid="0">
      <p:cViewPr>
        <p:scale>
          <a:sx n="150" d="100"/>
          <a:sy n="150" d="100"/>
        </p:scale>
        <p:origin x="1576" y="10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3.fntdata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GB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82b55a4a5_0_628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2582b55a4a5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39ee772909_0_18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g239ee772909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60097b4837_0_8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g260097b483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3b9f24bfca_0_1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23b9f24bfc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60097b4837_0_16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g260097b4837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b9f24bfca_0_11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g23b9f24bfca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3b9f24bfca_0_21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g23b9f24bfca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3b9f24bfca_0_29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g23b9f24bfc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3b9f24bfca_0_39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23b9f24bfca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3b9f24bfca_0_5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23b9f24bfca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60097b4837_0_24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g260097b4837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3b9f24bfca_0_65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3b9f24bfca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3b9f24bfca_0_7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g23b9f24bfca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3b9f24bfca_0_8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g23b9f24bfca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3b9f24bfca_0_9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g23b9f24bfca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60097b4837_0_32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g260097b483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3b9f24bfca_0_101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g23b9f24bfca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3b9f24bfca_0_111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g23b9f24bfca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3b9f24bfca_0_12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g23b9f24bfca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3b9f24bfca_0_13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g23b9f24bfca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60097b4837_0_4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g260097b4837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3b9f24bfca_0_138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g23b9f24bfca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3b9f24bfca_0_148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g23b9f24bfca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3b9f24bfca_0_165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g23b9f24bfca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3b9f24bfca_0_179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g23b9f24bfca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3b9f24bfca_0_20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g23b9f24bfca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260097b4837_0_48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g260097b483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260097b4837_0_56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g260097b4837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260097b4837_0_64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g260097b4837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260097b4837_0_72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g260097b4837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4c74566950_0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g24c7456695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>
            <a:spLocks noGrp="1"/>
          </p:cNvSpPr>
          <p:nvPr>
            <p:ph type="chart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>
            <a:spLocks noGrp="1"/>
          </p:cNvSpPr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5" descr="Rectangle: Click to edit Master text styles&#10;Second level&#10;Third level&#10;Fourth level&#10;Fifth level"/>
          <p:cNvSpPr txBox="1">
            <a:spLocks noGrp="1"/>
          </p:cNvSpPr>
          <p:nvPr>
            <p:ph type="subTitle" idx="1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15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17"/>
          <p:cNvSpPr>
            <a:spLocks noGrp="1"/>
          </p:cNvSpPr>
          <p:nvPr>
            <p:ph type="chart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03" name="Google Shape;203;p17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7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7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8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body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8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8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9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9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 rtl="0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 rtl="0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 rtl="0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 rtl="0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 rtl="0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 rtl="0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221" name="Google Shape;221;p20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0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0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1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27" name="Google Shape;227;p21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1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1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rot="-5400000" flipH="1">
                <a:off x="425" y="860"/>
                <a:ext cx="108" cy="108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4" name="Google Shape;124;p1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5" name="Google Shape;125;p14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188" name="Google Shape;188;p16" descr="60%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w="9525" cap="flat" cmpd="sng">
              <a:solidFill>
                <a:schemeClr val="hlink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5" name="Google Shape;195;p1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6" name="Google Shape;196;p16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7" name="Google Shape;197;p16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8" name="Google Shape;198;p16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>
            <a:spLocks noGrp="1"/>
          </p:cNvSpPr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4</a:t>
            </a: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Cluster Analysis in Data Mining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Partitioning-Based Clustering Methods</a:t>
            </a:r>
            <a:endParaRPr sz="3600"/>
          </a:p>
        </p:txBody>
      </p:sp>
      <p:sp>
        <p:nvSpPr>
          <p:cNvPr id="242" name="Google Shape;242;p2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Understand the concept of partitioning-based clustering.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Explore the K-Means clustering method and its steps.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Study different techniques for initializing K-Means.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Learn about the K-Medoids clustering method and its advantages.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Discover the K-Medians and K-Modes clustering approaches.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Delve into Kernel K-Means and its application to nonlinear data.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Let's delve into the world of partitioning-based clustering and uncover how these methods contribute to the analysis of diverse datasets.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fld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Partitioning-based clustering aims to divide data points into non-overlapping clusters. These methods are efficient for large datasets and often involve optimizing a criterion.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Key Concepts: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Partitioning methods optimize the sum of distances between data points and cluster centers.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K-Means is a well-known partitioning-based clustering algorithm.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K-Medoids, K-Medians, and K-Modes are variations of K-Means suited for different data types.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Kernel K-Means extends K-Means to nonlinearly separable data.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1" name="Google Shape;25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Partitioning-Based Clustering Methods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2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Partitioning-Based Clustering Methods</a:t>
            </a:r>
            <a:endParaRPr sz="3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2"/>
            <a:ext cx="7953300" cy="43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K-Means is a widely used partitioning-based clustering algorithm that aims to minimize the sum of squared distances between data points and cluster centroids.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K-Means (MacQueen’67, Lloyd’57/’82)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Each cluster is represented by the center of the cluster 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0" name="Google Shape;260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K-Means Clustering Method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2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Partitioning-Based Clustering Methods</a:t>
            </a:r>
            <a:endParaRPr sz="3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2"/>
            <a:ext cx="7953300" cy="43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Given K, the number of clusters, the K-Means clustering algorithm is outlined as follows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Select K points as initial centroids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Repeat  </a:t>
            </a:r>
            <a:endParaRPr sz="1800">
              <a:solidFill>
                <a:srgbClr val="1F1F1F"/>
              </a:solidFill>
            </a:endParaRPr>
          </a:p>
          <a:p>
            <a:pPr marL="1371600" lvl="2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Form K clusters by assigning each point to its closest centroid  </a:t>
            </a:r>
            <a:endParaRPr sz="1800">
              <a:solidFill>
                <a:srgbClr val="1F1F1F"/>
              </a:solidFill>
            </a:endParaRPr>
          </a:p>
          <a:p>
            <a:pPr marL="1371600" lvl="2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Re-compute the centroids (i.e., mean point) of each cluster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Until convergence criterion is satisfied  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Different kinds of measures can be used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Manhattan distance (L1 norm), Euclidean distance (L2 norm), Cosine similarity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9" name="Google Shape;26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/>
          </a:p>
        </p:txBody>
      </p:sp>
      <p:sp>
        <p:nvSpPr>
          <p:cNvPr id="271" name="Google Shape;271;p26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K-Means Clustering Method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2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Partitioning-Based Clustering Methods</a:t>
            </a:r>
            <a:endParaRPr sz="3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/>
          </a:p>
        </p:txBody>
      </p:sp>
      <p:sp>
        <p:nvSpPr>
          <p:cNvPr id="279" name="Google Shape;279;p27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K-Means Clustering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2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Partitioning-Based Clustering Methods</a:t>
            </a:r>
            <a:endParaRPr sz="3600"/>
          </a:p>
        </p:txBody>
      </p:sp>
      <p:pic>
        <p:nvPicPr>
          <p:cNvPr id="281" name="Google Shape;28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0550" y="1745450"/>
            <a:ext cx="6790500" cy="328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8382000" cy="43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Efficiency: O(tKn) where n: # of objects, K: # of clusters, and t: # of iterations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Normally, K, t &lt;&lt; n; thus, an efficient method  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K-means clustering often terminates at a local optimal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Initialization can be important to find high-quality clusters  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Need to specify K, the number of clusters, in advance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There are ways to automatically determine the “best” K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In practice, one often runs a range of values and selected the “best” K value  </a:t>
            </a:r>
            <a:endParaRPr sz="1800">
              <a:solidFill>
                <a:srgbClr val="1F1F1F"/>
              </a:solidFill>
            </a:endParaRPr>
          </a:p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</p:txBody>
      </p:sp>
      <p:pic>
        <p:nvPicPr>
          <p:cNvPr id="287" name="Google Shape;287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 on the K-Means Method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2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Partitioning-Based Clustering Methods</a:t>
            </a:r>
            <a:endParaRPr sz="3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8382000" cy="43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Sensitive to noisy data and outliers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Variations: Using K-medians, K-medoids, etc.  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K-means is applicable only to objects in a continuous n-dimensional space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Using the K-modes for categorical data  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Not suitable to discover clusters with non-convex shapes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Using density-based clustering, kernel K-means, etc.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96" name="Google Shape;296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/>
          </a:p>
        </p:txBody>
      </p:sp>
      <p:sp>
        <p:nvSpPr>
          <p:cNvPr id="298" name="Google Shape;298;p29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 on the K-Means Method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p29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Partitioning-Based Clustering Methods</a:t>
            </a:r>
            <a:endParaRPr sz="3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8382000" cy="43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There are many variants of the K-Means method, varying in different aspects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Choosing better initial centroid estimates  </a:t>
            </a:r>
            <a:endParaRPr sz="1800">
              <a:solidFill>
                <a:srgbClr val="1F1F1F"/>
              </a:solidFill>
            </a:endParaRPr>
          </a:p>
          <a:p>
            <a:pPr marL="1371600" lvl="2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K-means++, Intelligent K-Means, Genetic K-Means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Choosing different representative prototypes for the clusters  </a:t>
            </a:r>
            <a:endParaRPr sz="1800">
              <a:solidFill>
                <a:srgbClr val="1F1F1F"/>
              </a:solidFill>
            </a:endParaRPr>
          </a:p>
          <a:p>
            <a:pPr marL="1371600" lvl="2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K-Medoids, K-Medians, K-Modes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Applying feature transformation techniques  </a:t>
            </a:r>
            <a:endParaRPr sz="1800">
              <a:solidFill>
                <a:srgbClr val="1F1F1F"/>
              </a:solidFill>
            </a:endParaRPr>
          </a:p>
          <a:p>
            <a:pPr marL="1371600" lvl="2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Weighted K-Means, Kernel K-Means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05" name="Google Shape;3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/>
          </a:p>
        </p:txBody>
      </p:sp>
      <p:sp>
        <p:nvSpPr>
          <p:cNvPr id="307" name="Google Shape;307;p30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Variations of K-Means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p3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Partitioning-Based Clustering Methods</a:t>
            </a:r>
            <a:endParaRPr sz="3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1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8382000" cy="43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Different initializations may generate rather different clustering results (some could be far from optimal)  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Original proposal (MacQueen’67): Select K seeds randomly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Need to run the algorithm multiple times using different seeds  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There are many methods proposed for better initialization of k seeds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K-Means++ (Arthur &amp; Vassilvitskii’07):  </a:t>
            </a:r>
            <a:endParaRPr sz="1800">
              <a:solidFill>
                <a:srgbClr val="1F1F1F"/>
              </a:solidFill>
            </a:endParaRPr>
          </a:p>
          <a:p>
            <a:pPr marL="1371600" lvl="2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The first centroid is selected at random  </a:t>
            </a:r>
            <a:endParaRPr sz="1800">
              <a:solidFill>
                <a:srgbClr val="1F1F1F"/>
              </a:solidFill>
            </a:endParaRPr>
          </a:p>
          <a:p>
            <a:pPr marL="1371600" lvl="2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The next centroid selected is the one that is farthest from the currently selected (selection is based on a weighted probability score)  </a:t>
            </a:r>
            <a:endParaRPr sz="1800">
              <a:solidFill>
                <a:srgbClr val="1F1F1F"/>
              </a:solidFill>
            </a:endParaRPr>
          </a:p>
          <a:p>
            <a:pPr marL="1371600" lvl="2" indent="-34290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The selection continues until K centroids are obtained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14" name="Google Shape;314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endParaRPr/>
          </a:p>
        </p:txBody>
      </p:sp>
      <p:sp>
        <p:nvSpPr>
          <p:cNvPr id="316" name="Google Shape;316;p31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Initialization of K-Means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Google Shape;317;p3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Partitioning-Based Clustering Methods</a:t>
            </a:r>
            <a:endParaRPr sz="3600"/>
          </a:p>
        </p:txBody>
      </p:sp>
      <p:pic>
        <p:nvPicPr>
          <p:cNvPr id="318" name="Google Shape;31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9225" y="1942250"/>
            <a:ext cx="207645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/>
          </a:p>
        </p:txBody>
      </p:sp>
      <p:sp>
        <p:nvSpPr>
          <p:cNvPr id="325" name="Google Shape;325;p32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Poor Initialization May Lead to Poor Clustering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p32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Partitioning-Based Clustering Methods</a:t>
            </a:r>
            <a:endParaRPr sz="3600"/>
          </a:p>
        </p:txBody>
      </p:sp>
      <p:pic>
        <p:nvPicPr>
          <p:cNvPr id="327" name="Google Shape;32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1600" y="1745450"/>
            <a:ext cx="6400800" cy="3127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2"/>
            <a:ext cx="7953300" cy="46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K-Means algorithm is sensitive to outliers!—since an object with an extremely large value may substantially distort the distribution of the data  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K-Medoids: Instead of taking the mean value of the object in a cluster as a reference point, medoids can be used, which is the most centrally located object in a cluster 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33" name="Google Shape;333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/>
          </a:p>
        </p:txBody>
      </p:sp>
      <p:sp>
        <p:nvSpPr>
          <p:cNvPr id="335" name="Google Shape;335;p33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Handling Outliers: From K-Means to K-Medoids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p3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Partitioning-Based Clustering Methods</a:t>
            </a:r>
            <a:endParaRPr sz="3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2"/>
            <a:ext cx="7953300" cy="46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K-Medoids clustering algorithm: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Select K points as the initial representative objects (i.e., as initial K medoids)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Repeat </a:t>
            </a:r>
            <a:endParaRPr sz="1800">
              <a:solidFill>
                <a:srgbClr val="1F1F1F"/>
              </a:solidFill>
            </a:endParaRPr>
          </a:p>
          <a:p>
            <a:pPr marL="1371600" lvl="2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Assigning each point to the cluster with the closest medoid  </a:t>
            </a:r>
            <a:endParaRPr sz="1800">
              <a:solidFill>
                <a:srgbClr val="1F1F1F"/>
              </a:solidFill>
            </a:endParaRPr>
          </a:p>
          <a:p>
            <a:pPr marL="1371600" lvl="2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Randomly select a non-representative object oi  </a:t>
            </a:r>
            <a:endParaRPr sz="1800">
              <a:solidFill>
                <a:srgbClr val="1F1F1F"/>
              </a:solidFill>
            </a:endParaRPr>
          </a:p>
          <a:p>
            <a:pPr marL="1371600" lvl="2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Compute the total cost S of swapping the medoid m with oi  </a:t>
            </a:r>
            <a:endParaRPr sz="1800">
              <a:solidFill>
                <a:srgbClr val="1F1F1F"/>
              </a:solidFill>
            </a:endParaRPr>
          </a:p>
          <a:p>
            <a:pPr marL="1371600" lvl="2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If S &lt; 0, then swap m with oi to form the new set of medoids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Until convergence criterion is satisfied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42" name="Google Shape;342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13</a:t>
            </a:fld>
            <a:endParaRPr/>
          </a:p>
        </p:txBody>
      </p:sp>
      <p:sp>
        <p:nvSpPr>
          <p:cNvPr id="344" name="Google Shape;344;p34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Handling Outliers: From K-Means to K-Medoids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p3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Partitioning-Based Clustering Methods</a:t>
            </a:r>
            <a:endParaRPr sz="3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14</a:t>
            </a:fld>
            <a:endParaRPr/>
          </a:p>
        </p:txBody>
      </p:sp>
      <p:sp>
        <p:nvSpPr>
          <p:cNvPr id="352" name="Google Shape;352;p35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PAM: A Typical K-Medoids Algorithm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" name="Google Shape;353;p3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Partitioning-Based Clustering Methods</a:t>
            </a:r>
            <a:endParaRPr sz="3600"/>
          </a:p>
        </p:txBody>
      </p:sp>
      <p:pic>
        <p:nvPicPr>
          <p:cNvPr id="354" name="Google Shape;35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5400" y="1745450"/>
            <a:ext cx="6400800" cy="3165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2"/>
            <a:ext cx="7953300" cy="46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K-Medoids Clustering: Find representative objects (medoids) in clusters  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PAM (Partitioning Around Medoids: Kaufmann &amp; Rousseeuw 1987)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Starts from an initial set of medoids, and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Iteratively replaces one of the medoids by one of the non-medoids if it improves the total sum of the squared errors (SSE) of the resulting clustering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PAM works effectively for small data sets but does not scale well for large data sets (due to the computational complexity)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Computational complexity: PAM: O(K(n − K)2) (quite expensive!)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60" name="Google Shape;360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15</a:t>
            </a:fld>
            <a:endParaRPr/>
          </a:p>
        </p:txBody>
      </p:sp>
      <p:sp>
        <p:nvSpPr>
          <p:cNvPr id="362" name="Google Shape;362;p36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 on K-Medoids Clustering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3" name="Google Shape;363;p3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Partitioning-Based Clustering Methods</a:t>
            </a:r>
            <a:endParaRPr sz="3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2"/>
            <a:ext cx="7953300" cy="46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Efficiency improvements on PAM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CLARA (Kaufmann &amp; Rousseeuw, 1990):  </a:t>
            </a:r>
            <a:endParaRPr sz="1800">
              <a:solidFill>
                <a:srgbClr val="1F1F1F"/>
              </a:solidFill>
            </a:endParaRPr>
          </a:p>
          <a:p>
            <a:pPr marL="1371600" lvl="2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PAM on samples; O(Ks2 + K(n − K)), s is the sample size  </a:t>
            </a:r>
            <a:endParaRPr sz="1800">
              <a:solidFill>
                <a:srgbClr val="1F1F1F"/>
              </a:solidFill>
            </a:endParaRPr>
          </a:p>
          <a:p>
            <a:pPr marL="1371600" lvl="2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CLARANS (Ng &amp; Han, 1994): Randomized re-sampling, ensuring efficiency + quality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69" name="Google Shape;369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16</a:t>
            </a:fld>
            <a:endParaRPr/>
          </a:p>
        </p:txBody>
      </p:sp>
      <p:sp>
        <p:nvSpPr>
          <p:cNvPr id="371" name="Google Shape;371;p37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 on K-Medoids Clustering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2" name="Google Shape;372;p3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Partitioning-Based Clustering Methods</a:t>
            </a:r>
            <a:endParaRPr sz="3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2"/>
            <a:ext cx="7953300" cy="46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K-Medians and K-Modes are extensions of K-Means that cater to specific data types and requirements.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K-Medians: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Uses medians of attribute values as cluster representatives.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Robust to outliers and non-normal data.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K-Modes: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Suited for categorical data.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Finds modes (most common values) as cluster representatives.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Utilizes dissimilarity measures suitable for categorical attributes.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78" name="Google Shape;378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17</a:t>
            </a:fld>
            <a:endParaRPr/>
          </a:p>
        </p:txBody>
      </p:sp>
      <p:sp>
        <p:nvSpPr>
          <p:cNvPr id="380" name="Google Shape;380;p38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K-Medians and K-Modes Clustering Methods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1" name="Google Shape;381;p3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Partitioning-Based Clustering Methods</a:t>
            </a:r>
            <a:endParaRPr sz="3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2"/>
            <a:ext cx="7953300" cy="46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Medians are less sensitive to outliers than means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Think of the median salary vs. mean salary of a large firm when adding a few top executives!  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K-Medians: Instead of taking the mean value of the object in a cluster as a reference point, medians are used (L1-norm as the distance measure)  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criterion function for the K-Medians algorithm:  </a:t>
            </a:r>
            <a:endParaRPr sz="1800">
              <a:solidFill>
                <a:srgbClr val="1F1F1F"/>
              </a:solidFill>
            </a:endParaRPr>
          </a:p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</p:txBody>
      </p:sp>
      <p:pic>
        <p:nvPicPr>
          <p:cNvPr id="387" name="Google Shape;387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18</a:t>
            </a:fld>
            <a:endParaRPr/>
          </a:p>
        </p:txBody>
      </p:sp>
      <p:sp>
        <p:nvSpPr>
          <p:cNvPr id="389" name="Google Shape;389;p39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K-Medians: Handling Outliers by Computing Medians 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0" name="Google Shape;390;p39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Partitioning-Based Clustering Methods</a:t>
            </a:r>
            <a:endParaRPr sz="3600"/>
          </a:p>
        </p:txBody>
      </p:sp>
      <p:pic>
        <p:nvPicPr>
          <p:cNvPr id="391" name="Google Shape;39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0363" y="3624250"/>
            <a:ext cx="2447925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2"/>
            <a:ext cx="7953300" cy="46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K-Medians clustering algorithm: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Select K points as the initial representative objects (i.e., as initial K medians)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Repeat  </a:t>
            </a:r>
            <a:endParaRPr sz="1800">
              <a:solidFill>
                <a:srgbClr val="1F1F1F"/>
              </a:solidFill>
            </a:endParaRPr>
          </a:p>
          <a:p>
            <a:pPr marL="1371600" lvl="2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Assign every point to its nearest median  </a:t>
            </a:r>
            <a:endParaRPr sz="1800">
              <a:solidFill>
                <a:srgbClr val="1F1F1F"/>
              </a:solidFill>
            </a:endParaRPr>
          </a:p>
          <a:p>
            <a:pPr marL="1371600" lvl="2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Re-compute the median using the median of each individual feature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Until convergence criterion is satisfied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97" name="Google Shape;397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4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19</a:t>
            </a:fld>
            <a:endParaRPr/>
          </a:p>
        </p:txBody>
      </p:sp>
      <p:sp>
        <p:nvSpPr>
          <p:cNvPr id="399" name="Google Shape;399;p40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K-Medians: Handling Outliers by Computing Medians 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0" name="Google Shape;400;p4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Partitioning-Based Clustering Methods</a:t>
            </a:r>
            <a:endParaRPr sz="3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1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2"/>
            <a:ext cx="7953300" cy="46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K-Means cannot handle non-numerical (categorical) data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Mapping categorical value to 1/0 cannot generate quality clusters for highdimensional data  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K-Modes: An extension to K-Means by replacing means of clusters with modes  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Dissimilarity measure between object X and the center of a cluster Z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Φ(xj , zj ) = 1 – nj r /nl when xj = zj ; 1 when xj ǂ zj  </a:t>
            </a:r>
            <a:endParaRPr sz="1800">
              <a:solidFill>
                <a:srgbClr val="1F1F1F"/>
              </a:solidFill>
            </a:endParaRPr>
          </a:p>
          <a:p>
            <a:pPr marL="1371600" lvl="2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where zj is the categorical value of attribute j in Zl , nl is the number of objects in cluster l, and nj r is the number of objects whose attribute value is r  </a:t>
            </a:r>
            <a:endParaRPr sz="1800">
              <a:solidFill>
                <a:srgbClr val="1F1F1F"/>
              </a:solidFill>
            </a:endParaRPr>
          </a:p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</p:txBody>
      </p:sp>
      <p:pic>
        <p:nvPicPr>
          <p:cNvPr id="406" name="Google Shape;406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4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20</a:t>
            </a:fld>
            <a:endParaRPr/>
          </a:p>
        </p:txBody>
      </p:sp>
      <p:sp>
        <p:nvSpPr>
          <p:cNvPr id="408" name="Google Shape;408;p41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K-Modes: Clustering Categorical Data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9" name="Google Shape;409;p4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Partitioning-Based Clustering Methods</a:t>
            </a:r>
            <a:endParaRPr sz="3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2"/>
            <a:ext cx="7953300" cy="46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This dissimilarity measure (distance function) is frequency-based  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Algorithm is still based on iterative object cluster assignment and centroid update  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 fuzzy K-Modes method is proposed to calculate a fuzzy cluster membership value for each object to each cluster  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 mixture of categorical and numerical data: Using a K-Prototype method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15" name="Google Shape;415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4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21</a:t>
            </a:fld>
            <a:endParaRPr/>
          </a:p>
        </p:txBody>
      </p:sp>
      <p:sp>
        <p:nvSpPr>
          <p:cNvPr id="417" name="Google Shape;417;p42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K-Modes: Clustering Categorical Data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8" name="Google Shape;418;p42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Partitioning-Based Clustering Methods</a:t>
            </a:r>
            <a:endParaRPr sz="3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2"/>
            <a:ext cx="7953300" cy="46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Kernel K-Means extends the K-Means algorithm to nonlinearly separable data by mapping it to a higher-dimensional space.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Kernel Trick: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Maps data points to a higher-dimensional space using a kernel function.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In the transformed space, data may become linearly separable.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Applies the standard K-Means algorithm in the transformed space.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Application and Benefits: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Effective for data with complex shapes and patterns.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Allows clustering in feature spaces that are not explicitly defined.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24" name="Google Shape;424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4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22</a:t>
            </a:fld>
            <a:endParaRPr/>
          </a:p>
        </p:txBody>
      </p:sp>
      <p:sp>
        <p:nvSpPr>
          <p:cNvPr id="426" name="Google Shape;426;p43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Kernel K-Means Clustering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7" name="Google Shape;427;p4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Partitioning-Based Clustering Methods</a:t>
            </a:r>
            <a:endParaRPr sz="3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8527800" cy="46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Kernel K-Means to detect non-convex clusters ( K-Means only to linearly separable  )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Idea: Project data onto the high-dimensional kernel space, and then perform K-Means clustering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Map data points in the input space onto a high-dimensional feature space using the kernel function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Perform K-Means on the mapped feature space  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Computational complexity is higher than K-Means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Need to compute and store n x n kernel matrix generated from the kernel function on the original data  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widely studied spectral clustering can be considered as a variant of Kernel K-Means clustering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33" name="Google Shape;433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4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23</a:t>
            </a:fld>
            <a:endParaRPr/>
          </a:p>
        </p:txBody>
      </p:sp>
      <p:sp>
        <p:nvSpPr>
          <p:cNvPr id="435" name="Google Shape;435;p44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Kernel K-Means Clustering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6" name="Google Shape;436;p4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Partitioning-Based Clustering Methods</a:t>
            </a:r>
            <a:endParaRPr sz="3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8527800" cy="46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Typical kernel functions: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Polynomial kernel of degree h: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Gaussian radial basis function (RBF) kernel: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Sigmoid kernel: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 formula for kernel matrix K for any two points xi , xj є Ck is  </a:t>
            </a:r>
            <a:endParaRPr sz="1800">
              <a:solidFill>
                <a:srgbClr val="1F1F1F"/>
              </a:solidFill>
            </a:endParaRPr>
          </a:p>
          <a:p>
            <a:pPr marL="45720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</p:txBody>
      </p:sp>
      <p:pic>
        <p:nvPicPr>
          <p:cNvPr id="442" name="Google Shape;442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24</a:t>
            </a:fld>
            <a:endParaRPr/>
          </a:p>
        </p:txBody>
      </p:sp>
      <p:sp>
        <p:nvSpPr>
          <p:cNvPr id="444" name="Google Shape;444;p45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Kernel Functions and Kernel K-Means Clustering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5" name="Google Shape;445;p4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Partitioning-Based Clustering Methods</a:t>
            </a:r>
            <a:endParaRPr sz="3600"/>
          </a:p>
        </p:txBody>
      </p:sp>
      <p:pic>
        <p:nvPicPr>
          <p:cNvPr id="446" name="Google Shape;446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3875" y="2025500"/>
            <a:ext cx="19621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86463" y="2273138"/>
            <a:ext cx="2447925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24225" y="2647950"/>
            <a:ext cx="24955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84225" y="3418350"/>
            <a:ext cx="2066925" cy="35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8527800" cy="46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SSE criterion of kernel K-means:  </a:t>
            </a:r>
            <a:endParaRPr sz="1800">
              <a:solidFill>
                <a:srgbClr val="1F1F1F"/>
              </a:solidFill>
            </a:endParaRPr>
          </a:p>
          <a:p>
            <a:pPr marL="45720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 formula for the cluster centroid:  </a:t>
            </a:r>
            <a:endParaRPr sz="1800">
              <a:solidFill>
                <a:srgbClr val="1F1F1F"/>
              </a:solidFill>
            </a:endParaRPr>
          </a:p>
          <a:p>
            <a:pPr marL="91440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91440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91440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Clustering can be performed without the actual individual projections φ(xi ) and φ(xj ) for the data points xi , xj є Ck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55" name="Google Shape;455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4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25</a:t>
            </a:fld>
            <a:endParaRPr/>
          </a:p>
        </p:txBody>
      </p:sp>
      <p:sp>
        <p:nvSpPr>
          <p:cNvPr id="457" name="Google Shape;457;p46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Kernel Functions and Kernel K-Means Clustering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8" name="Google Shape;458;p4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Partitioning-Based Clustering Methods</a:t>
            </a:r>
            <a:endParaRPr sz="3600"/>
          </a:p>
        </p:txBody>
      </p:sp>
      <p:pic>
        <p:nvPicPr>
          <p:cNvPr id="459" name="Google Shape;45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1575" y="1745450"/>
            <a:ext cx="31813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7125" y="2640763"/>
            <a:ext cx="1657350" cy="86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616200" y="1609475"/>
            <a:ext cx="8527800" cy="46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600" dirty="0">
                <a:solidFill>
                  <a:srgbClr val="1F1F1F"/>
                </a:solidFill>
              </a:rPr>
              <a:t>Gaussian radial basis function (RBF) kernel: K(Xi , </a:t>
            </a:r>
            <a:r>
              <a:rPr lang="en-GB" sz="1600" dirty="0" err="1">
                <a:solidFill>
                  <a:srgbClr val="1F1F1F"/>
                </a:solidFill>
              </a:rPr>
              <a:t>Xj</a:t>
            </a:r>
            <a:r>
              <a:rPr lang="en-GB" sz="1600" dirty="0">
                <a:solidFill>
                  <a:srgbClr val="1F1F1F"/>
                </a:solidFill>
              </a:rPr>
              <a:t> ) =  </a:t>
            </a:r>
            <a:endParaRPr sz="1600" dirty="0">
              <a:solidFill>
                <a:srgbClr val="1F1F1F"/>
              </a:solidFill>
            </a:endParaRPr>
          </a:p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600" dirty="0">
                <a:solidFill>
                  <a:srgbClr val="1F1F1F"/>
                </a:solidFill>
              </a:rPr>
              <a:t>Suppose there are 5 original 2-dimensional points: </a:t>
            </a:r>
            <a:endParaRPr sz="1600" dirty="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600" dirty="0">
                <a:solidFill>
                  <a:srgbClr val="1F1F1F"/>
                </a:solidFill>
              </a:rPr>
              <a:t>x1(0, 0), x2(4, 4), x3(-4, 4), x4(-4, -4), x5(4, -4)  </a:t>
            </a:r>
            <a:endParaRPr sz="1600" dirty="0">
              <a:solidFill>
                <a:srgbClr val="1F1F1F"/>
              </a:solidFill>
            </a:endParaRPr>
          </a:p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600" dirty="0">
                <a:solidFill>
                  <a:srgbClr val="1F1F1F"/>
                </a:solidFill>
              </a:rPr>
              <a:t>If we set 𝜎 to 4, we will have the following points in the kernel space  </a:t>
            </a:r>
            <a:endParaRPr sz="1600" dirty="0">
              <a:solidFill>
                <a:srgbClr val="1F1F1F"/>
              </a:solidFill>
            </a:endParaRPr>
          </a:p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endParaRPr sz="1600" dirty="0">
              <a:solidFill>
                <a:srgbClr val="1F1F1F"/>
              </a:solidFill>
            </a:endParaRPr>
          </a:p>
        </p:txBody>
      </p:sp>
      <p:pic>
        <p:nvPicPr>
          <p:cNvPr id="466" name="Google Shape;466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26</a:t>
            </a:fld>
            <a:endParaRPr/>
          </a:p>
        </p:txBody>
      </p:sp>
      <p:sp>
        <p:nvSpPr>
          <p:cNvPr id="468" name="Google Shape;468;p47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Kernel Functions and Kernel K-Means Clustering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9" name="Google Shape;469;p4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 dirty="0"/>
              <a:t>Partitioning-Based Clustering Methods</a:t>
            </a:r>
            <a:endParaRPr sz="3600" dirty="0"/>
          </a:p>
        </p:txBody>
      </p:sp>
      <p:pic>
        <p:nvPicPr>
          <p:cNvPr id="470" name="Google Shape;470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6876" y="1683670"/>
            <a:ext cx="15525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64550" y="2923260"/>
            <a:ext cx="6014901" cy="214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2922100"/>
            <a:ext cx="8527800" cy="46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above data set cannot generate quality clusters by K-Means since it contains non-covex clusters 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Gaussian RBF Kernel transformation maps data to a kernel matrix K for any two points xi , xj : </a:t>
            </a:r>
            <a:endParaRPr sz="1800">
              <a:solidFill>
                <a:srgbClr val="1F1F1F"/>
              </a:solidFill>
            </a:endParaRPr>
          </a:p>
          <a:p>
            <a:pPr marL="45720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and Gaussian kernel:  </a:t>
            </a:r>
            <a:endParaRPr sz="1800">
              <a:solidFill>
                <a:srgbClr val="1F1F1F"/>
              </a:solidFill>
            </a:endParaRPr>
          </a:p>
          <a:p>
            <a:pPr marL="45720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K-Means clustering is conducted on the mapped data, generating quality clusters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77" name="Google Shape;477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4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27</a:t>
            </a:fld>
            <a:endParaRPr/>
          </a:p>
        </p:txBody>
      </p:sp>
      <p:sp>
        <p:nvSpPr>
          <p:cNvPr id="479" name="Google Shape;479;p48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Kernel K-Means Clustering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0" name="Google Shape;480;p4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Partitioning-Based Clustering Methods</a:t>
            </a:r>
            <a:endParaRPr sz="3600"/>
          </a:p>
        </p:txBody>
      </p:sp>
      <p:pic>
        <p:nvPicPr>
          <p:cNvPr id="481" name="Google Shape;481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9363" y="3790950"/>
            <a:ext cx="19526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8500" y="4114788"/>
            <a:ext cx="24669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03300" y="1569950"/>
            <a:ext cx="5430974" cy="144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2"/>
            <a:ext cx="7953300" cy="46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K-Means: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Uses centroids as cluster representatives.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Sensitive to outliers and noise.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Efficient for large datasets.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Euclidean distance commonly used.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K-Medoids: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Uses actual data points (medoids) as representatives.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Robust to outliers and noise.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More interpretable and robust.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89" name="Google Shape;489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4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28</a:t>
            </a:fld>
            <a:endParaRPr/>
          </a:p>
        </p:txBody>
      </p:sp>
      <p:sp>
        <p:nvSpPr>
          <p:cNvPr id="491" name="Google Shape;491;p49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Comparing K-Means, K-Medoids, and K-Modes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2" name="Google Shape;492;p49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Partitioning-Based Clustering Methods</a:t>
            </a:r>
            <a:endParaRPr sz="36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2"/>
            <a:ext cx="7953300" cy="46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K-Modes: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Caters to categorical data.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Identifies modes as representatives.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Applicable for nominal and ordinal data.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Understanding the differences and trade-offs between these methods helps in selecting the right approach for your clustering task.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98" name="Google Shape;498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5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29</a:t>
            </a:fld>
            <a:endParaRPr/>
          </a:p>
        </p:txBody>
      </p:sp>
      <p:sp>
        <p:nvSpPr>
          <p:cNvPr id="500" name="Google Shape;500;p50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Comparing K-Means, K-Medoids, and K-Modes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1" name="Google Shape;501;p5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Partitioning-Based Clustering Methods</a:t>
            </a:r>
            <a:endParaRPr sz="3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1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2"/>
            <a:ext cx="7953300" cy="46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Partitioning-based clustering methods find applications in diverse domains beyond traditional data mining.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Applications: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Customer segmentation for targeted marketing.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Image compression using vector quantization (K-Means).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Document clustering for topic discovery.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Disease subtyping in healthcare research.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Anomaly detection for cybersecurity.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 versatility of partitioning-based methods makes them indispensable tools in various data analysis tasks.</a:t>
            </a:r>
            <a:endParaRPr sz="1800">
              <a:solidFill>
                <a:srgbClr val="1F1F1F"/>
              </a:solidFill>
            </a:endParaRPr>
          </a:p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</p:txBody>
      </p:sp>
      <p:pic>
        <p:nvPicPr>
          <p:cNvPr id="507" name="Google Shape;507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5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30</a:t>
            </a:fld>
            <a:endParaRPr/>
          </a:p>
        </p:txBody>
      </p:sp>
      <p:sp>
        <p:nvSpPr>
          <p:cNvPr id="509" name="Google Shape;509;p51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Practical Applications and Beyond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0" name="Google Shape;510;p5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Partitioning-Based Clustering Methods</a:t>
            </a:r>
            <a:endParaRPr sz="36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2"/>
            <a:ext cx="7953300" cy="46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7338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 this lesson, we explored Partitioning-Based Clustering Methods: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K-Means partitions data based on squared distances to centroids.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Initialization methods influence K-Means convergence and results.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K-Medoids uses data points as medoids for robustness.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K-Medians and K-Modes cater to specific data types.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Kernel K-Means extends clustering to nonlinear data.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Challenges include initialization sensitivity and K estimation.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Evaluation methods ensure reliable clustering outcomes.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16" name="Google Shape;516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5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31</a:t>
            </a:fld>
            <a:endParaRPr/>
          </a:p>
        </p:txBody>
      </p:sp>
      <p:sp>
        <p:nvSpPr>
          <p:cNvPr id="518" name="Google Shape;518;p52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Recap and Key Takeaways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9" name="Google Shape;519;p52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Partitioning-Based Clustering Methods</a:t>
            </a:r>
            <a:endParaRPr sz="3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Summary</a:t>
            </a:r>
            <a:endParaRPr sz="3600"/>
          </a:p>
        </p:txBody>
      </p:sp>
      <p:sp>
        <p:nvSpPr>
          <p:cNvPr id="525" name="Google Shape;525;p5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K-Means and K-Medoids methods.</a:t>
            </a:r>
            <a:endParaRPr sz="1800">
              <a:solidFill>
                <a:srgbClr val="000000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Application to diverse datasets.</a:t>
            </a:r>
            <a:endParaRPr sz="1800">
              <a:solidFill>
                <a:srgbClr val="000000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Explore cluster boundaries.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526" name="Google Shape;526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5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32</a:t>
            </a:fld>
            <a:endParaRPr/>
          </a:p>
        </p:txBody>
      </p:sp>
      <p:sp>
        <p:nvSpPr>
          <p:cNvPr id="528" name="Google Shape;528;p53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9" name="Google Shape;529;p53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Partitioning Clustering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2031</Words>
  <Application>Microsoft Macintosh PowerPoint</Application>
  <PresentationFormat>On-screen Show (16:9)</PresentationFormat>
  <Paragraphs>263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Noto Sans Symbols</vt:lpstr>
      <vt:lpstr>Arial</vt:lpstr>
      <vt:lpstr>Tahoma</vt:lpstr>
      <vt:lpstr>Times New Roman</vt:lpstr>
      <vt:lpstr>Simple Light</vt:lpstr>
      <vt:lpstr>1_Blueprint</vt:lpstr>
      <vt:lpstr>Blueprint</vt:lpstr>
      <vt:lpstr>Chapter 4:  Cluster Analysis in Data Mining</vt:lpstr>
      <vt:lpstr>Partitioning-Based Clustering Methods</vt:lpstr>
      <vt:lpstr>Partitioning-Based Clustering Methods</vt:lpstr>
      <vt:lpstr>Partitioning-Based Clustering Methods</vt:lpstr>
      <vt:lpstr>Partitioning-Based Clustering Methods</vt:lpstr>
      <vt:lpstr>Partitioning-Based Clustering Methods</vt:lpstr>
      <vt:lpstr>Partitioning-Based Clustering Methods</vt:lpstr>
      <vt:lpstr>Partitioning-Based Clustering Methods</vt:lpstr>
      <vt:lpstr>Partitioning-Based Clustering Methods</vt:lpstr>
      <vt:lpstr>Partitioning-Based Clustering Methods</vt:lpstr>
      <vt:lpstr>Partitioning-Based Clustering Methods</vt:lpstr>
      <vt:lpstr>Partitioning-Based Clustering Methods</vt:lpstr>
      <vt:lpstr>Partitioning-Based Clustering Methods</vt:lpstr>
      <vt:lpstr>Partitioning-Based Clustering Methods</vt:lpstr>
      <vt:lpstr>Partitioning-Based Clustering Methods</vt:lpstr>
      <vt:lpstr>Partitioning-Based Clustering Methods</vt:lpstr>
      <vt:lpstr>Partitioning-Based Clustering Methods</vt:lpstr>
      <vt:lpstr>Partitioning-Based Clustering Methods</vt:lpstr>
      <vt:lpstr>Partitioning-Based Clustering Methods</vt:lpstr>
      <vt:lpstr>Partitioning-Based Clustering Methods</vt:lpstr>
      <vt:lpstr>Partitioning-Based Clustering Methods</vt:lpstr>
      <vt:lpstr>Partitioning-Based Clustering Methods</vt:lpstr>
      <vt:lpstr>Partitioning-Based Clustering Methods</vt:lpstr>
      <vt:lpstr>Partitioning-Based Clustering Methods</vt:lpstr>
      <vt:lpstr>Partitioning-Based Clustering Methods</vt:lpstr>
      <vt:lpstr>Partitioning-Based Clustering Methods</vt:lpstr>
      <vt:lpstr>Partitioning-Based Clustering Methods</vt:lpstr>
      <vt:lpstr>Partitioning-Based Clustering Methods</vt:lpstr>
      <vt:lpstr>Partitioning-Based Clustering Methods</vt:lpstr>
      <vt:lpstr>Partitioning-Based Clustering Methods</vt:lpstr>
      <vt:lpstr>Partitioning-Based Clustering Methods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Văn Anh Duy</cp:lastModifiedBy>
  <cp:revision>1</cp:revision>
  <dcterms:modified xsi:type="dcterms:W3CDTF">2026-03-10T06:01:24Z</dcterms:modified>
</cp:coreProperties>
</file>