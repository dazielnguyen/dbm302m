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67" r:id="rId2"/>
    <p:sldMasterId id="2147483668" r:id="rId3"/>
  </p:sldMasterIdLst>
  <p:notesMasterIdLst>
    <p:notesMasterId r:id="rId3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9144000" cy="5143500" type="screen16x9"/>
  <p:notesSz cx="6858000" cy="9144000"/>
  <p:embeddedFontLst>
    <p:embeddedFont>
      <p:font typeface="Noto Sans Symbols" pitchFamily="2" charset="0"/>
      <p:regular r:id="rId40"/>
      <p:bold r:id="rId41"/>
    </p:embeddedFont>
    <p:embeddedFont>
      <p:font typeface="Roboto" panose="02000000000000000000" pitchFamily="2" charset="0"/>
      <p:regular r:id="rId42"/>
      <p:bold r:id="rId43"/>
      <p:italic r:id="rId44"/>
      <p:boldItalic r:id="rId45"/>
    </p:embeddedFont>
    <p:embeddedFont>
      <p:font typeface="Tahoma" panose="020B0604030504040204" pitchFamily="34" charset="0"/>
      <p:regular r:id="rId46"/>
      <p:bold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94676"/>
  </p:normalViewPr>
  <p:slideViewPr>
    <p:cSldViewPr snapToGrid="0">
      <p:cViewPr varScale="1">
        <p:scale>
          <a:sx n="199" d="100"/>
          <a:sy n="199" d="100"/>
        </p:scale>
        <p:origin x="176" y="2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font" Target="fonts/font5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font" Target="fonts/font4.fntdata"/><Relationship Id="rId48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font" Target="fonts/font7.fntdata"/><Relationship Id="rId20" Type="http://schemas.openxmlformats.org/officeDocument/2006/relationships/slide" Target="slides/slide17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82b55a4a5_0_4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2" name="Google Shape;232;g2582b55a4a5_0_419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100" tIns="45550" rIns="91100" bIns="455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g2582b55a4a5_0_419:notes"/>
          <p:cNvSpPr txBox="1"/>
          <p:nvPr/>
        </p:nvSpPr>
        <p:spPr>
          <a:xfrm>
            <a:off x="3886696" y="8686800"/>
            <a:ext cx="2971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100" tIns="45550" rIns="91100" bIns="4555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lang="en-GB" sz="1200" b="0" i="0" u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</a:t>
            </a:fld>
            <a:endParaRPr sz="13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582b55a4a5_0_62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g2582b55a4a5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39ee772909_0_18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g239ee772909_0_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610545525b_0_1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2610545525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610545525b_0_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610545525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39f190895e_0_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g239f190895e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610545525b_0_2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2610545525b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39f190895e_0_1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g239f190895e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610545525b_0_2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g2610545525b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610545525b_0_39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g2610545525b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610545525b_0_5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2610545525b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2610545525b_0_6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610545525b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610545525b_0_77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g2610545525b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239f190895e_0_2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g239f190895e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2610545525b_0_92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g2610545525b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2610545525b_0_10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g2610545525b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39f190895e_0_4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g239f190895e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2610545525b_0_13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2610545525b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610545525b_0_14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g2610545525b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4175" y="687388"/>
            <a:ext cx="6091238" cy="342741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39f190895e_0_71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g239f190895e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2610545525b_0_159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g2610545525b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2610545525b_0_169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g2610545525b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239f190895e_0_82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g239f190895e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23b9c12e504_0_1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g23b9c12e504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23b9c12e504_0_14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g23b9c12e504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239f190895e_0_9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g239f190895e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23b9c12e504_0_31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g23b9c12e504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23b9c12e504_0_45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g23b9c12e504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23b9c12e504_0_58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g23b9c12e504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239f190895e_0_10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g239f190895e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239f190895e_0_114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6" name="Google Shape;536;g239f190895e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239f190895e_0_124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g239f190895e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239f190895e_0_133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g239f190895e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239f190895e_0_157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g239f190895e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24c733b64a8_0_0:notes"/>
          <p:cNvSpPr txBox="1">
            <a:spLocks noGrp="1"/>
          </p:cNvSpPr>
          <p:nvPr>
            <p:ph type="body" idx="1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g24c733b64a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29100" y="687314"/>
            <a:ext cx="6001500" cy="3427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hart" type="txAndChart">
  <p:cSld name="TEXT_AND_CHAR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■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●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>
            <a:spLocks noGrp="1"/>
          </p:cNvSpPr>
          <p:nvPr>
            <p:ph type="chart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 txBox="1">
            <a:spLocks noGrp="1"/>
          </p:cNvSpPr>
          <p:nvPr>
            <p:ph type="ctrTitle"/>
          </p:nvPr>
        </p:nvSpPr>
        <p:spPr>
          <a:xfrm>
            <a:off x="990600" y="13144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5" descr="Rectangle: Click to edit Master text styles&#10;Second level&#10;Third level&#10;Fourth level&#10;Fifth level"/>
          <p:cNvSpPr txBox="1">
            <a:spLocks noGrp="1"/>
          </p:cNvSpPr>
          <p:nvPr>
            <p:ph type="subTitle" idx="1"/>
          </p:nvPr>
        </p:nvSpPr>
        <p:spPr>
          <a:xfrm>
            <a:off x="990600" y="2482453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 rtl="0">
              <a:spcBef>
                <a:spcPts val="640"/>
              </a:spcBef>
              <a:spcAft>
                <a:spcPts val="0"/>
              </a:spcAft>
              <a:buSzPts val="1920"/>
              <a:buFont typeface="Noto Sans Symbols"/>
              <a:buNone/>
              <a:defRPr/>
            </a:lvl1pPr>
            <a:lvl2pPr lvl="1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lvl="2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lvl="3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lvl="4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lvl="5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lvl="6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lvl="7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lvl="8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130" name="Google Shape;130;p15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1" name="Google Shape;131;p15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hart" type="txAndChart">
  <p:cSld name="TEXT_AND_CHART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7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02" name="Google Shape;202;p17"/>
          <p:cNvSpPr>
            <a:spLocks noGrp="1"/>
          </p:cNvSpPr>
          <p:nvPr>
            <p:ph type="chart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03" name="Google Shape;203;p17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7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7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, and Content" type="txAndObj">
  <p:cSld name="TEXT_AND_OBJECT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8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09" name="Google Shape;209;p18"/>
          <p:cNvSpPr txBox="1">
            <a:spLocks noGrp="1"/>
          </p:cNvSpPr>
          <p:nvPr>
            <p:ph type="body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10" name="Google Shape;210;p18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18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18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19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19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9" name="Google Shape;219;p20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5280" algn="l" rtl="0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marL="914400" lvl="1" indent="-320040" algn="l" rtl="0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marL="1371600" lvl="2" indent="-349250" algn="l" rtl="0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>
            <a:endParaRPr/>
          </a:p>
        </p:txBody>
      </p:sp>
      <p:sp>
        <p:nvSpPr>
          <p:cNvPr id="220" name="Google Shape;220;p20"/>
          <p:cNvSpPr txBox="1">
            <a:spLocks noGrp="1"/>
          </p:cNvSpPr>
          <p:nvPr>
            <p:ph type="body" idx="2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35280" algn="l" rtl="0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marL="914400" lvl="1" indent="-320040" algn="l" rtl="0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marL="1371600" lvl="2" indent="-349250" algn="l" rtl="0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>
            <a:endParaRPr/>
          </a:p>
        </p:txBody>
      </p:sp>
      <p:sp>
        <p:nvSpPr>
          <p:cNvPr id="221" name="Google Shape;221;p20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20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0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1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1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marL="914400" lvl="1" indent="-297180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marL="1371600" lvl="2" indent="-337185" algn="l" rtl="0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marL="1828800" lvl="3" indent="-302894" algn="l" rtl="0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marL="2286000" lvl="4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marL="2743200" lvl="5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marL="3200400" lvl="6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marL="3657600" lvl="7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marL="4114800" lvl="8" indent="-297179" algn="l" rtl="0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>
            <a:endParaRPr/>
          </a:p>
        </p:txBody>
      </p:sp>
      <p:sp>
        <p:nvSpPr>
          <p:cNvPr id="227" name="Google Shape;227;p21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1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1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14"/>
          <p:cNvGrpSpPr/>
          <p:nvPr/>
        </p:nvGrpSpPr>
        <p:grpSpPr>
          <a:xfrm>
            <a:off x="-136525" y="0"/>
            <a:ext cx="9204325" cy="5029200"/>
            <a:chOff x="-86" y="0"/>
            <a:chExt cx="5798" cy="4224"/>
          </a:xfrm>
        </p:grpSpPr>
        <p:grpSp>
          <p:nvGrpSpPr>
            <p:cNvPr id="59" name="Google Shape;59;p14"/>
            <p:cNvGrpSpPr/>
            <p:nvPr/>
          </p:nvGrpSpPr>
          <p:grpSpPr>
            <a:xfrm>
              <a:off x="0" y="0"/>
              <a:ext cx="5712" cy="4224"/>
              <a:chOff x="0" y="0"/>
              <a:chExt cx="5712" cy="4224"/>
            </a:xfrm>
          </p:grpSpPr>
          <p:sp>
            <p:nvSpPr>
              <p:cNvPr id="60" name="Google Shape;60;p14"/>
              <p:cNvSpPr txBox="1"/>
              <p:nvPr/>
            </p:nvSpPr>
            <p:spPr>
              <a:xfrm>
                <a:off x="2112" y="0"/>
                <a:ext cx="3600" cy="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  <p:grpSp>
            <p:nvGrpSpPr>
              <p:cNvPr id="61" name="Google Shape;61;p14"/>
              <p:cNvGrpSpPr/>
              <p:nvPr/>
            </p:nvGrpSpPr>
            <p:grpSpPr>
              <a:xfrm>
                <a:off x="0" y="0"/>
                <a:ext cx="5700" cy="4224"/>
                <a:chOff x="0" y="0"/>
                <a:chExt cx="5700" cy="4224"/>
              </a:xfrm>
            </p:grpSpPr>
            <p:cxnSp>
              <p:nvCxnSpPr>
                <p:cNvPr id="62" name="Google Shape;62;p14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3" name="Google Shape;63;p14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4" name="Google Shape;64;p14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5" name="Google Shape;65;p14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6" name="Google Shape;66;p14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7" name="Google Shape;67;p14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8" name="Google Shape;68;p14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69" name="Google Shape;69;p14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0" name="Google Shape;70;p14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1" name="Google Shape;71;p14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2" name="Google Shape;72;p14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3" name="Google Shape;73;p14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4" name="Google Shape;74;p14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5" name="Google Shape;75;p14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6" name="Google Shape;76;p14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7" name="Google Shape;77;p14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8" name="Google Shape;78;p14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79" name="Google Shape;79;p14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0" name="Google Shape;80;p14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1" name="Google Shape;81;p14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2" name="Google Shape;82;p14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3" name="Google Shape;83;p14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4" name="Google Shape;84;p14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5" name="Google Shape;85;p14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6" name="Google Shape;86;p14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7" name="Google Shape;87;p14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8" name="Google Shape;88;p14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89" name="Google Shape;89;p14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0" name="Google Shape;90;p14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1" name="Google Shape;91;p14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2" name="Google Shape;92;p14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3" name="Google Shape;93;p14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4" name="Google Shape;94;p14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5" name="Google Shape;95;p14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6" name="Google Shape;96;p14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7" name="Google Shape;97;p14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8" name="Google Shape;98;p14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99" name="Google Shape;99;p14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0" name="Google Shape;100;p14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1" name="Google Shape;101;p14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2" name="Google Shape;102;p14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3" name="Google Shape;103;p14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4" name="Google Shape;104;p14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5" name="Google Shape;105;p14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6" name="Google Shape;106;p14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7" name="Google Shape;107;p14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8" name="Google Shape;108;p14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09" name="Google Shape;109;p14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0" name="Google Shape;110;p14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1" name="Google Shape;111;p14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12" name="Google Shape;112;p14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  <p:cxnSp>
            <p:nvCxnSpPr>
              <p:cNvPr id="113" name="Google Shape;113;p14"/>
              <p:cNvCxnSpPr/>
              <p:nvPr/>
            </p:nvCxnSpPr>
            <p:spPr>
              <a:xfrm>
                <a:off x="5568" y="0"/>
                <a:ext cx="0" cy="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</p:grpSp>
        <p:grpSp>
          <p:nvGrpSpPr>
            <p:cNvPr id="114" name="Google Shape;114;p14"/>
            <p:cNvGrpSpPr/>
            <p:nvPr/>
          </p:nvGrpSpPr>
          <p:grpSpPr>
            <a:xfrm>
              <a:off x="-86" y="559"/>
              <a:ext cx="4281" cy="1800"/>
              <a:chOff x="-86" y="559"/>
              <a:chExt cx="4281" cy="1800"/>
            </a:xfrm>
          </p:grpSpPr>
          <p:cxnSp>
            <p:nvCxnSpPr>
              <p:cNvPr id="115" name="Google Shape;115;p14"/>
              <p:cNvCxnSpPr/>
              <p:nvPr/>
            </p:nvCxnSpPr>
            <p:spPr>
              <a:xfrm>
                <a:off x="506" y="559"/>
                <a:ext cx="0" cy="1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16" name="Google Shape;116;p14"/>
              <p:cNvCxnSpPr/>
              <p:nvPr/>
            </p:nvCxnSpPr>
            <p:spPr>
              <a:xfrm rot="10800000">
                <a:off x="-86" y="1925"/>
                <a:ext cx="3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17" name="Google Shape;117;p14"/>
              <p:cNvCxnSpPr/>
              <p:nvPr/>
            </p:nvCxnSpPr>
            <p:spPr>
              <a:xfrm rot="10800000">
                <a:off x="295" y="939"/>
                <a:ext cx="3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18" name="Google Shape;118;p14"/>
              <p:cNvSpPr/>
              <p:nvPr/>
            </p:nvSpPr>
            <p:spPr>
              <a:xfrm rot="-5400000" flipH="1">
                <a:off x="425" y="860"/>
                <a:ext cx="108" cy="108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1480" y="1952"/>
              <a:ext cx="3900" cy="1800"/>
              <a:chOff x="1480" y="1952"/>
              <a:chExt cx="3900" cy="1800"/>
            </a:xfrm>
          </p:grpSpPr>
          <p:cxnSp>
            <p:nvCxnSpPr>
              <p:cNvPr id="120" name="Google Shape;120;p14"/>
              <p:cNvCxnSpPr/>
              <p:nvPr/>
            </p:nvCxnSpPr>
            <p:spPr>
              <a:xfrm>
                <a:off x="1480" y="3442"/>
                <a:ext cx="39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14"/>
              <p:cNvCxnSpPr/>
              <p:nvPr/>
            </p:nvCxnSpPr>
            <p:spPr>
              <a:xfrm>
                <a:off x="5172" y="1952"/>
                <a:ext cx="0" cy="1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22" name="Google Shape;122;p14"/>
              <p:cNvSpPr/>
              <p:nvPr/>
            </p:nvSpPr>
            <p:spPr>
              <a:xfrm rot="5400000">
                <a:off x="5145" y="3347"/>
                <a:ext cx="108" cy="108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23" name="Google Shape;123;p1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24" name="Google Shape;124;p1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052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528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73380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111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4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6"/>
          <p:cNvGrpSpPr/>
          <p:nvPr/>
        </p:nvGrpSpPr>
        <p:grpSpPr>
          <a:xfrm>
            <a:off x="0" y="0"/>
            <a:ext cx="9067800" cy="5029200"/>
            <a:chOff x="0" y="0"/>
            <a:chExt cx="5712" cy="4224"/>
          </a:xfrm>
        </p:grpSpPr>
        <p:grpSp>
          <p:nvGrpSpPr>
            <p:cNvPr id="134" name="Google Shape;134;p16"/>
            <p:cNvGrpSpPr/>
            <p:nvPr/>
          </p:nvGrpSpPr>
          <p:grpSpPr>
            <a:xfrm>
              <a:off x="0" y="0"/>
              <a:ext cx="5700" cy="4224"/>
              <a:chOff x="0" y="0"/>
              <a:chExt cx="5700" cy="4224"/>
            </a:xfrm>
          </p:grpSpPr>
          <p:grpSp>
            <p:nvGrpSpPr>
              <p:cNvPr id="135" name="Google Shape;135;p16"/>
              <p:cNvGrpSpPr/>
              <p:nvPr/>
            </p:nvGrpSpPr>
            <p:grpSpPr>
              <a:xfrm>
                <a:off x="0" y="192"/>
                <a:ext cx="5700" cy="4032"/>
                <a:chOff x="0" y="192"/>
                <a:chExt cx="5700" cy="4032"/>
              </a:xfrm>
            </p:grpSpPr>
            <p:cxnSp>
              <p:nvCxnSpPr>
                <p:cNvPr id="136" name="Google Shape;136;p16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7" name="Google Shape;137;p16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8" name="Google Shape;138;p16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39" name="Google Shape;139;p16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0" name="Google Shape;140;p16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1" name="Google Shape;141;p16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2" name="Google Shape;142;p16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3" name="Google Shape;143;p16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4" name="Google Shape;144;p16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5" name="Google Shape;145;p16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6" name="Google Shape;146;p16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7" name="Google Shape;147;p16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8" name="Google Shape;148;p16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49" name="Google Shape;149;p16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0" name="Google Shape;150;p16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1" name="Google Shape;151;p16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2" name="Google Shape;152;p16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3" name="Google Shape;153;p16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4" name="Google Shape;154;p16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5" name="Google Shape;155;p16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6" name="Google Shape;156;p16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57" name="Google Shape;157;p16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58" name="Google Shape;158;p16"/>
              <p:cNvGrpSpPr/>
              <p:nvPr/>
            </p:nvGrpSpPr>
            <p:grpSpPr>
              <a:xfrm>
                <a:off x="192" y="0"/>
                <a:ext cx="5376" cy="4200"/>
                <a:chOff x="192" y="0"/>
                <a:chExt cx="5376" cy="4200"/>
              </a:xfrm>
            </p:grpSpPr>
            <p:cxnSp>
              <p:nvCxnSpPr>
                <p:cNvPr id="159" name="Google Shape;159;p16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0" name="Google Shape;160;p16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1" name="Google Shape;161;p16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2" name="Google Shape;162;p16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3" name="Google Shape;163;p16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4" name="Google Shape;164;p16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5" name="Google Shape;165;p16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6" name="Google Shape;166;p16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7" name="Google Shape;167;p16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8" name="Google Shape;168;p16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69" name="Google Shape;169;p16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0" name="Google Shape;170;p16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1" name="Google Shape;171;p16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2" name="Google Shape;172;p16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3" name="Google Shape;173;p16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4" name="Google Shape;174;p16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5" name="Google Shape;175;p16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6" name="Google Shape;176;p16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7" name="Google Shape;177;p16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8" name="Google Shape;178;p16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79" name="Google Shape;179;p16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0" name="Google Shape;180;p16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1" name="Google Shape;181;p16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2" name="Google Shape;182;p16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3" name="Google Shape;183;p16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4" name="Google Shape;184;p16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5" name="Google Shape;185;p16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6" name="Google Shape;186;p16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  <p:cxnSp>
              <p:nvCxnSpPr>
                <p:cNvPr id="187" name="Google Shape;187;p16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folHlink"/>
                  </a:solidFill>
                  <a:prstDash val="solid"/>
                  <a:miter lim="800000"/>
                  <a:headEnd type="none" w="med" len="med"/>
                  <a:tailEnd type="none" w="med" len="med"/>
                </a:ln>
              </p:spPr>
            </p:cxnSp>
          </p:grpSp>
        </p:grpSp>
        <p:sp>
          <p:nvSpPr>
            <p:cNvPr id="188" name="Google Shape;188;p16" descr="60%"/>
            <p:cNvSpPr txBox="1"/>
            <p:nvPr/>
          </p:nvSpPr>
          <p:spPr>
            <a:xfrm>
              <a:off x="2112" y="0"/>
              <a:ext cx="3600" cy="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cxnSp>
          <p:nvCxnSpPr>
            <p:cNvPr id="189" name="Google Shape;189;p16"/>
            <p:cNvCxnSpPr/>
            <p:nvPr/>
          </p:nvCxnSpPr>
          <p:spPr>
            <a:xfrm>
              <a:off x="5568" y="0"/>
              <a:ext cx="0" cy="1500"/>
            </a:xfrm>
            <a:prstGeom prst="straightConnector1">
              <a:avLst/>
            </a:prstGeom>
            <a:noFill/>
            <a:ln w="9525" cap="flat" cmpd="sng">
              <a:solidFill>
                <a:schemeClr val="hlink"/>
              </a:solidFill>
              <a:prstDash val="solid"/>
              <a:miter lim="800000"/>
              <a:headEnd type="none" w="med" len="med"/>
              <a:tailEnd type="none" w="med" len="med"/>
            </a:ln>
          </p:spPr>
        </p:cxnSp>
        <p:grpSp>
          <p:nvGrpSpPr>
            <p:cNvPr id="190" name="Google Shape;190;p16"/>
            <p:cNvGrpSpPr/>
            <p:nvPr/>
          </p:nvGrpSpPr>
          <p:grpSpPr>
            <a:xfrm>
              <a:off x="316" y="892"/>
              <a:ext cx="1069" cy="1529"/>
              <a:chOff x="204" y="916"/>
              <a:chExt cx="2100" cy="3004"/>
            </a:xfrm>
          </p:grpSpPr>
          <p:cxnSp>
            <p:nvCxnSpPr>
              <p:cNvPr id="191" name="Google Shape;191;p16"/>
              <p:cNvCxnSpPr/>
              <p:nvPr/>
            </p:nvCxnSpPr>
            <p:spPr>
              <a:xfrm rot="10800000">
                <a:off x="204" y="1038"/>
                <a:ext cx="21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16"/>
              <p:cNvCxnSpPr/>
              <p:nvPr/>
            </p:nvCxnSpPr>
            <p:spPr>
              <a:xfrm>
                <a:off x="336" y="920"/>
                <a:ext cx="0" cy="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hlink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</p:cxnSp>
          <p:sp>
            <p:nvSpPr>
              <p:cNvPr id="193" name="Google Shape;193;p16"/>
              <p:cNvSpPr/>
              <p:nvPr/>
            </p:nvSpPr>
            <p:spPr>
              <a:xfrm flipH="1">
                <a:off x="240" y="916"/>
                <a:ext cx="216" cy="216"/>
              </a:xfrm>
              <a:custGeom>
                <a:avLst/>
                <a:gdLst/>
                <a:ahLst/>
                <a:cxnLst/>
                <a:rect l="l" t="t" r="r" b="b"/>
                <a:pathLst>
                  <a:path w="43195" h="43200" fill="none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w="43195" h="43200" extrusionOk="0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hlink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 b="0" i="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94" name="Google Shape;194;p1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5" name="Google Shape;195;p1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5052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3528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73380" algn="l" rtl="0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111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04800" algn="l" rtl="0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96" name="Google Shape;196;p16"/>
          <p:cNvSpPr txBox="1">
            <a:spLocks noGrp="1"/>
          </p:cNvSpPr>
          <p:nvPr>
            <p:ph type="dt" idx="10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7" name="Google Shape;197;p16"/>
          <p:cNvSpPr txBox="1">
            <a:spLocks noGrp="1"/>
          </p:cNvSpPr>
          <p:nvPr>
            <p:ph type="ftr" idx="11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198" name="Google Shape;198;p16"/>
          <p:cNvSpPr txBox="1">
            <a:spLocks noGrp="1"/>
          </p:cNvSpPr>
          <p:nvPr>
            <p:ph type="sldNum" idx="12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2"/>
          <p:cNvSpPr txBox="1">
            <a:spLocks noGrp="1"/>
          </p:cNvSpPr>
          <p:nvPr>
            <p:ph type="ctrTitle"/>
          </p:nvPr>
        </p:nvSpPr>
        <p:spPr>
          <a:xfrm>
            <a:off x="1193275" y="14310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Chapter </a:t>
            </a:r>
            <a:r>
              <a:rPr lang="en-GB" sz="3600"/>
              <a:t>4</a:t>
            </a:r>
            <a: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br>
              <a:rPr lang="en-GB" sz="3600" b="0" i="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600"/>
              <a:t>Cluster Analysis in Data Mining</a:t>
            </a:r>
            <a:endParaRPr sz="3600"/>
          </a:p>
        </p:txBody>
      </p:sp>
      <p:pic>
        <p:nvPicPr>
          <p:cNvPr id="236" name="Google Shape;236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242" name="Google Shape;242;p23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Understand the significance of similarity measurement in clustering.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Explore distance metrics for numeric data, including Minkowski distance.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Differentiate between symmetric and asymmetric binary proximity measures.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Investigate distance measures for categorical, ordinal, and mixed attribute types.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Delve into proximity measures for vector-based data, such as cosine similarity.</a:t>
            </a:r>
            <a:endParaRPr sz="1800">
              <a:solidFill>
                <a:srgbClr val="1F1F1F"/>
              </a:solidFill>
            </a:endParaRPr>
          </a:p>
          <a:p>
            <a:pPr marL="342900" marR="0" lvl="0" indent="-37338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Examine correlation measures for capturing linear relationships between variables.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43" name="Google Shape;243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</a:t>
            </a:fld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251" name="Google Shape;251;p2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good clustering method will produce high quality clusters which should have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High intra-class similarity: Cohesive within clusters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Low inter-class similarity: Distinctive between clusters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Quality function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There is usually a separate “quality” function that measures the “goodness” of a cluster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It is hard to define “similar enough” or “good enough”  </a:t>
            </a:r>
            <a:endParaRPr sz="1800">
              <a:solidFill>
                <a:srgbClr val="1F1F1F"/>
              </a:solidFill>
            </a:endParaRPr>
          </a:p>
          <a:p>
            <a: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The answer is typically highly subjective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There exist many similarity measures and/or functions for different applications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Similarity measure is critical for cluster analysis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52" name="Google Shape;252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2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</a:t>
            </a:fld>
            <a:endParaRPr/>
          </a:p>
        </p:txBody>
      </p:sp>
      <p:sp>
        <p:nvSpPr>
          <p:cNvPr id="254" name="Google Shape;254;p24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 Is Good Clustering?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5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260" name="Google Shape;260;p25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Similarity measure or similarity function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 real-valued function that quantifies the similarity between two objects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Measure how two data objects are alike: The higher value, the more alike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Often falls in the range [0,1]: 0: no similarity; 1: completely similar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Dissimilarity (or distance) measure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Numerical measure of how different two data objects are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In some sense, the inverse of similarity: The lower, the more alike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Minimum dissimilarity is often 0 (i.e., completely similar)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Range [0, 1] or [0, ∞) , depending on the definition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Proximity usually refers to either similarity or dissimilarity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61" name="Google Shape;261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4</a:t>
            </a:fld>
            <a:endParaRPr/>
          </a:p>
        </p:txBody>
      </p:sp>
      <p:sp>
        <p:nvSpPr>
          <p:cNvPr id="263" name="Google Shape;263;p25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Similarity, Dissimilarity, and Proximity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269" name="Google Shape;269;p2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Similarity measurement quantifies how alike or different two objects are.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It guides the process of forming clusters and identifying relationships.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choice of similarity measure depends on data type and analysis goals.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Similarity measurement can vary based on attributes, scales, and domain knowledge.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70" name="Google Shape;270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5</a:t>
            </a:fld>
            <a:endParaRPr/>
          </a:p>
        </p:txBody>
      </p:sp>
      <p:sp>
        <p:nvSpPr>
          <p:cNvPr id="272" name="Google Shape;272;p26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Basic Concepts: Measuring Similarity between Objects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278" name="Google Shape;278;p27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Numeric data is common in various fields, and measuring the distance between data points is essential for clustering. The Minkowski distance, encompassing Euclidean and Manhattan distances, is a versatile choice.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</p:txBody>
      </p:sp>
      <p:pic>
        <p:nvPicPr>
          <p:cNvPr id="279" name="Google Shape;279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6</a:t>
            </a:fld>
            <a:endParaRPr/>
          </a:p>
        </p:txBody>
      </p:sp>
      <p:sp>
        <p:nvSpPr>
          <p:cNvPr id="281" name="Google Shape;281;p27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Distance on Numeric Data: Minkowski Distance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287" name="Google Shape;287;p28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Numeric data is common in various fields, and measuring the distance between data points is essential for clustering. The Minkowski distance, encompassing Euclidean and Manhattan distances, is a versatile choice.</a:t>
            </a:r>
            <a:endParaRPr sz="1200">
              <a:solidFill>
                <a:srgbClr val="374151"/>
              </a:solidFill>
              <a:highlight>
                <a:srgbClr val="F7F7F8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</p:txBody>
      </p:sp>
      <p:pic>
        <p:nvPicPr>
          <p:cNvPr id="288" name="Google Shape;288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7</a:t>
            </a:fld>
            <a:endParaRPr/>
          </a:p>
        </p:txBody>
      </p:sp>
      <p:sp>
        <p:nvSpPr>
          <p:cNvPr id="290" name="Google Shape;290;p28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Distance on Numeric Data: Minkowski Distance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296" name="Google Shape;296;p29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Numeric data is common in various fields, and measuring the distance between data points is essential for clustering. The Minkowski distance, encompassing Euclidean and Manhattan distances, is a versatile choice.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Key Concepts: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Minkowski distance generalizes Euclidean (p = 2) and Manhattan (p = 1) distances.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It provides a flexible approach to quantify dissimilarity between numeric data points.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Euclidean distance measures straight-line distance; Manhattan distance is path-based.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The parameter 'p' allows adjustment of distance calculation characteristics.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97" name="Google Shape;297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8</a:t>
            </a:fld>
            <a:endParaRPr/>
          </a:p>
        </p:txBody>
      </p:sp>
      <p:sp>
        <p:nvSpPr>
          <p:cNvPr id="299" name="Google Shape;299;p29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Distance on Numeric Data: Minkowski Distance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305" name="Google Shape;305;p30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61095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Data matrix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 data matrix of n data points with l dimensions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Dissimilarity (distance) matrix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n data points, but registers only the distance d(i, j) (typically metric)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Usually symmetric, thus a triangular matrix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Distance functions are usually different for real, boolean, categorical, ordinal, ratio, and vector variables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Weights can be associated with different variables based on applications and data semantics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06" name="Google Shape;306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9</a:t>
            </a:fld>
            <a:endParaRPr/>
          </a:p>
        </p:txBody>
      </p:sp>
      <p:sp>
        <p:nvSpPr>
          <p:cNvPr id="308" name="Google Shape;308;p30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Matrix and Dissimilarity Matrix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09" name="Google Shape;309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4250" y="1537275"/>
            <a:ext cx="1967700" cy="23903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1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pic>
        <p:nvPicPr>
          <p:cNvPr id="315" name="Google Shape;315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3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10</a:t>
            </a:fld>
            <a:endParaRPr/>
          </a:p>
        </p:txBody>
      </p:sp>
      <p:sp>
        <p:nvSpPr>
          <p:cNvPr id="317" name="Google Shape;317;p31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Data Matrix and Dissimilarity Matrix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18" name="Google Shape;318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1600" y="1895050"/>
            <a:ext cx="6400799" cy="2932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2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324" name="Google Shape;324;p32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79992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Minkowski distance: A popular distance measure </a:t>
            </a:r>
            <a:endParaRPr sz="1800">
              <a:solidFill>
                <a:srgbClr val="1F1F1F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1F1F1F"/>
                </a:solidFill>
              </a:rPr>
              <a:t>where i = (xi1, xi2, …, xil) and j = (xj1, xj2, …, xjl) are two l-dimensional data objects, and p is the order (the distance so defined is also called L-p norm)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Properties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d(i, j) &gt; 0 if i ≠ j, and d(i, i) = 0 (Positivity)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d(i, j) = d(j, i) (Symmetry)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d(i, j) ≤ d(i, k) + d(k, j) (Triangle Inequality)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distance that satisfies these properties is a metric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Note: There are nonmetric dissimilarities, e.g., set differences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25" name="Google Shape;325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11</a:t>
            </a:fld>
            <a:endParaRPr/>
          </a:p>
        </p:txBody>
      </p:sp>
      <p:sp>
        <p:nvSpPr>
          <p:cNvPr id="327" name="Google Shape;327;p32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Distance on Numeric Data: Minkowski Distance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28" name="Google Shape;328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21088" y="2057400"/>
            <a:ext cx="4981575" cy="51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334" name="Google Shape;334;p33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271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400" dirty="0">
                <a:solidFill>
                  <a:srgbClr val="1F1F1F"/>
                </a:solidFill>
              </a:rPr>
              <a:t>p = 1: (L1 norm) Manhattan (or city block) distance  </a:t>
            </a:r>
            <a:endParaRPr sz="14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400" dirty="0">
                <a:solidFill>
                  <a:srgbClr val="1F1F1F"/>
                </a:solidFill>
              </a:rPr>
              <a:t>E.g., the Hamming distance: the number of bits that are different between two binary vectors </a:t>
            </a:r>
            <a:endParaRPr sz="1400" dirty="0">
              <a:solidFill>
                <a:srgbClr val="1F1F1F"/>
              </a:solidFill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4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400" dirty="0">
                <a:solidFill>
                  <a:srgbClr val="1F1F1F"/>
                </a:solidFill>
              </a:rPr>
              <a:t> p = 2: (L2 norm) Euclidean distance  </a:t>
            </a:r>
            <a:endParaRPr sz="1400" dirty="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endParaRPr lang="en-GB" sz="14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400" dirty="0">
                <a:solidFill>
                  <a:srgbClr val="1F1F1F"/>
                </a:solidFill>
              </a:rPr>
              <a:t>p → ∞: (</a:t>
            </a:r>
            <a:r>
              <a:rPr lang="en-GB" sz="1400" dirty="0" err="1">
                <a:solidFill>
                  <a:srgbClr val="1F1F1F"/>
                </a:solidFill>
              </a:rPr>
              <a:t>Lmax</a:t>
            </a:r>
            <a:r>
              <a:rPr lang="en-GB" sz="1400" dirty="0">
                <a:solidFill>
                  <a:srgbClr val="1F1F1F"/>
                </a:solidFill>
              </a:rPr>
              <a:t> norm, L∞ norm) “supremum” distance  </a:t>
            </a:r>
            <a:endParaRPr sz="14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400" dirty="0">
                <a:solidFill>
                  <a:srgbClr val="1F1F1F"/>
                </a:solidFill>
              </a:rPr>
              <a:t>The maximum difference between any component (attribute) of the vectors</a:t>
            </a:r>
            <a:endParaRPr sz="1400" dirty="0">
              <a:solidFill>
                <a:srgbClr val="1F1F1F"/>
              </a:solidFill>
            </a:endParaRPr>
          </a:p>
        </p:txBody>
      </p:sp>
      <p:pic>
        <p:nvPicPr>
          <p:cNvPr id="335" name="Google Shape;335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3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12</a:t>
            </a:fld>
            <a:endParaRPr/>
          </a:p>
        </p:txBody>
      </p:sp>
      <p:sp>
        <p:nvSpPr>
          <p:cNvPr id="337" name="Google Shape;337;p33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Special Cases of Minkowski Distance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38" name="Google Shape;338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92625" y="2400450"/>
            <a:ext cx="43434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66862" y="3319350"/>
            <a:ext cx="6010275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6862" y="4486275"/>
            <a:ext cx="6610350" cy="542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pic>
        <p:nvPicPr>
          <p:cNvPr id="346" name="Google Shape;346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13</a:t>
            </a:fld>
            <a:endParaRPr/>
          </a:p>
        </p:txBody>
      </p:sp>
      <p:sp>
        <p:nvSpPr>
          <p:cNvPr id="348" name="Google Shape;348;p34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Minkowski Distance at Special Cases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49" name="Google Shape;349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6875" y="1745450"/>
            <a:ext cx="6197849" cy="319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5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355" name="Google Shape;355;p35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Binary data, where attributes can take one of two values, requires specific proximity measures to capture similarity.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contingency table for binary data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56" name="Google Shape;356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3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14</a:t>
            </a:fld>
            <a:endParaRPr/>
          </a:p>
        </p:txBody>
      </p:sp>
      <p:sp>
        <p:nvSpPr>
          <p:cNvPr id="358" name="Google Shape;358;p35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Proximity Measure for Symmetric vs. Asymmetric Binary Variables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59" name="Google Shape;359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49738" y="2755950"/>
            <a:ext cx="4219575" cy="110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>
            <a:spLocks noGrp="1"/>
          </p:cNvSpPr>
          <p:nvPr>
            <p:ph type="title"/>
          </p:nvPr>
        </p:nvSpPr>
        <p:spPr>
          <a:xfrm>
            <a:off x="4699811" y="165836"/>
            <a:ext cx="4379102" cy="10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 dirty="0"/>
              <a:t>Similarity Measures for Cluster Analysis</a:t>
            </a:r>
            <a:endParaRPr sz="3600" dirty="0"/>
          </a:p>
        </p:txBody>
      </p:sp>
      <p:sp>
        <p:nvSpPr>
          <p:cNvPr id="365" name="Google Shape;365;p3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Distance measure for symmetric binary variables: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Distance measure for asymmetric binary variables: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Jaccard coefficient (similarity measure for asymmetric binary variables):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Note: Jaccard coefficient is the same as “coherence”: (a concept discussed in Pattern Discovery)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66" name="Google Shape;366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3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15</a:t>
            </a:fld>
            <a:endParaRPr/>
          </a:p>
        </p:txBody>
      </p:sp>
      <p:sp>
        <p:nvSpPr>
          <p:cNvPr id="368" name="Google Shape;368;p36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Proximity Measure for Binary Attributes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69" name="Google Shape;369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50950" y="1597438"/>
            <a:ext cx="2590800" cy="50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08100" y="2169200"/>
            <a:ext cx="247650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1" name="Google Shape;371;p3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407913" y="3131825"/>
            <a:ext cx="3400425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04900" y="4314313"/>
            <a:ext cx="6467475" cy="60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359;p35">
            <a:extLst>
              <a:ext uri="{FF2B5EF4-FFF2-40B4-BE49-F238E27FC236}">
                <a16:creationId xmlns:a16="http://schemas.microsoft.com/office/drawing/2014/main" id="{E114F403-A52E-010F-B98E-2DEED899217C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0" y="6395"/>
            <a:ext cx="4181941" cy="12518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378" name="Google Shape;378;p37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Gender is a symmetric attribute (not counted in)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remaining attributes are asymmetric binary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Let the values Y and P be 1, and the value N be 0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Distance: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79" name="Google Shape;379;p3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16</a:t>
            </a:fld>
            <a:endParaRPr/>
          </a:p>
        </p:txBody>
      </p:sp>
      <p:sp>
        <p:nvSpPr>
          <p:cNvPr id="381" name="Google Shape;381;p37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Dissimilarity between Asymmetric Binary Variables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82" name="Google Shape;382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05675" y="1609713"/>
            <a:ext cx="5372100" cy="96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60863" y="3371563"/>
            <a:ext cx="2428875" cy="46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4" name="Google Shape;384;p3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50599" y="3838299"/>
            <a:ext cx="2821394" cy="1190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3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48998" y="3371573"/>
            <a:ext cx="2514197" cy="165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3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400525" y="1646575"/>
            <a:ext cx="2040143" cy="1725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392" name="Google Shape;392;p38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Proximity Measure for Categorical Attributes</a:t>
            </a:r>
            <a:endParaRPr sz="18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Categorical data, also called nominal attributes  </a:t>
            </a:r>
            <a:endParaRPr sz="18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 dirty="0">
                <a:solidFill>
                  <a:srgbClr val="1F1F1F"/>
                </a:solidFill>
              </a:rPr>
              <a:t>Example: </a:t>
            </a:r>
            <a:r>
              <a:rPr lang="en-GB" sz="1800" dirty="0" err="1">
                <a:solidFill>
                  <a:srgbClr val="1F1F1F"/>
                </a:solidFill>
              </a:rPr>
              <a:t>Color</a:t>
            </a:r>
            <a:r>
              <a:rPr lang="en-GB" sz="1800" dirty="0">
                <a:solidFill>
                  <a:srgbClr val="1F1F1F"/>
                </a:solidFill>
              </a:rPr>
              <a:t> (red, yellow, blue, green), profession, etc.  </a:t>
            </a:r>
            <a:endParaRPr sz="18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Method 1: Simple matching  </a:t>
            </a:r>
            <a:endParaRPr sz="18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 dirty="0">
                <a:solidFill>
                  <a:srgbClr val="1F1F1F"/>
                </a:solidFill>
              </a:rPr>
              <a:t>m: # of matches, p: total # of variables  </a:t>
            </a:r>
            <a:endParaRPr sz="1800" dirty="0">
              <a:solidFill>
                <a:srgbClr val="1F1F1F"/>
              </a:solidFill>
            </a:endParaRPr>
          </a:p>
          <a:p>
            <a:pPr marL="91440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Method 2: Use a large number of binary attributes  </a:t>
            </a:r>
            <a:endParaRPr sz="18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 dirty="0">
                <a:solidFill>
                  <a:srgbClr val="1F1F1F"/>
                </a:solidFill>
              </a:rPr>
              <a:t>Creating a new binary attribute for each of the M nominal states</a:t>
            </a:r>
            <a:endParaRPr sz="1800" dirty="0">
              <a:solidFill>
                <a:srgbClr val="1F1F1F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None/>
            </a:pPr>
            <a:endParaRPr sz="1800" dirty="0">
              <a:solidFill>
                <a:srgbClr val="1F1F1F"/>
              </a:solidFill>
            </a:endParaRPr>
          </a:p>
        </p:txBody>
      </p:sp>
      <p:pic>
        <p:nvPicPr>
          <p:cNvPr id="393" name="Google Shape;393;p3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17</a:t>
            </a:fld>
            <a:endParaRPr/>
          </a:p>
        </p:txBody>
      </p:sp>
      <p:sp>
        <p:nvSpPr>
          <p:cNvPr id="395" name="Google Shape;395;p38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Distance between Categorical Attributes, Ordinal Attributes, and Mixed Types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96" name="Google Shape;396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3393" y="3520070"/>
            <a:ext cx="2428875" cy="50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9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 dirty="0"/>
              <a:t>Similarity Measures for Cluster Analysis</a:t>
            </a:r>
            <a:endParaRPr sz="3600" dirty="0"/>
          </a:p>
        </p:txBody>
      </p:sp>
      <p:sp>
        <p:nvSpPr>
          <p:cNvPr id="402" name="Google Shape;402;p39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303681"/>
            <a:ext cx="7953300" cy="33826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400" dirty="0">
                <a:solidFill>
                  <a:srgbClr val="1F1F1F"/>
                </a:solidFill>
              </a:rPr>
              <a:t>An ordinal variable can be discrete or continuous  </a:t>
            </a:r>
            <a:endParaRPr sz="14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400" dirty="0">
                <a:solidFill>
                  <a:srgbClr val="1F1F1F"/>
                </a:solidFill>
              </a:rPr>
              <a:t>Order is important, e.g., rank (e.g., freshman, sophomore, junior, senior)  </a:t>
            </a:r>
            <a:endParaRPr sz="14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400" dirty="0">
                <a:solidFill>
                  <a:srgbClr val="1F1F1F"/>
                </a:solidFill>
              </a:rPr>
              <a:t>Can be treated like interval-scaled  </a:t>
            </a:r>
            <a:endParaRPr sz="14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400" dirty="0">
                <a:solidFill>
                  <a:srgbClr val="1F1F1F"/>
                </a:solidFill>
              </a:rPr>
              <a:t>Replace an ordinal variable value by its rank:  </a:t>
            </a:r>
            <a:endParaRPr sz="14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400" dirty="0">
                <a:solidFill>
                  <a:srgbClr val="1F1F1F"/>
                </a:solidFill>
              </a:rPr>
              <a:t>Map the range of each variable onto [0, 1] by replacing </a:t>
            </a:r>
            <a:r>
              <a:rPr lang="en-GB" sz="1400" dirty="0" err="1">
                <a:solidFill>
                  <a:srgbClr val="1F1F1F"/>
                </a:solidFill>
              </a:rPr>
              <a:t>i-th</a:t>
            </a:r>
            <a:r>
              <a:rPr lang="en-GB" sz="1400" dirty="0">
                <a:solidFill>
                  <a:srgbClr val="1F1F1F"/>
                </a:solidFill>
              </a:rPr>
              <a:t> object in the f-</a:t>
            </a:r>
            <a:r>
              <a:rPr lang="en-GB" sz="1400" dirty="0" err="1">
                <a:solidFill>
                  <a:srgbClr val="1F1F1F"/>
                </a:solidFill>
              </a:rPr>
              <a:t>th</a:t>
            </a:r>
            <a:r>
              <a:rPr lang="en-GB" sz="1400" dirty="0">
                <a:solidFill>
                  <a:srgbClr val="1F1F1F"/>
                </a:solidFill>
              </a:rPr>
              <a:t> variable by </a:t>
            </a:r>
            <a:endParaRPr sz="1400" dirty="0">
              <a:solidFill>
                <a:srgbClr val="1F1F1F"/>
              </a:solidFill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lang="en-US" sz="1400" dirty="0">
              <a:solidFill>
                <a:srgbClr val="1F1F1F"/>
              </a:solidFill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400" dirty="0">
              <a:solidFill>
                <a:srgbClr val="1F1F1F"/>
              </a:solidFill>
            </a:endParaRPr>
          </a:p>
          <a:p>
            <a:pPr marL="1371600" marR="0" lvl="2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400" dirty="0">
                <a:solidFill>
                  <a:srgbClr val="1F1F1F"/>
                </a:solidFill>
              </a:rPr>
              <a:t>Example: freshman: 0; sophomore: 1/3; junior: 2/3; senior 1  </a:t>
            </a:r>
            <a:endParaRPr sz="1400" dirty="0">
              <a:solidFill>
                <a:srgbClr val="1F1F1F"/>
              </a:solidFill>
            </a:endParaRPr>
          </a:p>
          <a:p>
            <a: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400" dirty="0">
                <a:solidFill>
                  <a:srgbClr val="1F1F1F"/>
                </a:solidFill>
              </a:rPr>
              <a:t>Then distance: d(freshman, senior) = 1, d(junior, senior) = 1/3  </a:t>
            </a:r>
            <a:endParaRPr sz="14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400" dirty="0">
                <a:solidFill>
                  <a:srgbClr val="1F1F1F"/>
                </a:solidFill>
              </a:rPr>
              <a:t>Compute the dissimilarity using methods for interval-scaled variables</a:t>
            </a:r>
            <a:endParaRPr sz="1400" dirty="0">
              <a:solidFill>
                <a:srgbClr val="1F1F1F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None/>
            </a:pPr>
            <a:endParaRPr sz="1400" dirty="0">
              <a:solidFill>
                <a:srgbClr val="1F1F1F"/>
              </a:solidFill>
            </a:endParaRPr>
          </a:p>
        </p:txBody>
      </p:sp>
      <p:pic>
        <p:nvPicPr>
          <p:cNvPr id="403" name="Google Shape;403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3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18</a:t>
            </a:fld>
            <a:endParaRPr/>
          </a:p>
        </p:txBody>
      </p:sp>
      <p:sp>
        <p:nvSpPr>
          <p:cNvPr id="405" name="Google Shape;405;p39"/>
          <p:cNvSpPr txBox="1"/>
          <p:nvPr/>
        </p:nvSpPr>
        <p:spPr>
          <a:xfrm>
            <a:off x="762000" y="1086000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Ordinal Variables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6" name="Google Shape;406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81400" y="3135403"/>
            <a:ext cx="1828800" cy="69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7" name="Google Shape;407;p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30421" y="2093901"/>
            <a:ext cx="1724025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4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13" name="Google Shape;413;p40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371299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A dataset may contain all attribute types  </a:t>
            </a:r>
            <a:endParaRPr sz="18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 dirty="0">
                <a:solidFill>
                  <a:srgbClr val="1F1F1F"/>
                </a:solidFill>
              </a:rPr>
              <a:t>Nominal, symmetric binary, asymmetric binary, numeric, and ordinal  </a:t>
            </a:r>
            <a:endParaRPr sz="18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One may use a weighted formula to combine their effects:  </a:t>
            </a:r>
            <a:endParaRPr sz="1800" dirty="0">
              <a:solidFill>
                <a:srgbClr val="1F1F1F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If f is numeric: Use the normalized distance  </a:t>
            </a:r>
            <a:endParaRPr sz="18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If f is binary or nominal: </a:t>
            </a:r>
            <a:r>
              <a:rPr lang="en-GB" sz="1800" dirty="0" err="1">
                <a:solidFill>
                  <a:srgbClr val="1F1F1F"/>
                </a:solidFill>
              </a:rPr>
              <a:t>dij</a:t>
            </a:r>
            <a:r>
              <a:rPr lang="en-GB" sz="1800" dirty="0">
                <a:solidFill>
                  <a:srgbClr val="1F1F1F"/>
                </a:solidFill>
              </a:rPr>
              <a:t> (f) = 0 if </a:t>
            </a:r>
            <a:r>
              <a:rPr lang="en-GB" sz="1800" dirty="0" err="1">
                <a:solidFill>
                  <a:srgbClr val="1F1F1F"/>
                </a:solidFill>
              </a:rPr>
              <a:t>xif</a:t>
            </a:r>
            <a:r>
              <a:rPr lang="en-GB" sz="1800" dirty="0">
                <a:solidFill>
                  <a:srgbClr val="1F1F1F"/>
                </a:solidFill>
              </a:rPr>
              <a:t> = </a:t>
            </a:r>
            <a:r>
              <a:rPr lang="en-GB" sz="1800" dirty="0" err="1">
                <a:solidFill>
                  <a:srgbClr val="1F1F1F"/>
                </a:solidFill>
              </a:rPr>
              <a:t>xjf</a:t>
            </a:r>
            <a:r>
              <a:rPr lang="en-GB" sz="1800" dirty="0">
                <a:solidFill>
                  <a:srgbClr val="1F1F1F"/>
                </a:solidFill>
              </a:rPr>
              <a:t>; or </a:t>
            </a:r>
            <a:r>
              <a:rPr lang="en-GB" sz="1800" dirty="0" err="1">
                <a:solidFill>
                  <a:srgbClr val="1F1F1F"/>
                </a:solidFill>
              </a:rPr>
              <a:t>dij</a:t>
            </a:r>
            <a:r>
              <a:rPr lang="en-GB" sz="1800" dirty="0">
                <a:solidFill>
                  <a:srgbClr val="1F1F1F"/>
                </a:solidFill>
              </a:rPr>
              <a:t> (f) = 1 otherwise  I</a:t>
            </a:r>
            <a:endParaRPr sz="1800" dirty="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 dirty="0">
                <a:solidFill>
                  <a:srgbClr val="1F1F1F"/>
                </a:solidFill>
              </a:rPr>
              <a:t>f f is ordinal  </a:t>
            </a:r>
            <a:endParaRPr sz="18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 dirty="0">
                <a:solidFill>
                  <a:srgbClr val="1F1F1F"/>
                </a:solidFill>
              </a:rPr>
              <a:t>Compute ranks </a:t>
            </a:r>
            <a:r>
              <a:rPr lang="en-GB" sz="1800" dirty="0" err="1">
                <a:solidFill>
                  <a:srgbClr val="1F1F1F"/>
                </a:solidFill>
              </a:rPr>
              <a:t>zif</a:t>
            </a:r>
            <a:r>
              <a:rPr lang="en-GB" sz="1800" dirty="0">
                <a:solidFill>
                  <a:srgbClr val="1F1F1F"/>
                </a:solidFill>
              </a:rPr>
              <a:t> (where                                          </a:t>
            </a:r>
            <a:endParaRPr sz="1800" dirty="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 dirty="0">
                <a:solidFill>
                  <a:srgbClr val="1F1F1F"/>
                </a:solidFill>
              </a:rPr>
              <a:t>Treat </a:t>
            </a:r>
            <a:r>
              <a:rPr lang="en-GB" sz="1800" dirty="0" err="1">
                <a:solidFill>
                  <a:srgbClr val="1F1F1F"/>
                </a:solidFill>
              </a:rPr>
              <a:t>zif</a:t>
            </a:r>
            <a:r>
              <a:rPr lang="en-GB" sz="1800" dirty="0">
                <a:solidFill>
                  <a:srgbClr val="1F1F1F"/>
                </a:solidFill>
              </a:rPr>
              <a:t> as interval-scaled</a:t>
            </a:r>
            <a:endParaRPr sz="1800" dirty="0">
              <a:solidFill>
                <a:srgbClr val="1F1F1F"/>
              </a:solidFill>
            </a:endParaRPr>
          </a:p>
        </p:txBody>
      </p:sp>
      <p:pic>
        <p:nvPicPr>
          <p:cNvPr id="414" name="Google Shape;414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4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19</a:t>
            </a:fld>
            <a:endParaRPr/>
          </a:p>
        </p:txBody>
      </p:sp>
      <p:sp>
        <p:nvSpPr>
          <p:cNvPr id="416" name="Google Shape;416;p40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Attributes of Mixed Type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17" name="Google Shape;417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49475" y="2557661"/>
            <a:ext cx="2017250" cy="98865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21688" y="4086213"/>
            <a:ext cx="1816941" cy="8950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1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24" name="Google Shape;424;p41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document can be represented by a bag of terms or a long vector, with each attribute recording the frequency of a particular term (such as word, keyword, or phrase) in the document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None/>
            </a:pPr>
            <a:endParaRPr sz="1800">
              <a:solidFill>
                <a:srgbClr val="1F1F1F"/>
              </a:solidFill>
            </a:endParaRPr>
          </a:p>
        </p:txBody>
      </p:sp>
      <p:pic>
        <p:nvPicPr>
          <p:cNvPr id="425" name="Google Shape;425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20</a:t>
            </a:fld>
            <a:endParaRPr/>
          </a:p>
        </p:txBody>
      </p:sp>
      <p:sp>
        <p:nvSpPr>
          <p:cNvPr id="427" name="Google Shape;427;p41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Proximity Measure between Two Vectors: Cosine Similarity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28" name="Google Shape;428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4925" y="2858563"/>
            <a:ext cx="6267450" cy="1076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42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34" name="Google Shape;434;p42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207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Other vector objects: Gene features in micro-arrays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Applications: Information retrieval, biologic taxonomy, gene feature mapping, etc.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Cosine measure: If d1 and d2 are two vectors (e.g., term-frequency vectors), then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1500"/>
              </a:spcAft>
              <a:buNone/>
            </a:pPr>
            <a:r>
              <a:rPr lang="en-GB" sz="1800">
                <a:solidFill>
                  <a:srgbClr val="1F1F1F"/>
                </a:solidFill>
              </a:rPr>
              <a:t>where • indicates vector dot product, ||d||: the length of vector d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35" name="Google Shape;435;p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4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21</a:t>
            </a:fld>
            <a:endParaRPr/>
          </a:p>
        </p:txBody>
      </p:sp>
      <p:sp>
        <p:nvSpPr>
          <p:cNvPr id="437" name="Google Shape;437;p42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Proximity Measure between Two Vectors: Cosine Similarity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38" name="Google Shape;43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8975" y="2846725"/>
            <a:ext cx="2486025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44" name="Google Shape;444;p43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207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Ex: Find the similarity between documents 1 and 2.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d1 = (5, 0, 3, 0, 2, 0, 0, 2, 0, 0)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d2 = (3, 0, 2, 0, 1, 1, 0, 1, 0, 1)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First, calculate vector dot product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d1•d2 = 5 X 3 + 0 X 0 + 3 X 2 + 0 X 0 + 2 X 1 + 0 X 1 + 0 X 1 + 2 X 1 + 0 X 0 + 0 X 1 = 25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Then, calculate ||d1|| and ||d2||  </a:t>
            </a:r>
            <a:endParaRPr sz="1800">
              <a:solidFill>
                <a:srgbClr val="1F1F1F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Calculate cosine similarity: cos(d1, d2 ) = 26/ (6.481 X 4.12) = 0.94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45" name="Google Shape;445;p4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4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22</a:t>
            </a:fld>
            <a:endParaRPr/>
          </a:p>
        </p:txBody>
      </p:sp>
      <p:sp>
        <p:nvSpPr>
          <p:cNvPr id="447" name="Google Shape;447;p43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Calculating Cosine Similarity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48" name="Google Shape;448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02350" y="3857550"/>
            <a:ext cx="6202275" cy="75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4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54" name="Google Shape;454;p4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303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variance of a random variable X provides a measure of how much the value of X deviates from the mean or expected value of X:  </a:t>
            </a:r>
            <a:endParaRPr sz="1800">
              <a:solidFill>
                <a:srgbClr val="1F1F1F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where σ2 is the variance of X, σ is called standard deviation </a:t>
            </a:r>
            <a:endParaRPr sz="1800">
              <a:solidFill>
                <a:srgbClr val="1F1F1F"/>
              </a:solidFill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µ is the mean, and µ = E[X] is the expected value of X  </a:t>
            </a:r>
            <a:endParaRPr sz="1800">
              <a:solidFill>
                <a:srgbClr val="1F1F1F"/>
              </a:solidFill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That is, variance is the expected value of the square deviation from the mean  </a:t>
            </a:r>
            <a:endParaRPr sz="1800">
              <a:solidFill>
                <a:srgbClr val="1F1F1F"/>
              </a:solidFill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It can also be written as:  </a:t>
            </a:r>
            <a:endParaRPr sz="1800">
              <a:solidFill>
                <a:srgbClr val="1F1F1F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Sample variance is the average squared deviation of the data value xi from the sample mean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55" name="Google Shape;455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4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23</a:t>
            </a:fld>
            <a:endParaRPr/>
          </a:p>
        </p:txBody>
      </p:sp>
      <p:sp>
        <p:nvSpPr>
          <p:cNvPr id="457" name="Google Shape;457;p44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Correlation Measures between Two Variables: Covariance and Correlation Coefficient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58" name="Google Shape;458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13609" y="2277347"/>
            <a:ext cx="4164375" cy="76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59" name="Google Shape;459;p4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41850" y="3926600"/>
            <a:ext cx="4902161" cy="3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4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88475" y="4576750"/>
            <a:ext cx="2133600" cy="561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5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66" name="Google Shape;466;p45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303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Covariance between two variables X1 and X2 </a:t>
            </a:r>
            <a:endParaRPr sz="1800">
              <a:solidFill>
                <a:srgbClr val="1F1F1F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where µ1 = E[X1] is the respective mean or expected value of X1; similarly for µ2  </a:t>
            </a:r>
            <a:endParaRPr sz="1800">
              <a:solidFill>
                <a:srgbClr val="1F1F1F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Sample covariance between X1 and X2:  </a:t>
            </a:r>
            <a:endParaRPr sz="1800">
              <a:solidFill>
                <a:srgbClr val="1F1F1F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Sample covariance is a generalization of the sample variance: 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67" name="Google Shape;467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68" name="Google Shape;468;p4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24</a:t>
            </a:fld>
            <a:endParaRPr/>
          </a:p>
        </p:txBody>
      </p:sp>
      <p:sp>
        <p:nvSpPr>
          <p:cNvPr id="469" name="Google Shape;469;p45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Covariance for Two Variables 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70" name="Google Shape;470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49600" y="2043950"/>
            <a:ext cx="7128213" cy="4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93825" y="3463588"/>
            <a:ext cx="2381250" cy="4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43825" y="4388013"/>
            <a:ext cx="4267200" cy="48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4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78" name="Google Shape;478;p4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3034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Positive covariance: If σ12 &gt; 0  </a:t>
            </a:r>
            <a:endParaRPr sz="1800">
              <a:solidFill>
                <a:srgbClr val="1F1F1F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Negative covariance: If σ12 &lt; 0  </a:t>
            </a:r>
            <a:endParaRPr sz="1800">
              <a:solidFill>
                <a:srgbClr val="1F1F1F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Independence: If X1 and X2 are independent, σ12 = 0 but the reverse is not true  </a:t>
            </a:r>
            <a:endParaRPr sz="1800">
              <a:solidFill>
                <a:srgbClr val="1F1F1F"/>
              </a:solidFill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Some pairs of random variables may have a covariance 0 but are not independent  </a:t>
            </a:r>
            <a:endParaRPr sz="1800">
              <a:solidFill>
                <a:srgbClr val="1F1F1F"/>
              </a:solidFill>
            </a:endParaRPr>
          </a:p>
          <a:p>
            <a:pPr marL="91440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Only under some additional assumptions (e.g., the data follow multivariate normal distributions) does a covariance of 0 imply independence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79" name="Google Shape;47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Google Shape;480;p4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25</a:t>
            </a:fld>
            <a:endParaRPr/>
          </a:p>
        </p:txBody>
      </p:sp>
      <p:sp>
        <p:nvSpPr>
          <p:cNvPr id="481" name="Google Shape;481;p46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Covariance for Two Variables 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7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87" name="Google Shape;487;p47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Suppose two stocks X1 and X2 have the following values in one week: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(2, 5), (3, 8), (5, 10), (4, 11), (6, 14)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Question: If the stocks are affected by the same industry trends, will their prices rise or fall together?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Covariance formula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Its computation can be simplified as: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E(X1) = (2 + 3 + 5 + 4 + 6)/ 5 = 20/5 = 4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E(X2) = (5 + 8 + 10 + 11 + 14) /5 = 48/5 = 9.6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σ12 = (2×5 + 3×8 + 5×10 + 4×11 + 6×14)/5 − 4 × 9.6 = 4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Thus, X1 and X2 rise together since σ12 &gt; 0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88" name="Google Shape;488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4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26</a:t>
            </a:fld>
            <a:endParaRPr/>
          </a:p>
        </p:txBody>
      </p:sp>
      <p:sp>
        <p:nvSpPr>
          <p:cNvPr id="490" name="Google Shape;490;p47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Calculation of Covariance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91" name="Google Shape;49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34782" y="2983088"/>
            <a:ext cx="5750566" cy="3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40575" y="3222950"/>
            <a:ext cx="2483579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48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498" name="Google Shape;498;p48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5116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Correlation between two variables X1 and X2 is the standard covariance, obtained by normalizing the covariance with the standard deviation of each variable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1F1F1F"/>
                </a:solidFill>
              </a:rPr>
              <a:t>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Sample correlation for two attributes X1 and X2: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1F1F1F"/>
                </a:solidFill>
              </a:rPr>
              <a:t>where n is the number of tuples, µ1 and µ2 are the respective means of X1 and X2 , σ1 and σ2 are the respective standard deviation of X1 and X2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If ρ12 &gt; 0: A and B are positively correlated (X1’s values increase as X2’s)  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The higher, the stronger correlation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If ρ12 = 0: independent (under the same assumption as discussed in co-variance)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If ρ12 &lt; 0: negatively correlated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99" name="Google Shape;499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4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27</a:t>
            </a:fld>
            <a:endParaRPr/>
          </a:p>
        </p:txBody>
      </p:sp>
      <p:sp>
        <p:nvSpPr>
          <p:cNvPr id="501" name="Google Shape;501;p48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Correlation between Two Numerical Variables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02" name="Google Shape;502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57600" y="2314575"/>
            <a:ext cx="1828800" cy="51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88840" y="2314574"/>
            <a:ext cx="3144310" cy="75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9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509" name="Google Shape;509;p49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540575"/>
            <a:ext cx="3810000" cy="3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Correlation coefficient value range: [–1, 1] 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set of scatter plots shows sets of points and their correlation coefficients changing from –1 to 1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10" name="Google Shape;510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11" name="Google Shape;511;p4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28</a:t>
            </a:fld>
            <a:endParaRPr/>
          </a:p>
        </p:txBody>
      </p:sp>
      <p:sp>
        <p:nvSpPr>
          <p:cNvPr id="512" name="Google Shape;512;p49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Visualizing Changes of Correlation Coefficient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13" name="Google Shape;513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8375" y="1540575"/>
            <a:ext cx="3417614" cy="327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0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519" name="Google Shape;519;p50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540575"/>
            <a:ext cx="7772400" cy="3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variance and covariance information for the two variables X1 and X2 can be summarized as 2 X 2 covariance matrix as 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None/>
            </a:pP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Generalizing it to d dimensions, we have,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20" name="Google Shape;520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5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29</a:t>
            </a:fld>
            <a:endParaRPr/>
          </a:p>
        </p:txBody>
      </p:sp>
      <p:sp>
        <p:nvSpPr>
          <p:cNvPr id="522" name="Google Shape;522;p50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Covariance Matrix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23" name="Google Shape;52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8800" y="2192947"/>
            <a:ext cx="4258076" cy="127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24" name="Google Shape;524;p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6188" y="3686163"/>
            <a:ext cx="8143875" cy="1457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51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530" name="Google Shape;530;p51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Guidelines for Selecting a Similarity Measure: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Numeric Data: Choose distance metrics based on data distribution (e.g., Minkowski, Euclidean, Manhattan).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Binary Data: Select Jaccard or Tanimoto coefficients based on symmetry and attribute importance.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Categorical Data: Use Hamming distance for unordered categories.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Ordinal Data: Apply Spearman's Footrule for ranked attributes.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Mixed Data: Choose measures based on attribute types and characteristics.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By adhering to these guidelines, you ensure that your chosen similarity measure aligns with your data's nature and analysis goals.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31" name="Google Shape;531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p5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30</a:t>
            </a:fld>
            <a:endParaRPr/>
          </a:p>
        </p:txBody>
      </p:sp>
      <p:sp>
        <p:nvSpPr>
          <p:cNvPr id="533" name="Google Shape;533;p51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Selecting the Right Similarity Measure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52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539" name="Google Shape;539;p52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Each similarity measure has its strengths and limitations, influencing its suitability for specific scenarios.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Applications: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Minkowski distance for numeric data with varied scales.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Jaccard and Tanimoto coefficients for binary data with different attribute weights.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Hamming distance for categorical data without a natural order.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Spearman's Footrule for ordinal attributes with ranking information.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Cosine similarity for vector-based data like text documents.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Correlation measures for capturing linear relationships between variables.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40" name="Google Shape;540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5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31</a:t>
            </a:fld>
            <a:endParaRPr/>
          </a:p>
        </p:txBody>
      </p:sp>
      <p:sp>
        <p:nvSpPr>
          <p:cNvPr id="542" name="Google Shape;542;p52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Applications and Limitations of Similarity Measures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53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548" name="Google Shape;548;p53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Limitations: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Minkowski distance is sensitive to attribute scales.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Jaccard and Tanimoto may not consider attribute importance equally.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Hamming and Spearman's Footrule require distinct data types.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Cosine similarity assumes vector space representation.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Correlation measures may not capture nonlinear relationships.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Understanding the applications and limitations of similarity measures guides their appropriate use in diverse clustering scenarios.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49" name="Google Shape;549;p5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5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32</a:t>
            </a:fld>
            <a:endParaRPr/>
          </a:p>
        </p:txBody>
      </p:sp>
      <p:sp>
        <p:nvSpPr>
          <p:cNvPr id="551" name="Google Shape;551;p53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Applications and Limitations of Similarity Measures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54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557" name="Google Shape;557;p54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382000" cy="39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Objective: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Divide customers into segments based on their purchasing behavior.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Uncover distinct patterns and preferences within the customer base.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Steps: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Data Preprocessing: Prepare customer purchase history data.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Feature Extraction: Convert purchase history into numerical representation.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Similarity Measurement: Choose an appropriate metric (e.g., cosine similarity).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Clustering Algorithm: Apply K-Means clustering to group similar customers.</a:t>
            </a:r>
            <a:endParaRPr sz="1800">
              <a:solidFill>
                <a:srgbClr val="1F1F1F"/>
              </a:solidFill>
            </a:endParaRPr>
          </a:p>
          <a:p>
            <a: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Interpretation: Analyze cluster characteristics and formulate insights.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58" name="Google Shape;558;p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5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33</a:t>
            </a:fld>
            <a:endParaRPr/>
          </a:p>
        </p:txBody>
      </p:sp>
      <p:sp>
        <p:nvSpPr>
          <p:cNvPr id="560" name="Google Shape;560;p54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Case Study: Customer Segmentation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55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Similarity Measures for Cluster Analysis</a:t>
            </a:r>
            <a:endParaRPr sz="3600"/>
          </a:p>
        </p:txBody>
      </p:sp>
      <p:sp>
        <p:nvSpPr>
          <p:cNvPr id="566" name="Google Shape;566;p55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75"/>
            <a:ext cx="8382000" cy="39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150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Basic concepts of measuring similarity guide cluster formation and pattern discovery.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Distance metrics like Minkowski, Jaccard, Hamming, and Spearman's Footrule cater to diverse data types.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Cosine similarity quantifies direction in vector-based data.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Correlation measures reveal linear relationships between variables.</a:t>
            </a:r>
            <a:endParaRPr sz="1800">
              <a:solidFill>
                <a:srgbClr val="1F1F1F"/>
              </a:solidFill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Practical considerations and domain knowledge guide measure selection.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67" name="Google Shape;567;p5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5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34</a:t>
            </a:fld>
            <a:endParaRPr/>
          </a:p>
        </p:txBody>
      </p:sp>
      <p:sp>
        <p:nvSpPr>
          <p:cNvPr id="569" name="Google Shape;569;p55"/>
          <p:cNvSpPr txBox="1"/>
          <p:nvPr/>
        </p:nvSpPr>
        <p:spPr>
          <a:xfrm>
            <a:off x="762000" y="1184875"/>
            <a:ext cx="851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Recap and Key Takeaways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56"/>
          <p:cNvSpPr txBox="1">
            <a:spLocks noGrp="1"/>
          </p:cNvSpPr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Summary</a:t>
            </a:r>
            <a:endParaRPr sz="3600"/>
          </a:p>
        </p:txBody>
      </p:sp>
      <p:sp>
        <p:nvSpPr>
          <p:cNvPr id="575" name="Google Shape;575;p56" descr="Rectangle: Click to edit Master text styles &#10;Second level &#10;Third level &#10;Fourth level &#10;Fifth level"/>
          <p:cNvSpPr txBox="1">
            <a:spLocks noGrp="1"/>
          </p:cNvSpPr>
          <p:nvPr>
            <p:ph type="body" idx="1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88620" algn="just" rtl="0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Crucial for clustering to group similar data.</a:t>
            </a:r>
            <a:endParaRPr sz="1800">
              <a:solidFill>
                <a:srgbClr val="000000"/>
              </a:solidFill>
            </a:endParaRPr>
          </a:p>
          <a:p>
            <a:pPr marL="342900" lvl="0" indent="-388620" algn="just" rtl="0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Metrics for numeric, binary, categorical, and mixed data.</a:t>
            </a:r>
            <a:endParaRPr sz="1800">
              <a:solidFill>
                <a:srgbClr val="000000"/>
              </a:solidFill>
            </a:endParaRPr>
          </a:p>
          <a:p>
            <a:pPr marL="342900" lvl="0" indent="-388620" algn="just" rtl="0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Includes cosine similarity and correlation measures.</a:t>
            </a:r>
            <a:endParaRPr sz="1800">
              <a:solidFill>
                <a:srgbClr val="000000"/>
              </a:solidFill>
            </a:endParaRPr>
          </a:p>
        </p:txBody>
      </p:sp>
      <p:pic>
        <p:nvPicPr>
          <p:cNvPr id="576" name="Google Shape;576;p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5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lang="en-GB" sz="1400" b="0" i="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35</a:t>
            </a:fld>
            <a:endParaRPr/>
          </a:p>
        </p:txBody>
      </p:sp>
      <p:sp>
        <p:nvSpPr>
          <p:cNvPr id="578" name="Google Shape;578;p56"/>
          <p:cNvSpPr txBox="1"/>
          <p:nvPr/>
        </p:nvSpPr>
        <p:spPr>
          <a:xfrm>
            <a:off x="762000" y="1184875"/>
            <a:ext cx="7953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9" name="Google Shape;579;p56"/>
          <p:cNvSpPr txBox="1"/>
          <p:nvPr/>
        </p:nvSpPr>
        <p:spPr>
          <a:xfrm>
            <a:off x="762000" y="1184875"/>
            <a:ext cx="8239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 b="1" i="1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Similarity Measures</a:t>
            </a:r>
            <a:endParaRPr sz="1800"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2674</Words>
  <Application>Microsoft Macintosh PowerPoint</Application>
  <PresentationFormat>On-screen Show (16:9)</PresentationFormat>
  <Paragraphs>304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Times New Roman</vt:lpstr>
      <vt:lpstr>Noto Sans Symbols</vt:lpstr>
      <vt:lpstr>Arial</vt:lpstr>
      <vt:lpstr>Roboto</vt:lpstr>
      <vt:lpstr>Tahoma</vt:lpstr>
      <vt:lpstr>Simple Light</vt:lpstr>
      <vt:lpstr>1_Blueprint</vt:lpstr>
      <vt:lpstr>Blueprint</vt:lpstr>
      <vt:lpstr>Chapter 4:  Cluster Analysis in Data Mining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Similarity Measures for Cluster Analysis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. Daziel.vad</cp:lastModifiedBy>
  <cp:revision>1</cp:revision>
  <dcterms:modified xsi:type="dcterms:W3CDTF">2026-03-03T04:10:33Z</dcterms:modified>
</cp:coreProperties>
</file>